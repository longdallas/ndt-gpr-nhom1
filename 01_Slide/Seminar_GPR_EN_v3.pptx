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5" r:id="rId22"/>
    <p:sldId id="27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10 min)" id="{79a2e8be-6338-f741-f7e1-48fd242788c4}">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 name="Backup" id="{e348a1f8-91c7-c4c8-ec3c-603009dc4ba3}">
          <p14:sldIdLst>
            <p14:sldId id="273"/>
            <p14:sldId id="275"/>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[Black screen. Stand still, look at the audience, 2 seconds of silence.]
July 31st, 2014. Kaohsiung, Taiwan.
Late in the evening, people on the street begin to smell gas.
Firefighters arrive. They search for the leak — for almost three hours.
They cannot find it. [pause 1 s]
[CLICK 1] Just before midnight, the street explodes.
Thirty-two people dead. Three hundred and twenty-one injured.
The cause? A leaking pipe — buried right under their feet — that nobody could see.
[CLICK 2] And this is not rare. In the US alone, buried utilities are hit more than half a million times a year.
Here in Ho Chi Minh City, newspapers put it simply: dig up any street, and you hit a spider web.
[CLICK 3] Now look at this. Our own campus. We walk across it every day.
Under this asphalt there is a water pipe and a power cable — and no drawing of where they are.
If someone digs here tomorrow… where is it safe?
Today, we will answer that — without digging a single hole.
[One sentence: "We are Quốc Long, Quốc Tài, Thành Trung, Đăng Khoa and Đăng Quang — and this is our seminar on GPR for underground cables and utilities."]
CHECK BEFORE PRESENTING: confirm the timeline (~20:46 gas reports, explosions ~23:57) on Wikipedia "2014 Kaohsiung gas explosions".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[1:00–1:15] Our talk has five parts: the problem and what we set out to do; what others have done; the physics and how we measured; what we found;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[1:15–2:00] Problem: power cables, telecom cables, water pipes and utility trenches were laid over many decades, and in most Vietnamese cities the as-built drawings are incomplete or simply wrong. Digging or drilling to find them is expensive, blocks traffic, and risks hitting a live cable or a pressure pipe. Decree 39/2010 regulates underground space — but in the field we still need a way to find position and depth without breaking the surface.
Our objectives: locate the cables and pipes behind Building I without digging, estimate how deep they are, and draw a map.
Approach: one IDS Detector Duo radar with 250 and 700 MHz antennas, on a zigzag grid of nine lines over 10 by 3.5 metres. We processed the data in ReflexW and converted time to depth with a two-layer model — concrete over soil.
What we expected: each utility should appear as a hyperbola on every line that crosses it; joining the apexes gives its path, and the apex time with the velocity gives its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[2:00–2:40] GPR has more than fifty years of history; the principles were set out by Annan, Daniels and Jol. A 2018 review by Lai and colleagues traces thirty years of GPR in civil engineering, from simply locating objects to imaging and diagnosis.
How accurate is it? Xiang and colleagues report depth errors from millimetres to centimetres — about ten percent of the depth. Hong and colleagues, with a 400 MHz antenna and permittivity measured on site, matched pipes about one metre deep to the utility map. In Bangkok, on soft clay much like ours, Thitimakorn found voids under city roads.
In Vietnam, Trần Viết Tuấn mapped urban utilities with errors of about 6 cm in position and 10 cm in depth; Nguyễn Phi Sơn and colleagues wrote a base standard with four quality levels. And the Geophysics group at our own university built the GPRTVN software, methods to estimate the wave velocity, and 3D data cubes from 2D lines.
Several countries have standards — ASCE 38 and ASTM D6432 in the US, PAS 128 in the UK, AS 5488 in Australia, CJJ 61 in China. We follow ASTM D6432 and apply the same chain end to end on a site with no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[2:40–3:10] How does GPR compare with other NDT methods? The EM locator, like the RD7000, only sees conductors — a PVC or HDPE pipe is invisible unless it carries a tracer wire or a sonde. Ultrasonic and eddy-current testing are excellent for defects in concrete or metal parts at close range, but they cannot sweep the ground for a network of lines.
GPR is the only one here that sees both metal and non-metal, and even voids. Its weakness: the signal fades fast in wet or saline clay, and the images need processing and an experienced eye.
GPR has four main uses for utilities: locating position and depth, checking before digging, finding voids around pipes that warn of subsidence, and feeding the underground utility map.
Our scope: shallow targets, down to about two metres, under one paved courtyard — with GPR as the only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[3:10–4:05] GPR is the pulse-echo method from this course — but with radio waves instead of ultrasound, so it needs no contact with the ground.
(1) The wave speed depends on the relative permittivity of the ground. (2) Depth is speed times the two-way time, divided by two.
(3) Energy reflects wherever the permittivity changes. The sign matters: metal reflects with R = −1, an air-filled pipe with a positive R — so metal and an empty pipe have opposite polarity. (A water-filled pipe reflects with the same sign as metal, only weaker.)
(4) As we push the antenna across a small target, the echo arrives earliest right above it — the target draws a hyperbola, and the apex gives its position and depth.
Resolution is about a quarter wavelength: 10 cm at 250 MHz, under 4 cm at 700 MHz. Lower frequency sees deeper, higher is sharper — our radar records both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[4:05–4:35] The second method is electromagnetic induction. An alternating current in a metal cable creates a magnetic field around it, falling off as one over r.
The receiver has coils: the horizontal coil gives a maximum — the peak — right above the cable, the vertical coil a zero — the null. When peak and null agree, the field is clean; two coils give the depth.
It is fast, but it only sees metal: a plastic water pipe is invisible. In our project it is the planned cross-check for the cable depth — we have not measured with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[4:35–5:25] This is how we measured, on the courtyard you saw.
We planned a grid, 10 metres by 3.5. A target gives the clearest hyperbola when we cross it at a right angle. The cable runs across the road, so four lines go along the road — C1 to C4, one metre apart. The water pipe runs along the road, so five lines cross it — N1 to N5.
[photos] We marked the lines, set up the IDS Detector Duo with its two antennas — 250 and 700 megahertz — pushed it along every line, and checked each radargram on the laptop before moving on.
[table] One trace every 2.78 cm, ten scans including a repeat of N5 to check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[5:25–6:05] Each processing step removes one problem. We move the start time to the ground surface; DC removal and dewow remove the slow drift; background removal deletes the bands that repeat on every trace; gain boosts the weak, deeper echoes.
[figure] Left: raw line N5 — the bands hide almost everything. Right: after processing, the water-pipe hyperbola is clear.
Migration with 0.095 m/ns collapses each hyperbola to its apex. For depths we use a two-layer model: 0.12 m/ns in the concrete, 0.10 in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[6:05–6:40] Before trusting the field data, we built a simple model: soil with v = 0.095 m/ns, a metal cable and an air-filled PVC pipe, both 0.45 m deep, a 250 MHz pulse.
The model predicts a hyperbola with its apex at about 9.5 ns — and on the real lines C1 and N5 the measured hyperbolas follow the same curve, the dashed gold line.
It also shows the opposite polarity of metal and an air-filled pipe, from equation (3). This is a ray model; a gprMax input file is prepared for a full-wave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[6:40–7:20] One hyperbola alone could be anything — a stone, a pocket of fill. So we look for the same echo on neighbouring lines.
[left] Lines C1 to C4 run parallel, one metre apart, drawn on the same position axis. On every line we find the same anomaly, P1 — a strong hyperbola with a long ringing tail, typical of metal.
[dashed line] The four apexes sit in one column, at 2.5 m: the cable crosses the road at a right angle. That is also what we saw on site — the marks we made lined up straight across the road.
[cards] Depth to the top is about 0.45 m on C2 to C4, and 0.65 m on C1.
(If asked: C2 and C4 were walked in the opposite direction; we flipped them and placed their start so that P1 sits on the cable we marked. C1 and C3 agree at 2.50 m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[7:20–7:50] Same idea for the water pipe, on the lines across the road.
(a) N2: a clear hyperbola, A1; its top is about 0.43 m deep. We see the same pipe on N4 and N5 — about one metre from the bench-side edge of the road.
(b) N1: no clear hyperbola — only flat reflections from the pavement layers. We say so rather than guess.
(c) After migration this hyperbola does not focus well, so we do not claim a pipe size — (d) only zooms in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[7:50–8:10] (4.4 – the video starts by itself, 19 s; the scanning part runs at 3× speed. Talk over it.)
This is our survey in 3D, built from the real data: the ground is our own top-view photo.
The radar cart scans each line — every C line, then every N line — and under each line its radargram appears.
At the end, the hyperbola apexes are joined: the orange cable straight across the road, the blue water pipe along it.
(Live version for questions: open 02_SoDoTuyen_BanDo/ket_qua/Canh3D_HienTruong.html in a browser and click the pipe or 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[8:10–8:55] So, what is under our feet?
[table] A power cable crosses the road at a right angle, about 0.45 m to its top — seen on all four lines: high confidence.
A water pipe runs along the road, about a metre from the bench-side edge, 0.43 to 0.59 m deep — seen on three of five lines: medium confidence.
Five other reflectors appear on one line only — we do not claim what they are.
[bottom left] The main uncertainty is the wave speed: two velocity models give depths about 20 % apart.
In Kaohsiung, nobody could see the pipe. Here, we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[8:55–9:40] Three conclusions.
One: with nine lines on a small grid, GPR found a cable and a water pipe under asphalt — no digging. The key was finding the same echo on neighbouring lines.
Two: geometry matters — crossing the target at a right angle is what makes the hyperbola appear.
Three: the two antennas complement each other — 700 MHz is sharper, 250 MHz goes deeper.
Three limits. Our depths depend on the wave speed — next time we calibrate with the RD7000 or one small test pit. Our line positions were set by hand — a GPS or a total station would make the map more accurate. And we could not determine the pipe diameter: the pipe hyperbola does not focus after migration, and the 31 by 14 cm spot on the cable is set by the resolution, not by the real size. Fitting the hyperbola shape with a radius term on the sharper 700 MHz data is the next step.
More than a quarter of utility strikes start with a locating mistake. Locating well is exactly what GPR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[9:40–10:00] At the start we asked: what is under our feet? Now we know — a cable crossing the road and a water pipe along it, about half a metre down.
Thank you for listening. We are happy to take your questions.
(Backup slides follow: plan-view map, depth slices, cable sections C1/C3, migration on line C1.)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 leave this slide on screen while answering questions]
Everything we showed is online: the raw GPR lines, the processing scripts, the maps, these slides and the written report. Scan the QR code — the repository is public. The README explains, step by step and in Vietnamese, how to open the files and how to reproduce our maps from the raw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where exactly each point was measured, or about the dashed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to see the raw sections: (a) C1 and (b) C3 with P1 in red, other anomalies in orange; (c) C1 after Kirchhoff migration; (d) apparent size ~31 × 14 cm, limited by the ~10 cm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what migration does: (a) filtered line C1 with the cable region boxed, (b) after Kirchhoff migration, (c) zoom on the signal of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0A0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MINAR">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0241280" cy="685800"/>
          </a:xfrm>
          <a:prstGeom prst="rect">
            <a:avLst/>
          </a:prstGeom>
          <a:noFill/>
        </p:spPr>
        <p:txBody>
          <a:bodyPr wrap="square" rtlCol="0"/>
          <a:lstStyle>
            <a:lvl1pPr marL="0" indent="0" algn="l">
              <a:buNone/>
              <a:def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defRPr>
            </a:lvl1pPr>
          </a:lstStyle>
          <a:p>
            <a:pPr marL="0" indent="0" algn="l">
              <a:buNone/>
            </a:pPr>
            <a:endParaRPr lang="en-US" sz="2600" dirty="0"/>
          </a:p>
        </p:txBody>
      </p:sp>
      <p:pic>
        <p:nvPicPr>
          <p:cNvPr id="3" name="Image 0" descr="/Users/leequoclong/Documents/Kỳ 1 - 26 27/Các Phương Pháp NDT/01_Slide/HinhAnh/Logo_HCMUS.png"/>
          <p:cNvPicPr>
            <a:picLocks noChangeAspect="1"/>
          </p:cNvPicPr>
          <p:nvPr/>
        </p:nvPicPr>
        <p:blipFill>
          <a:blip r:embed="rId2"/>
          <a:stretch>
            <a:fillRect/>
          </a:stretch>
        </p:blipFill>
        <p:spPr>
          <a:xfrm>
            <a:off x="11018520" y="274320"/>
            <a:ext cx="667512" cy="548640"/>
          </a:xfrm>
          <a:prstGeom prst="rect">
            <a:avLst/>
          </a:prstGeom>
        </p:spPr>
      </p:pic>
      <p:sp>
        <p:nvSpPr>
          <p:cNvPr id="4" name="Text 0"/>
          <p:cNvSpPr/>
          <p:nvPr/>
        </p:nvSpPr>
        <p:spPr>
          <a:xfrm>
            <a:off x="548640" y="6419088"/>
            <a:ext cx="8229600" cy="256032"/>
          </a:xfrm>
          <a:prstGeom prst="rect">
            <a:avLst/>
          </a:prstGeom>
          <a:noFill/>
        </p:spPr>
        <p:txBody>
          <a:bodyPr wrap="square" lIns="0" tIns="0" rIns="0" bIns="0" rtlCol="0" anchor="ctr"/>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Group 1 · GPR for underground cables and utilities · Non-Destructive Testing Methods – HCMUS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4.xml"/><Relationship Id="rId5" Type="http://schemas.openxmlformats.org/officeDocument/2006/relationships/image" Target="../media/image18.jpeg"/><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image" Target="../media/image22.png"/><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3.xml"/><Relationship Id="rId3" Type="http://schemas.openxmlformats.org/officeDocument/2006/relationships/image" Target="../media/image24.jpeg"/><Relationship Id="rId2" Type="http://schemas.microsoft.com/office/2007/relationships/media" Target="../media/media1.mp4"/><Relationship Id="rId1" Type="http://schemas.openxmlformats.org/officeDocument/2006/relationships/video" Target="../media/media1.mp4"/></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25.GI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26.jpe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0_date"/>
          <p:cNvSpPr txBox="1"/>
          <p:nvPr/>
        </p:nvSpPr>
        <p:spPr>
          <a:xfrm>
            <a:off x="822960" y="2331720"/>
            <a:ext cx="10515600" cy="1097280"/>
          </a:xfrm>
          <a:prstGeom prst="rect">
            <a:avLst/>
          </a:prstGeom>
          <a:noFill/>
        </p:spPr>
        <p:txBody>
          <a:bodyPr wrap="square" lIns="0" tIns="0" rIns="0" bIns="0" rtlCol="0" anchor="t"/>
          <a:lstStyle/>
          <a:p>
            <a:pPr marL="0" indent="0">
              <a:buNone/>
            </a:pPr>
            <a:r>
              <a:rPr lang="en-US" sz="6600" b="1" kern="0" spc="600" dirty="0">
                <a:solidFill>
                  <a:srgbClr val="F4F1EC"/>
                </a:solidFill>
                <a:latin typeface="Arial" panose="020B0704020202020204" pitchFamily="34" charset="0"/>
                <a:ea typeface="Arial" panose="020B0704020202020204" pitchFamily="34" charset="-122"/>
                <a:cs typeface="Arial" panose="020B0704020202020204" pitchFamily="34" charset="-120"/>
              </a:rPr>
              <a:t>31 JULY 2014</a:t>
            </a:r>
            <a:endParaRPr lang="en-US" sz="6600" dirty="0"/>
          </a:p>
        </p:txBody>
      </p:sp>
      <p:sp>
        <p:nvSpPr>
          <p:cNvPr id="3" name="L0_place"/>
          <p:cNvSpPr txBox="1"/>
          <p:nvPr/>
        </p:nvSpPr>
        <p:spPr>
          <a:xfrm>
            <a:off x="822960" y="3474720"/>
            <a:ext cx="10515600" cy="640080"/>
          </a:xfrm>
          <a:prstGeom prst="rect">
            <a:avLst/>
          </a:prstGeom>
          <a:noFill/>
        </p:spPr>
        <p:txBody>
          <a:bodyPr wrap="square" lIns="0" tIns="0" rIns="0" bIns="0" rtlCol="0" anchor="t"/>
          <a:lstStyle/>
          <a:p>
            <a:pPr marL="0" indent="0">
              <a:buNone/>
            </a:pPr>
            <a:r>
              <a:rPr lang="en-US" sz="2800" dirty="0">
                <a:solidFill>
                  <a:srgbClr val="9A9A9A"/>
                </a:solidFill>
                <a:latin typeface="Arial" panose="020B0704020202020204" pitchFamily="34" charset="0"/>
                <a:ea typeface="Arial" panose="020B0704020202020204" pitchFamily="34" charset="-122"/>
                <a:cs typeface="Arial" panose="020B0704020202020204" pitchFamily="34" charset="-120"/>
              </a:rPr>
              <a:t>Kaohsiung, Taiwan</a:t>
            </a:r>
            <a:endParaRPr lang="en-US" sz="2800" dirty="0"/>
          </a:p>
        </p:txBody>
      </p:sp>
      <p:pic>
        <p:nvPicPr>
          <p:cNvPr id="4" name="L1_photo" descr="Sanduo 1st Road in Kaohsiung torn open after the 2014 gas explosions, with exposed pipes"/>
          <p:cNvPicPr>
            <a:picLocks noChangeAspect="1"/>
          </p:cNvPicPr>
          <p:nvPr/>
        </p:nvPicPr>
        <p:blipFill>
          <a:blip r:embed="rId1"/>
          <a:stretch>
            <a:fillRect/>
          </a:stretch>
        </p:blipFill>
        <p:spPr>
          <a:xfrm>
            <a:off x="0" y="0"/>
            <a:ext cx="12191695" cy="6858000"/>
          </a:xfrm>
          <a:prstGeom prst="rect">
            <a:avLst/>
          </a:prstGeom>
        </p:spPr>
      </p:pic>
      <p:pic>
        <p:nvPicPr>
          <p:cNvPr id="5" name="L1_shade" descr="/Users/leequoclong/Documents/Kỳ 1 - 26 27/Các Phương Pháp NDT/01_Slide/_build/grad_left.png"/>
          <p:cNvPicPr>
            <a:picLocks noChangeAspect="1"/>
          </p:cNvPicPr>
          <p:nvPr/>
        </p:nvPicPr>
        <p:blipFill>
          <a:blip r:embed="rId2"/>
          <a:stretch>
            <a:fillRect/>
          </a:stretch>
        </p:blipFill>
        <p:spPr>
          <a:xfrm>
            <a:off x="0" y="0"/>
            <a:ext cx="12191695" cy="6858000"/>
          </a:xfrm>
          <a:prstGeom prst="rect">
            <a:avLst/>
          </a:prstGeom>
        </p:spPr>
      </p:pic>
      <p:sp>
        <p:nvSpPr>
          <p:cNvPr id="6" name="L1_dead"/>
          <p:cNvSpPr txBox="1"/>
          <p:nvPr/>
        </p:nvSpPr>
        <p:spPr>
          <a:xfrm>
            <a:off x="731520" y="1554480"/>
            <a:ext cx="5943600" cy="1371600"/>
          </a:xfrm>
          <a:prstGeom prst="rect">
            <a:avLst/>
          </a:prstGeom>
          <a:noFill/>
        </p:spPr>
        <p:txBody>
          <a:bodyPr wrap="square" lIns="0" tIns="0" rIns="0" bIns="0" rtlCol="0" anchor="t"/>
          <a:lstStyle/>
          <a:p>
            <a:pPr marL="0" indent="0">
              <a:buNone/>
            </a:pPr>
            <a:r>
              <a:rPr lang="en-US" sz="9600" b="1" dirty="0">
                <a:solidFill>
                  <a:srgbClr val="E5482D"/>
                </a:solidFill>
                <a:latin typeface="Arial" panose="020B0704020202020204" pitchFamily="34" charset="0"/>
                <a:ea typeface="Arial" panose="020B0704020202020204" pitchFamily="34" charset="-122"/>
                <a:cs typeface="Arial" panose="020B0704020202020204" pitchFamily="34" charset="-120"/>
              </a:rPr>
              <a:t>32 dead</a:t>
            </a:r>
            <a:endParaRPr lang="en-US" sz="9600" dirty="0"/>
          </a:p>
        </p:txBody>
      </p:sp>
      <p:sp>
        <p:nvSpPr>
          <p:cNvPr id="7" name="L1_injured"/>
          <p:cNvSpPr txBox="1"/>
          <p:nvPr/>
        </p:nvSpPr>
        <p:spPr>
          <a:xfrm>
            <a:off x="731520" y="2971800"/>
            <a:ext cx="5943600" cy="822960"/>
          </a:xfrm>
          <a:prstGeom prst="rect">
            <a:avLst/>
          </a:prstGeom>
          <a:noFill/>
        </p:spPr>
        <p:txBody>
          <a:bodyPr wrap="square" lIns="0" tIns="0" rIns="0" bIns="0" rtlCol="0" anchor="t"/>
          <a:lstStyle/>
          <a:p>
            <a:pPr marL="0" indent="0">
              <a:buNone/>
            </a:pPr>
            <a:r>
              <a:rPr lang="en-US" sz="4400" b="1" dirty="0">
                <a:solidFill>
                  <a:srgbClr val="F4F1EC"/>
                </a:solidFill>
                <a:latin typeface="Arial" panose="020B0704020202020204" pitchFamily="34" charset="0"/>
                <a:ea typeface="Arial" panose="020B0704020202020204" pitchFamily="34" charset="-122"/>
                <a:cs typeface="Arial" panose="020B0704020202020204" pitchFamily="34" charset="-120"/>
              </a:rPr>
              <a:t>321 injured</a:t>
            </a:r>
            <a:endParaRPr lang="en-US" sz="4400" dirty="0"/>
          </a:p>
        </p:txBody>
      </p:sp>
      <p:sp>
        <p:nvSpPr>
          <p:cNvPr id="8" name="L1_cause"/>
          <p:cNvSpPr txBox="1"/>
          <p:nvPr/>
        </p:nvSpPr>
        <p:spPr>
          <a:xfrm>
            <a:off x="731520" y="4069080"/>
            <a:ext cx="5486400" cy="914400"/>
          </a:xfrm>
          <a:prstGeom prst="rect">
            <a:avLst/>
          </a:prstGeom>
          <a:noFill/>
        </p:spPr>
        <p:txBody>
          <a:bodyPr wrap="square" lIns="0" tIns="0" rIns="0" bIns="0" rtlCol="0" anchor="t"/>
          <a:lstStyle/>
          <a:p>
            <a:pPr marL="0" indent="0">
              <a:buNone/>
            </a:pPr>
            <a:r>
              <a:rPr lang="en-US" sz="2200" i="1" dirty="0">
                <a:solidFill>
                  <a:srgbClr val="F4F1EC"/>
                </a:solidFill>
                <a:latin typeface="Arial" panose="020B0704020202020204" pitchFamily="34" charset="0"/>
                <a:ea typeface="Arial" panose="020B0704020202020204" pitchFamily="34" charset="-122"/>
                <a:cs typeface="Arial" panose="020B0704020202020204" pitchFamily="34" charset="-120"/>
              </a:rPr>
              <a:t>A leaking pipe under the street.</a:t>
            </a:r>
            <a:endParaRPr lang="en-US" sz="2200" dirty="0"/>
          </a:p>
          <a:p>
            <a:pPr marL="0" indent="0">
              <a:buNone/>
            </a:pPr>
            <a:r>
              <a:rPr lang="en-US" sz="2200" i="1" dirty="0">
                <a:solidFill>
                  <a:srgbClr val="F4F1EC"/>
                </a:solidFill>
                <a:latin typeface="Arial" panose="020B0704020202020204" pitchFamily="34" charset="0"/>
                <a:ea typeface="Arial" panose="020B0704020202020204" pitchFamily="34" charset="-122"/>
                <a:cs typeface="Arial" panose="020B0704020202020204" pitchFamily="34" charset="-120"/>
              </a:rPr>
              <a:t>Nobody could see it.</a:t>
            </a:r>
            <a:endParaRPr lang="en-US" sz="2200" dirty="0"/>
          </a:p>
        </p:txBody>
      </p:sp>
      <p:sp>
        <p:nvSpPr>
          <p:cNvPr id="9" name="L1_credit"/>
          <p:cNvSpPr txBox="1"/>
          <p:nvPr/>
        </p:nvSpPr>
        <p:spPr>
          <a:xfrm>
            <a:off x="5303520" y="6446520"/>
            <a:ext cx="6583680" cy="274320"/>
          </a:xfrm>
          <a:prstGeom prst="rect">
            <a:avLst/>
          </a:prstGeom>
          <a:noFill/>
        </p:spPr>
        <p:txBody>
          <a:bodyPr wrap="square" lIns="0" tIns="0" rIns="0" bIns="0" rtlCol="0" anchor="t"/>
          <a:lstStyle/>
          <a:p>
            <a:pPr marL="0" indent="0" algn="r">
              <a:buNone/>
            </a:pPr>
            <a:r>
              <a:rPr lang="en-US" sz="1000" dirty="0">
                <a:solidFill>
                  <a:srgbClr val="D0D0D0"/>
                </a:solidFill>
                <a:latin typeface="Arial" panose="020B0704020202020204" pitchFamily="34" charset="0"/>
                <a:ea typeface="Arial" panose="020B0704020202020204" pitchFamily="34" charset="-122"/>
                <a:cs typeface="Arial" panose="020B0704020202020204" pitchFamily="34" charset="-120"/>
              </a:rPr>
              <a:t>Sanduo 1st Rd, Kaohsiung, 11 Aug 2014 · Photo: </a:t>
            </a:r>
            <a:r>
              <a:rPr lang="en-US" sz="1000" dirty="0">
                <a:solidFill>
                  <a:srgbClr val="D0D0D0"/>
                </a:solidFill>
                <a:latin typeface="PingFang TC" pitchFamily="34" charset="0"/>
                <a:ea typeface="PingFang TC" pitchFamily="34" charset="-122"/>
                <a:cs typeface="PingFang TC" pitchFamily="34" charset="-120"/>
              </a:rPr>
              <a:t>玄史生</a:t>
            </a:r>
            <a:r>
              <a:rPr lang="en-US" sz="1000" dirty="0">
                <a:solidFill>
                  <a:srgbClr val="D0D0D0"/>
                </a:solidFill>
                <a:latin typeface="Arial" panose="020B0704020202020204" pitchFamily="34" charset="0"/>
                <a:ea typeface="Arial" panose="020B0704020202020204" pitchFamily="34" charset="-122"/>
                <a:cs typeface="Arial" panose="020B0704020202020204" pitchFamily="34" charset="-120"/>
              </a:rPr>
              <a:t> / Wikimedia Commons · CC BY-SA 4.0</a:t>
            </a:r>
            <a:endParaRPr lang="en-US" sz="1000" dirty="0"/>
          </a:p>
        </p:txBody>
      </p:sp>
      <p:sp>
        <p:nvSpPr>
          <p:cNvPr id="10" name="L2_bg"/>
          <p:cNvSpPr/>
          <p:nvPr/>
        </p:nvSpPr>
        <p:spPr>
          <a:xfrm>
            <a:off x="0" y="0"/>
            <a:ext cx="12191695" cy="6858000"/>
          </a:xfrm>
          <a:prstGeom prst="rect">
            <a:avLst/>
          </a:prstGeom>
          <a:solidFill>
            <a:srgbClr val="0A0A0B"/>
          </a:solidFill>
          <a:ln w="12700">
            <a:solidFill>
              <a:srgbClr val="0A0A0B"/>
            </a:solidFill>
            <a:prstDash val="solid"/>
          </a:ln>
        </p:spPr>
      </p:sp>
      <p:sp>
        <p:nvSpPr>
          <p:cNvPr id="11" name="L2_lead"/>
          <p:cNvSpPr txBox="1"/>
          <p:nvPr/>
        </p:nvSpPr>
        <p:spPr>
          <a:xfrm>
            <a:off x="822960" y="685800"/>
            <a:ext cx="10515600" cy="457200"/>
          </a:xfrm>
          <a:prstGeom prst="rect">
            <a:avLst/>
          </a:prstGeom>
          <a:noFill/>
        </p:spPr>
        <p:txBody>
          <a:bodyPr wrap="square" lIns="0" tIns="0" rIns="0" bIns="0" rtlCol="0" anchor="t"/>
          <a:lstStyle/>
          <a:p>
            <a:pPr marL="0" indent="0">
              <a:buNone/>
            </a:pPr>
            <a:r>
              <a:rPr lang="en-US" sz="2200" dirty="0">
                <a:solidFill>
                  <a:srgbClr val="9A9A9A"/>
                </a:solidFill>
                <a:latin typeface="Arial" panose="020B0704020202020204" pitchFamily="34" charset="0"/>
                <a:ea typeface="Arial" panose="020B0704020202020204" pitchFamily="34" charset="-122"/>
                <a:cs typeface="Arial" panose="020B0704020202020204" pitchFamily="34" charset="-120"/>
              </a:rPr>
              <a:t>And this is not rare.</a:t>
            </a:r>
            <a:endParaRPr lang="en-US" sz="2200" dirty="0"/>
          </a:p>
        </p:txBody>
      </p:sp>
      <p:sp>
        <p:nvSpPr>
          <p:cNvPr id="12" name="L2_n1"/>
          <p:cNvSpPr txBox="1"/>
          <p:nvPr/>
        </p:nvSpPr>
        <p:spPr>
          <a:xfrm>
            <a:off x="822960" y="1325880"/>
            <a:ext cx="5486400" cy="1280160"/>
          </a:xfrm>
          <a:prstGeom prst="rect">
            <a:avLst/>
          </a:prstGeom>
          <a:noFill/>
        </p:spPr>
        <p:txBody>
          <a:bodyPr wrap="square" lIns="0" tIns="0" rIns="0" bIns="0" rtlCol="0" anchor="t"/>
          <a:lstStyle/>
          <a:p>
            <a:pPr marL="0" indent="0">
              <a:buNone/>
            </a:pPr>
            <a:r>
              <a:rPr lang="en-US" sz="8000" b="1" dirty="0">
                <a:solidFill>
                  <a:srgbClr val="F4F1EC"/>
                </a:solidFill>
                <a:latin typeface="Arial" panose="020B0704020202020204" pitchFamily="34" charset="0"/>
                <a:ea typeface="Arial" panose="020B0704020202020204" pitchFamily="34" charset="-122"/>
                <a:cs typeface="Arial" panose="020B0704020202020204" pitchFamily="34" charset="-120"/>
              </a:rPr>
              <a:t>500,000+</a:t>
            </a:r>
            <a:endParaRPr lang="en-US" sz="8000" dirty="0"/>
          </a:p>
        </p:txBody>
      </p:sp>
      <p:sp>
        <p:nvSpPr>
          <p:cNvPr id="13" name="L2_n1lab"/>
          <p:cNvSpPr txBox="1"/>
          <p:nvPr/>
        </p:nvSpPr>
        <p:spPr>
          <a:xfrm>
            <a:off x="822960" y="2651760"/>
            <a:ext cx="5120640" cy="731520"/>
          </a:xfrm>
          <a:prstGeom prst="rect">
            <a:avLst/>
          </a:prstGeom>
          <a:noFill/>
        </p:spPr>
        <p:txBody>
          <a:bodyPr wrap="square" lIns="0" tIns="0" rIns="0" bIns="0" rtlCol="0" anchor="t"/>
          <a:lstStyle/>
          <a:p>
            <a:pPr marL="0" indent="0">
              <a:buNone/>
            </a:pPr>
            <a:r>
              <a:rPr lang="en-US" sz="1800" dirty="0">
                <a:solidFill>
                  <a:srgbClr val="9A9A9A"/>
                </a:solidFill>
                <a:latin typeface="Arial" panose="020B0704020202020204" pitchFamily="34" charset="0"/>
                <a:ea typeface="Arial" panose="020B0704020202020204" pitchFamily="34" charset="-122"/>
                <a:cs typeface="Arial" panose="020B0704020202020204" pitchFamily="34" charset="-120"/>
              </a:rPr>
              <a:t>buried utilities hit by digging each year (US)</a:t>
            </a:r>
            <a:endParaRPr lang="en-US" sz="1800" dirty="0"/>
          </a:p>
        </p:txBody>
      </p:sp>
      <p:sp>
        <p:nvSpPr>
          <p:cNvPr id="14" name="L2_n2"/>
          <p:cNvSpPr txBox="1"/>
          <p:nvPr/>
        </p:nvSpPr>
        <p:spPr>
          <a:xfrm>
            <a:off x="6675120" y="1325880"/>
            <a:ext cx="4754880" cy="1280160"/>
          </a:xfrm>
          <a:prstGeom prst="rect">
            <a:avLst/>
          </a:prstGeom>
          <a:noFill/>
        </p:spPr>
        <p:txBody>
          <a:bodyPr wrap="square" lIns="0" tIns="0" rIns="0" bIns="0" rtlCol="0" anchor="t"/>
          <a:lstStyle/>
          <a:p>
            <a:pPr marL="0" indent="0">
              <a:buNone/>
            </a:pPr>
            <a:r>
              <a:rPr lang="en-US" sz="8000" b="1" dirty="0">
                <a:solidFill>
                  <a:srgbClr val="F2C94C"/>
                </a:solidFill>
                <a:latin typeface="Arial" panose="020B0704020202020204" pitchFamily="34" charset="0"/>
                <a:ea typeface="Arial" panose="020B0704020202020204" pitchFamily="34" charset="-122"/>
                <a:cs typeface="Arial" panose="020B0704020202020204" pitchFamily="34" charset="-120"/>
              </a:rPr>
              <a:t>$30B</a:t>
            </a:r>
            <a:endParaRPr lang="en-US" sz="8000" dirty="0"/>
          </a:p>
        </p:txBody>
      </p:sp>
      <p:sp>
        <p:nvSpPr>
          <p:cNvPr id="15" name="L2_n2lab"/>
          <p:cNvSpPr txBox="1"/>
          <p:nvPr/>
        </p:nvSpPr>
        <p:spPr>
          <a:xfrm>
            <a:off x="6675120" y="2651760"/>
            <a:ext cx="4754880" cy="731520"/>
          </a:xfrm>
          <a:prstGeom prst="rect">
            <a:avLst/>
          </a:prstGeom>
          <a:noFill/>
        </p:spPr>
        <p:txBody>
          <a:bodyPr wrap="square" lIns="0" tIns="0" rIns="0" bIns="0" rtlCol="0" anchor="t"/>
          <a:lstStyle/>
          <a:p>
            <a:pPr marL="0" indent="0">
              <a:buNone/>
            </a:pPr>
            <a:r>
              <a:rPr lang="en-US" sz="1800" dirty="0">
                <a:solidFill>
                  <a:srgbClr val="9A9A9A"/>
                </a:solidFill>
                <a:latin typeface="Arial" panose="020B0704020202020204" pitchFamily="34" charset="0"/>
                <a:ea typeface="Arial" panose="020B0704020202020204" pitchFamily="34" charset="-122"/>
                <a:cs typeface="Arial" panose="020B0704020202020204" pitchFamily="34" charset="-120"/>
              </a:rPr>
              <a:t>in damage, every year</a:t>
            </a:r>
            <a:endParaRPr lang="en-US" sz="1800" dirty="0"/>
          </a:p>
        </p:txBody>
      </p:sp>
      <p:sp>
        <p:nvSpPr>
          <p:cNvPr id="16" name="L2_quote"/>
          <p:cNvSpPr txBox="1"/>
          <p:nvPr/>
        </p:nvSpPr>
        <p:spPr>
          <a:xfrm>
            <a:off x="822960" y="3977640"/>
            <a:ext cx="10607040" cy="822960"/>
          </a:xfrm>
          <a:prstGeom prst="rect">
            <a:avLst/>
          </a:prstGeom>
          <a:noFill/>
        </p:spPr>
        <p:txBody>
          <a:bodyPr wrap="square" lIns="0" tIns="0" rIns="0" bIns="0" rtlCol="0" anchor="t"/>
          <a:lstStyle/>
          <a:p>
            <a:pPr marL="0" indent="0">
              <a:buNone/>
            </a:pPr>
            <a:r>
              <a:rPr lang="en-US" sz="3400" i="1" dirty="0">
                <a:solidFill>
                  <a:srgbClr val="F4F1EC"/>
                </a:solidFill>
                <a:latin typeface="Arial" panose="020B0704020202020204" pitchFamily="34" charset="0"/>
                <a:ea typeface="Arial" panose="020B0704020202020204" pitchFamily="34" charset="-122"/>
                <a:cs typeface="Arial" panose="020B0704020202020204" pitchFamily="34" charset="-120"/>
              </a:rPr>
              <a:t>“Dig up any street, and you hit a spider web.”</a:t>
            </a:r>
            <a:endParaRPr lang="en-US" sz="3400" dirty="0"/>
          </a:p>
        </p:txBody>
      </p:sp>
      <p:sp>
        <p:nvSpPr>
          <p:cNvPr id="17" name="L2_quoteby"/>
          <p:cNvSpPr txBox="1"/>
          <p:nvPr/>
        </p:nvSpPr>
        <p:spPr>
          <a:xfrm>
            <a:off x="822960" y="4846320"/>
            <a:ext cx="10607040" cy="457200"/>
          </a:xfrm>
          <a:prstGeom prst="rect">
            <a:avLst/>
          </a:prstGeom>
          <a:noFill/>
        </p:spPr>
        <p:txBody>
          <a:bodyPr wrap="square" lIns="0" tIns="0" rIns="0" bIns="0" rtlCol="0" anchor="t"/>
          <a:lstStyle/>
          <a:p>
            <a:pPr marL="0" indent="0">
              <a:buNone/>
            </a:pPr>
            <a:r>
              <a:rPr lang="en-US" sz="1600" dirty="0">
                <a:solidFill>
                  <a:srgbClr val="9A9A9A"/>
                </a:solidFill>
                <a:latin typeface="Arial" panose="020B0704020202020204" pitchFamily="34" charset="0"/>
                <a:ea typeface="Arial" panose="020B0704020202020204" pitchFamily="34" charset="-122"/>
                <a:cs typeface="Arial" panose="020B0704020202020204" pitchFamily="34" charset="-120"/>
              </a:rPr>
              <a:t>— headline, Người Lao Động newspaper, Ho Chi Minh City (translated)</a:t>
            </a:r>
            <a:endParaRPr lang="en-US" sz="1600" dirty="0"/>
          </a:p>
        </p:txBody>
      </p:sp>
      <p:sp>
        <p:nvSpPr>
          <p:cNvPr id="18" name="L2_src"/>
          <p:cNvSpPr txBox="1"/>
          <p:nvPr/>
        </p:nvSpPr>
        <p:spPr>
          <a:xfrm>
            <a:off x="822960" y="6355080"/>
            <a:ext cx="10607040" cy="274320"/>
          </a:xfrm>
          <a:prstGeom prst="rect">
            <a:avLst/>
          </a:prstGeom>
          <a:noFill/>
        </p:spPr>
        <p:txBody>
          <a:bodyPr wrap="square" lIns="0" tIns="0" rIns="0" bIns="0" rtlCol="0" anchor="t"/>
          <a:lstStyle/>
          <a:p>
            <a:pPr marL="0" indent="0">
              <a:buNone/>
            </a:pPr>
            <a:r>
              <a:rPr lang="en-US" sz="1000" dirty="0">
                <a:solidFill>
                  <a:srgbClr val="6E6E6E"/>
                </a:solidFill>
                <a:latin typeface="Arial" panose="020B0704020202020204" pitchFamily="34" charset="0"/>
                <a:ea typeface="Arial" panose="020B0704020202020204" pitchFamily="34" charset="-122"/>
                <a:cs typeface="Arial" panose="020B0704020202020204" pitchFamily="34" charset="-120"/>
              </a:rPr>
              <a:t>Sources: Common Ground Alliance, DIRT Report 2019 · nld.com.vn</a:t>
            </a:r>
            <a:endParaRPr lang="en-US" sz="1000" dirty="0"/>
          </a:p>
        </p:txBody>
      </p:sp>
      <p:pic>
        <p:nvPicPr>
          <p:cNvPr id="19" name="L3_photo" descr="Asphalt courtyard and stone benches on the HCMUS campus"/>
          <p:cNvPicPr>
            <a:picLocks noChangeAspect="1"/>
          </p:cNvPicPr>
          <p:nvPr/>
        </p:nvPicPr>
        <p:blipFill>
          <a:blip r:embed="rId3"/>
          <a:stretch>
            <a:fillRect/>
          </a:stretch>
        </p:blipFill>
        <p:spPr>
          <a:xfrm>
            <a:off x="0" y="0"/>
            <a:ext cx="12191695" cy="6858000"/>
          </a:xfrm>
          <a:prstGeom prst="rect">
            <a:avLst/>
          </a:prstGeom>
        </p:spPr>
      </p:pic>
      <p:pic>
        <p:nvPicPr>
          <p:cNvPr id="20" name="L3_shade" descr="/Users/leequoclong/Documents/Kỳ 1 - 26 27/Các Phương Pháp NDT/01_Slide/_build/grad_bottom.png"/>
          <p:cNvPicPr>
            <a:picLocks noChangeAspect="1"/>
          </p:cNvPicPr>
          <p:nvPr/>
        </p:nvPicPr>
        <p:blipFill>
          <a:blip r:embed="rId4"/>
          <a:stretch>
            <a:fillRect/>
          </a:stretch>
        </p:blipFill>
        <p:spPr>
          <a:xfrm>
            <a:off x="0" y="0"/>
            <a:ext cx="12191695" cy="6858000"/>
          </a:xfrm>
          <a:prstGeom prst="rect">
            <a:avLst/>
          </a:prstGeom>
        </p:spPr>
      </p:pic>
      <p:sp>
        <p:nvSpPr>
          <p:cNvPr id="21" name="L3_tag"/>
          <p:cNvSpPr txBox="1"/>
          <p:nvPr/>
        </p:nvSpPr>
        <p:spPr>
          <a:xfrm>
            <a:off x="731520" y="457200"/>
            <a:ext cx="3383280" cy="411480"/>
          </a:xfrm>
          <a:prstGeom prst="roundRect">
            <a:avLst>
              <a:gd name="adj" fmla="val 22222"/>
            </a:avLst>
          </a:prstGeom>
          <a:solidFill>
            <a:srgbClr val="000000">
              <a:alpha val="65000"/>
            </a:srgbClr>
          </a:solidFill>
        </p:spPr>
        <p:txBody>
          <a:bodyPr wrap="square" lIns="0" tIns="0" rIns="0" bIns="0" rtlCol="0" anchor="ctr"/>
          <a:lstStyle/>
          <a:p>
            <a:pPr marL="0" indent="0" algn="ctr">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This courtyard · HCMUS campus</a:t>
            </a:r>
            <a:endParaRPr lang="en-US" sz="1400" dirty="0"/>
          </a:p>
        </p:txBody>
      </p:sp>
      <p:pic>
        <p:nvPicPr>
          <p:cNvPr id="22" name="L3_logo" descr="HCMUS logo"/>
          <p:cNvPicPr>
            <a:picLocks noChangeAspect="1"/>
          </p:cNvPicPr>
          <p:nvPr/>
        </p:nvPicPr>
        <p:blipFill>
          <a:blip r:embed="rId5"/>
          <a:stretch>
            <a:fillRect/>
          </a:stretch>
        </p:blipFill>
        <p:spPr>
          <a:xfrm>
            <a:off x="10744200" y="365760"/>
            <a:ext cx="914400" cy="749808"/>
          </a:xfrm>
          <a:prstGeom prst="rect">
            <a:avLst/>
          </a:prstGeom>
        </p:spPr>
      </p:pic>
      <p:sp>
        <p:nvSpPr>
          <p:cNvPr id="23" name="L3_q"/>
          <p:cNvSpPr txBox="1"/>
          <p:nvPr/>
        </p:nvSpPr>
        <p:spPr>
          <a:xfrm>
            <a:off x="731520" y="3611880"/>
            <a:ext cx="10789920" cy="1005840"/>
          </a:xfrm>
          <a:prstGeom prst="rect">
            <a:avLst/>
          </a:prstGeom>
          <a:noFill/>
        </p:spPr>
        <p:txBody>
          <a:bodyPr wrap="square" lIns="0" tIns="0" rIns="0" bIns="0" rtlCol="0" anchor="t"/>
          <a:lstStyle/>
          <a:p>
            <a:pPr marL="0" indent="0">
              <a:buNone/>
            </a:pPr>
            <a:r>
              <a:rPr lang="en-US" sz="5800" b="1" dirty="0">
                <a:solidFill>
                  <a:srgbClr val="FFFFFF"/>
                </a:solidFill>
                <a:latin typeface="Arial" panose="020B0704020202020204" pitchFamily="34" charset="0"/>
                <a:ea typeface="Arial" panose="020B0704020202020204" pitchFamily="34" charset="-122"/>
                <a:cs typeface="Arial" panose="020B0704020202020204" pitchFamily="34" charset="-120"/>
              </a:rPr>
              <a:t>What is under our feet?</a:t>
            </a:r>
            <a:endParaRPr lang="en-US" sz="5800" dirty="0"/>
          </a:p>
        </p:txBody>
      </p:sp>
      <p:sp>
        <p:nvSpPr>
          <p:cNvPr id="24" name="L3_title"/>
          <p:cNvSpPr txBox="1"/>
          <p:nvPr/>
        </p:nvSpPr>
        <p:spPr>
          <a:xfrm>
            <a:off x="731520" y="4709160"/>
            <a:ext cx="10789920" cy="457200"/>
          </a:xfrm>
          <a:prstGeom prst="rect">
            <a:avLst/>
          </a:prstGeom>
          <a:noFill/>
        </p:spPr>
        <p:txBody>
          <a:bodyPr wrap="square" lIns="0" tIns="0" rIns="0" bIns="0" rtlCol="0" anchor="t"/>
          <a:lstStyle/>
          <a:p>
            <a:pPr marL="0" indent="0">
              <a:buNone/>
            </a:pPr>
            <a:r>
              <a:rPr lang="en-US" sz="2400" b="1" dirty="0">
                <a:solidFill>
                  <a:srgbClr val="F2C94C"/>
                </a:solidFill>
                <a:latin typeface="Arial" panose="020B0704020202020204" pitchFamily="34" charset="0"/>
                <a:ea typeface="Arial" panose="020B0704020202020204" pitchFamily="34" charset="-122"/>
                <a:cs typeface="Arial" panose="020B0704020202020204" pitchFamily="34" charset="-120"/>
              </a:rPr>
              <a:t>Application of GPR in Surveying Underground Cables and Utilities</a:t>
            </a:r>
            <a:endParaRPr lang="en-US" sz="2400" dirty="0"/>
          </a:p>
        </p:txBody>
      </p:sp>
      <p:sp>
        <p:nvSpPr>
          <p:cNvPr id="25" name="L3_team"/>
          <p:cNvSpPr txBox="1"/>
          <p:nvPr/>
        </p:nvSpPr>
        <p:spPr>
          <a:xfrm>
            <a:off x="731520" y="5303520"/>
            <a:ext cx="10789920" cy="365760"/>
          </a:xfrm>
          <a:prstGeom prst="rect">
            <a:avLst/>
          </a:prstGeom>
          <a:noFill/>
        </p:spPr>
        <p:txBody>
          <a:bodyPr wrap="square" lIns="0" tIns="0" rIns="0" bIns="0" rtlCol="0" anchor="t"/>
          <a:lstStyle/>
          <a:p>
            <a:pPr marL="0" indent="0">
              <a:buNone/>
            </a:pPr>
            <a:r>
              <a:rPr lang="en-US" sz="1600" b="1" dirty="0">
                <a:solidFill>
                  <a:srgbClr val="FFFFFF"/>
                </a:solidFill>
                <a:latin typeface="Arial" panose="020B0704020202020204" pitchFamily="34" charset="0"/>
                <a:ea typeface="Arial" panose="020B0704020202020204" pitchFamily="34" charset="-122"/>
                <a:cs typeface="Arial" panose="020B0704020202020204" pitchFamily="34" charset="-120"/>
              </a:rPr>
              <a:t>Quốc Long  ·  Quốc Tài  ·  Thành Trung  ·  Đăng Khoa  ·  Đăng Quang</a:t>
            </a:r>
            <a:endParaRPr lang="en-US" sz="1600" dirty="0"/>
          </a:p>
        </p:txBody>
      </p:sp>
      <p:sp>
        <p:nvSpPr>
          <p:cNvPr id="26" name="L3_info"/>
          <p:cNvSpPr txBox="1"/>
          <p:nvPr/>
        </p:nvSpPr>
        <p:spPr>
          <a:xfrm>
            <a:off x="731520" y="5760720"/>
            <a:ext cx="10789920" cy="365760"/>
          </a:xfrm>
          <a:prstGeom prst="rect">
            <a:avLst/>
          </a:prstGeom>
          <a:noFill/>
        </p:spPr>
        <p:txBody>
          <a:bodyPr wrap="square" lIns="0" tIns="0" rIns="0" bIns="0" rtlCol="0" anchor="t"/>
          <a:lstStyle/>
          <a:p>
            <a:pPr marL="0" indent="0">
              <a:buNone/>
            </a:pPr>
            <a:r>
              <a:rPr lang="en-US" sz="1300" dirty="0">
                <a:solidFill>
                  <a:srgbClr val="D8D8D8"/>
                </a:solidFill>
                <a:latin typeface="Arial" panose="020B0704020202020204" pitchFamily="34" charset="0"/>
                <a:ea typeface="Arial" panose="020B0704020202020204" pitchFamily="34" charset="-122"/>
                <a:cs typeface="Arial" panose="020B0704020202020204" pitchFamily="34" charset="-120"/>
              </a:rPr>
              <a:t>Group 1   ·   Supervisor: MSc. Nguyễn Văn Thuận   ·   Non-Destructive Testing Methods   ·   Faculty of Physics &amp; Engineering Physics – HCMUS</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9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9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9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9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9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9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9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9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9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9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9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9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9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9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9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9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9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90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90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90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9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9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9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1" grpId="0" animBg="1"/>
      <p:bldP spid="23" grpId="0" animBg="1"/>
      <p:bldP spid="24" grpId="0" animBg="1"/>
      <p:bldP spid="25" grpId="0" animBg="1"/>
      <p:bldP spid="2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B4A9E"/>
          </a:solidFill>
          <a:ln w="12700">
            <a:solidFill>
              <a:srgbClr val="0B4A9E"/>
            </a:solidFill>
            <a:prstDash val="solid"/>
          </a:ln>
        </p:spPr>
      </p:sp>
      <p:pic>
        <p:nvPicPr>
          <p:cNvPr id="3" name="Image 0" descr="HCMUS logo"/>
          <p:cNvPicPr>
            <a:picLocks noChangeAspect="1"/>
          </p:cNvPicPr>
          <p:nvPr/>
        </p:nvPicPr>
        <p:blipFill>
          <a:blip r:embed="rId1"/>
          <a:stretch>
            <a:fillRect/>
          </a:stretch>
        </p:blipFill>
        <p:spPr>
          <a:xfrm>
            <a:off x="640080" y="548640"/>
            <a:ext cx="777240" cy="640080"/>
          </a:xfrm>
          <a:prstGeom prst="rect">
            <a:avLst/>
          </a:prstGeom>
        </p:spPr>
      </p:pic>
      <p:sp>
        <p:nvSpPr>
          <p:cNvPr id="4" name="Text 1"/>
          <p:cNvSpPr txBox="1"/>
          <p:nvPr/>
        </p:nvSpPr>
        <p:spPr>
          <a:xfrm>
            <a:off x="640080" y="2377440"/>
            <a:ext cx="3017520" cy="822960"/>
          </a:xfrm>
          <a:prstGeom prst="rect">
            <a:avLst/>
          </a:prstGeom>
          <a:noFill/>
        </p:spPr>
        <p:txBody>
          <a:bodyPr wrap="square" lIns="0" tIns="0" rIns="0" bIns="0" rtlCol="0" anchor="t"/>
          <a:lstStyle/>
          <a:p>
            <a:pPr marL="0" indent="0">
              <a:buNone/>
            </a:pPr>
            <a:r>
              <a:rPr lang="en-US" sz="4400" b="1" dirty="0">
                <a:solidFill>
                  <a:srgbClr val="FFFFFF"/>
                </a:solidFill>
                <a:latin typeface="Arial" panose="020B0704020202020204" pitchFamily="34" charset="0"/>
                <a:ea typeface="Arial" panose="020B0704020202020204" pitchFamily="34" charset="-122"/>
                <a:cs typeface="Arial" panose="020B0704020202020204" pitchFamily="34" charset="-120"/>
              </a:rPr>
              <a:t>Outline</a:t>
            </a:r>
            <a:endParaRPr lang="en-US" sz="4400" dirty="0"/>
          </a:p>
        </p:txBody>
      </p:sp>
      <p:sp>
        <p:nvSpPr>
          <p:cNvPr id="5" name="Text 2"/>
          <p:cNvSpPr txBox="1"/>
          <p:nvPr/>
        </p:nvSpPr>
        <p:spPr>
          <a:xfrm>
            <a:off x="640080" y="3291840"/>
            <a:ext cx="3017520" cy="1097280"/>
          </a:xfrm>
          <a:prstGeom prst="rect">
            <a:avLst/>
          </a:prstGeom>
          <a:noFill/>
        </p:spPr>
        <p:txBody>
          <a:bodyPr wrap="square" lIns="0" tIns="0" rIns="0" bIns="0" rtlCol="0" anchor="t"/>
          <a:lstStyle/>
          <a:p>
            <a:pPr marL="0" indent="0">
              <a:buNone/>
            </a:pPr>
            <a:r>
              <a:rPr lang="en-US" sz="1600" dirty="0">
                <a:solidFill>
                  <a:srgbClr val="D6E2F3"/>
                </a:solidFill>
                <a:latin typeface="Arial" panose="020B0704020202020204" pitchFamily="34" charset="0"/>
                <a:ea typeface="Arial" panose="020B0704020202020204" pitchFamily="34" charset="-122"/>
                <a:cs typeface="Arial" panose="020B0704020202020204" pitchFamily="34" charset="-120"/>
              </a:rPr>
              <a:t>Application of GPR in Surveying Underground Cables and Utilities</a:t>
            </a:r>
            <a:endParaRPr lang="en-US" sz="1600" dirty="0"/>
          </a:p>
        </p:txBody>
      </p:sp>
      <p:sp>
        <p:nvSpPr>
          <p:cNvPr id="6" name="Text 3"/>
          <p:cNvSpPr txBox="1"/>
          <p:nvPr/>
        </p:nvSpPr>
        <p:spPr>
          <a:xfrm>
            <a:off x="640080" y="5989320"/>
            <a:ext cx="3017520" cy="274320"/>
          </a:xfrm>
          <a:prstGeom prst="rect">
            <a:avLst/>
          </a:prstGeom>
          <a:noFill/>
        </p:spPr>
        <p:txBody>
          <a:bodyPr wrap="square" lIns="0" tIns="0" rIns="0" bIns="0" rtlCol="0" anchor="t"/>
          <a:lstStyle/>
          <a:p>
            <a:pPr marL="0" indent="0">
              <a:buNone/>
            </a:pPr>
            <a:r>
              <a:rPr lang="en-US" sz="1200" dirty="0">
                <a:solidFill>
                  <a:srgbClr val="D6E2F3"/>
                </a:solidFill>
                <a:latin typeface="Arial" panose="020B0704020202020204" pitchFamily="34" charset="0"/>
                <a:ea typeface="Arial" panose="020B0704020202020204" pitchFamily="34" charset="-122"/>
                <a:cs typeface="Arial" panose="020B0704020202020204" pitchFamily="34" charset="-120"/>
              </a:rPr>
              <a:t>Seminar · Non-Destructive Testing Methods</a:t>
            </a:r>
            <a:endParaRPr lang="en-US" sz="1200" dirty="0"/>
          </a:p>
        </p:txBody>
      </p:sp>
      <p:sp>
        <p:nvSpPr>
          <p:cNvPr id="7" name="Shape 4"/>
          <p:cNvSpPr/>
          <p:nvPr/>
        </p:nvSpPr>
        <p:spPr>
          <a:xfrm>
            <a:off x="4663440" y="822960"/>
            <a:ext cx="640080" cy="640080"/>
          </a:xfrm>
          <a:prstGeom prst="ellipse">
            <a:avLst/>
          </a:prstGeom>
          <a:solidFill>
            <a:srgbClr val="0B4A9E"/>
          </a:solidFill>
          <a:ln w="12700">
            <a:solidFill>
              <a:srgbClr val="0B4A9E"/>
            </a:solidFill>
            <a:prstDash val="solid"/>
          </a:ln>
        </p:spPr>
      </p:sp>
      <p:sp>
        <p:nvSpPr>
          <p:cNvPr id="8" name="Text 5"/>
          <p:cNvSpPr txBox="1"/>
          <p:nvPr/>
        </p:nvSpPr>
        <p:spPr>
          <a:xfrm>
            <a:off x="4663440" y="822960"/>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704020202020204" pitchFamily="34" charset="0"/>
                <a:ea typeface="Arial" panose="020B0704020202020204" pitchFamily="34" charset="-122"/>
                <a:cs typeface="Arial" panose="020B0704020202020204" pitchFamily="34" charset="-120"/>
              </a:rPr>
              <a:t>1</a:t>
            </a:r>
            <a:endParaRPr lang="en-US" sz="2200" dirty="0"/>
          </a:p>
        </p:txBody>
      </p:sp>
      <p:sp>
        <p:nvSpPr>
          <p:cNvPr id="9" name="Text 6"/>
          <p:cNvSpPr txBox="1"/>
          <p:nvPr/>
        </p:nvSpPr>
        <p:spPr>
          <a:xfrm>
            <a:off x="5577840" y="777240"/>
            <a:ext cx="6035040" cy="411480"/>
          </a:xfrm>
          <a:prstGeom prst="rect">
            <a:avLst/>
          </a:prstGeom>
          <a:noFill/>
        </p:spPr>
        <p:txBody>
          <a:bodyPr wrap="square" lIns="0" tIns="0" rIns="0" bIns="0" rtlCol="0" anchor="t"/>
          <a:lstStyle/>
          <a:p>
            <a:pPr marL="0" indent="0">
              <a:buNone/>
            </a:pPr>
            <a:r>
              <a:rPr lang="en-US" sz="2200" b="1" dirty="0">
                <a:solidFill>
                  <a:srgbClr val="1B1B1D"/>
                </a:solidFill>
                <a:latin typeface="Arial" panose="020B0704020202020204" pitchFamily="34" charset="0"/>
                <a:ea typeface="Arial" panose="020B0704020202020204" pitchFamily="34" charset="-122"/>
                <a:cs typeface="Arial" panose="020B0704020202020204" pitchFamily="34" charset="-120"/>
              </a:rPr>
              <a:t>Introduction</a:t>
            </a:r>
            <a:endParaRPr lang="en-US" sz="2200" dirty="0"/>
          </a:p>
        </p:txBody>
      </p:sp>
      <p:sp>
        <p:nvSpPr>
          <p:cNvPr id="10" name="Text 7"/>
          <p:cNvSpPr txBox="1"/>
          <p:nvPr/>
        </p:nvSpPr>
        <p:spPr>
          <a:xfrm>
            <a:off x="5577840" y="1234440"/>
            <a:ext cx="6035040" cy="365760"/>
          </a:xfrm>
          <a:prstGeom prst="rect">
            <a:avLst/>
          </a:prstGeom>
          <a:noFill/>
        </p:spPr>
        <p:txBody>
          <a:bodyPr wrap="square" lIns="0" tIns="0" rIns="0" bIns="0" rtlCol="0" anchor="t"/>
          <a:lstStyle/>
          <a:p>
            <a:pPr marL="0" indent="0">
              <a:buNone/>
            </a:pPr>
            <a:r>
              <a:rPr lang="en-US" sz="1400" dirty="0">
                <a:solidFill>
                  <a:srgbClr val="5F6368"/>
                </a:solidFill>
                <a:latin typeface="Arial" panose="020B0704020202020204" pitchFamily="34" charset="0"/>
                <a:ea typeface="Arial" panose="020B0704020202020204" pitchFamily="34" charset="-122"/>
                <a:cs typeface="Arial" panose="020B0704020202020204" pitchFamily="34" charset="-120"/>
              </a:rPr>
              <a:t>Problem, objectives and approach</a:t>
            </a:r>
            <a:endParaRPr lang="en-US" sz="1400" dirty="0"/>
          </a:p>
        </p:txBody>
      </p:sp>
      <p:sp>
        <p:nvSpPr>
          <p:cNvPr id="11" name="Shape 8"/>
          <p:cNvSpPr/>
          <p:nvPr/>
        </p:nvSpPr>
        <p:spPr>
          <a:xfrm>
            <a:off x="4663440" y="1938528"/>
            <a:ext cx="640080" cy="640080"/>
          </a:xfrm>
          <a:prstGeom prst="ellipse">
            <a:avLst/>
          </a:prstGeom>
          <a:solidFill>
            <a:srgbClr val="0B4A9E"/>
          </a:solidFill>
          <a:ln w="12700">
            <a:solidFill>
              <a:srgbClr val="0B4A9E"/>
            </a:solidFill>
            <a:prstDash val="solid"/>
          </a:ln>
        </p:spPr>
      </p:sp>
      <p:sp>
        <p:nvSpPr>
          <p:cNvPr id="12" name="Text 9"/>
          <p:cNvSpPr txBox="1"/>
          <p:nvPr/>
        </p:nvSpPr>
        <p:spPr>
          <a:xfrm>
            <a:off x="4663440" y="1938528"/>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704020202020204" pitchFamily="34" charset="0"/>
                <a:ea typeface="Arial" panose="020B0704020202020204" pitchFamily="34" charset="-122"/>
                <a:cs typeface="Arial" panose="020B0704020202020204" pitchFamily="34" charset="-120"/>
              </a:rPr>
              <a:t>2</a:t>
            </a:r>
            <a:endParaRPr lang="en-US" sz="2200" dirty="0"/>
          </a:p>
        </p:txBody>
      </p:sp>
      <p:sp>
        <p:nvSpPr>
          <p:cNvPr id="13" name="Text 10"/>
          <p:cNvSpPr txBox="1"/>
          <p:nvPr/>
        </p:nvSpPr>
        <p:spPr>
          <a:xfrm>
            <a:off x="5577840" y="1892808"/>
            <a:ext cx="6035040" cy="411480"/>
          </a:xfrm>
          <a:prstGeom prst="rect">
            <a:avLst/>
          </a:prstGeom>
          <a:noFill/>
        </p:spPr>
        <p:txBody>
          <a:bodyPr wrap="square" lIns="0" tIns="0" rIns="0" bIns="0" rtlCol="0" anchor="t"/>
          <a:lstStyle/>
          <a:p>
            <a:pPr marL="0" indent="0">
              <a:buNone/>
            </a:pPr>
            <a:r>
              <a:rPr lang="en-US" sz="2200" b="1" dirty="0">
                <a:solidFill>
                  <a:srgbClr val="1B1B1D"/>
                </a:solidFill>
                <a:latin typeface="Arial" panose="020B0704020202020204" pitchFamily="34" charset="0"/>
                <a:ea typeface="Arial" panose="020B0704020202020204" pitchFamily="34" charset="-122"/>
                <a:cs typeface="Arial" panose="020B0704020202020204" pitchFamily="34" charset="-120"/>
              </a:rPr>
              <a:t>Overview</a:t>
            </a:r>
            <a:endParaRPr lang="en-US" sz="2200" dirty="0"/>
          </a:p>
        </p:txBody>
      </p:sp>
      <p:sp>
        <p:nvSpPr>
          <p:cNvPr id="14" name="Text 11"/>
          <p:cNvSpPr txBox="1"/>
          <p:nvPr/>
        </p:nvSpPr>
        <p:spPr>
          <a:xfrm>
            <a:off x="5577840" y="2350008"/>
            <a:ext cx="6035040" cy="365760"/>
          </a:xfrm>
          <a:prstGeom prst="rect">
            <a:avLst/>
          </a:prstGeom>
          <a:noFill/>
        </p:spPr>
        <p:txBody>
          <a:bodyPr wrap="square" lIns="0" tIns="0" rIns="0" bIns="0" rtlCol="0" anchor="t"/>
          <a:lstStyle/>
          <a:p>
            <a:pPr marL="0" indent="0">
              <a:buNone/>
            </a:pPr>
            <a:r>
              <a:rPr lang="en-US" sz="1400" dirty="0">
                <a:solidFill>
                  <a:srgbClr val="5F6368"/>
                </a:solidFill>
                <a:latin typeface="Arial" panose="020B0704020202020204" pitchFamily="34" charset="0"/>
                <a:ea typeface="Arial" panose="020B0704020202020204" pitchFamily="34" charset="-122"/>
                <a:cs typeface="Arial" panose="020B0704020202020204" pitchFamily="34" charset="-120"/>
              </a:rPr>
              <a:t>Previous work abroad and in Vietnam · NDT methods for buried utilities</a:t>
            </a:r>
            <a:endParaRPr lang="en-US" sz="1400" dirty="0"/>
          </a:p>
        </p:txBody>
      </p:sp>
      <p:sp>
        <p:nvSpPr>
          <p:cNvPr id="15" name="Shape 12"/>
          <p:cNvSpPr/>
          <p:nvPr/>
        </p:nvSpPr>
        <p:spPr>
          <a:xfrm>
            <a:off x="4663440" y="3054096"/>
            <a:ext cx="640080" cy="640080"/>
          </a:xfrm>
          <a:prstGeom prst="ellipse">
            <a:avLst/>
          </a:prstGeom>
          <a:solidFill>
            <a:srgbClr val="0B4A9E"/>
          </a:solidFill>
          <a:ln w="12700">
            <a:solidFill>
              <a:srgbClr val="0B4A9E"/>
            </a:solidFill>
            <a:prstDash val="solid"/>
          </a:ln>
        </p:spPr>
      </p:sp>
      <p:sp>
        <p:nvSpPr>
          <p:cNvPr id="16" name="Text 13"/>
          <p:cNvSpPr txBox="1"/>
          <p:nvPr/>
        </p:nvSpPr>
        <p:spPr>
          <a:xfrm>
            <a:off x="4663440" y="3054096"/>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704020202020204" pitchFamily="34" charset="0"/>
                <a:ea typeface="Arial" panose="020B0704020202020204" pitchFamily="34" charset="-122"/>
                <a:cs typeface="Arial" panose="020B0704020202020204" pitchFamily="34" charset="-120"/>
              </a:rPr>
              <a:t>3</a:t>
            </a:r>
            <a:endParaRPr lang="en-US" sz="2200" dirty="0"/>
          </a:p>
        </p:txBody>
      </p:sp>
      <p:sp>
        <p:nvSpPr>
          <p:cNvPr id="17" name="Text 14"/>
          <p:cNvSpPr txBox="1"/>
          <p:nvPr/>
        </p:nvSpPr>
        <p:spPr>
          <a:xfrm>
            <a:off x="5577840" y="3008376"/>
            <a:ext cx="6035040" cy="411480"/>
          </a:xfrm>
          <a:prstGeom prst="rect">
            <a:avLst/>
          </a:prstGeom>
          <a:noFill/>
        </p:spPr>
        <p:txBody>
          <a:bodyPr wrap="square" lIns="0" tIns="0" rIns="0" bIns="0" rtlCol="0" anchor="t"/>
          <a:lstStyle/>
          <a:p>
            <a:pPr marL="0" indent="0">
              <a:buNone/>
            </a:pPr>
            <a:r>
              <a:rPr lang="en-US" sz="2200" b="1" dirty="0">
                <a:solidFill>
                  <a:srgbClr val="1B1B1D"/>
                </a:solidFill>
                <a:latin typeface="Arial" panose="020B0704020202020204" pitchFamily="34" charset="0"/>
                <a:ea typeface="Arial" panose="020B0704020202020204" pitchFamily="34" charset="-122"/>
                <a:cs typeface="Arial" panose="020B0704020202020204" pitchFamily="34" charset="-120"/>
              </a:rPr>
              <a:t>Methods</a:t>
            </a:r>
            <a:endParaRPr lang="en-US" sz="2200" dirty="0"/>
          </a:p>
        </p:txBody>
      </p:sp>
      <p:sp>
        <p:nvSpPr>
          <p:cNvPr id="18" name="Text 15"/>
          <p:cNvSpPr txBox="1"/>
          <p:nvPr/>
        </p:nvSpPr>
        <p:spPr>
          <a:xfrm>
            <a:off x="5577840" y="3465576"/>
            <a:ext cx="6035040" cy="365760"/>
          </a:xfrm>
          <a:prstGeom prst="rect">
            <a:avLst/>
          </a:prstGeom>
          <a:noFill/>
        </p:spPr>
        <p:txBody>
          <a:bodyPr wrap="square" lIns="0" tIns="0" rIns="0" bIns="0" rtlCol="0" anchor="t"/>
          <a:lstStyle/>
          <a:p>
            <a:pPr marL="0" indent="0">
              <a:buNone/>
            </a:pPr>
            <a:r>
              <a:rPr lang="en-US" sz="1400" dirty="0">
                <a:solidFill>
                  <a:srgbClr val="5F6368"/>
                </a:solidFill>
                <a:latin typeface="Arial" panose="020B0704020202020204" pitchFamily="34" charset="0"/>
                <a:ea typeface="Arial" panose="020B0704020202020204" pitchFamily="34" charset="-122"/>
                <a:cs typeface="Arial" panose="020B0704020202020204" pitchFamily="34" charset="-120"/>
              </a:rPr>
              <a:t>GPR and electromagnetic-induction principles · field survey · data processing</a:t>
            </a:r>
            <a:endParaRPr lang="en-US" sz="1400" dirty="0"/>
          </a:p>
        </p:txBody>
      </p:sp>
      <p:sp>
        <p:nvSpPr>
          <p:cNvPr id="19" name="Shape 16"/>
          <p:cNvSpPr/>
          <p:nvPr/>
        </p:nvSpPr>
        <p:spPr>
          <a:xfrm>
            <a:off x="4663440" y="4169664"/>
            <a:ext cx="640080" cy="640080"/>
          </a:xfrm>
          <a:prstGeom prst="ellipse">
            <a:avLst/>
          </a:prstGeom>
          <a:solidFill>
            <a:srgbClr val="0B4A9E"/>
          </a:solidFill>
          <a:ln w="12700">
            <a:solidFill>
              <a:srgbClr val="0B4A9E"/>
            </a:solidFill>
            <a:prstDash val="solid"/>
          </a:ln>
        </p:spPr>
      </p:sp>
      <p:sp>
        <p:nvSpPr>
          <p:cNvPr id="20" name="Text 17"/>
          <p:cNvSpPr txBox="1"/>
          <p:nvPr/>
        </p:nvSpPr>
        <p:spPr>
          <a:xfrm>
            <a:off x="4663440" y="4169664"/>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704020202020204" pitchFamily="34" charset="0"/>
                <a:ea typeface="Arial" panose="020B0704020202020204" pitchFamily="34" charset="-122"/>
                <a:cs typeface="Arial" panose="020B0704020202020204" pitchFamily="34" charset="-120"/>
              </a:rPr>
              <a:t>4</a:t>
            </a:r>
            <a:endParaRPr lang="en-US" sz="2200" dirty="0"/>
          </a:p>
        </p:txBody>
      </p:sp>
      <p:sp>
        <p:nvSpPr>
          <p:cNvPr id="21" name="Text 18"/>
          <p:cNvSpPr txBox="1"/>
          <p:nvPr/>
        </p:nvSpPr>
        <p:spPr>
          <a:xfrm>
            <a:off x="5577840" y="4123944"/>
            <a:ext cx="6035040" cy="411480"/>
          </a:xfrm>
          <a:prstGeom prst="rect">
            <a:avLst/>
          </a:prstGeom>
          <a:noFill/>
        </p:spPr>
        <p:txBody>
          <a:bodyPr wrap="square" lIns="0" tIns="0" rIns="0" bIns="0" rtlCol="0" anchor="t"/>
          <a:lstStyle/>
          <a:p>
            <a:pPr marL="0" indent="0">
              <a:buNone/>
            </a:pPr>
            <a:r>
              <a:rPr lang="en-US" sz="2200" b="1" dirty="0">
                <a:solidFill>
                  <a:srgbClr val="1B1B1D"/>
                </a:solidFill>
                <a:latin typeface="Arial" panose="020B0704020202020204" pitchFamily="34" charset="0"/>
                <a:ea typeface="Arial" panose="020B0704020202020204" pitchFamily="34" charset="-122"/>
                <a:cs typeface="Arial" panose="020B0704020202020204" pitchFamily="34" charset="-120"/>
              </a:rPr>
              <a:t>Results</a:t>
            </a:r>
            <a:endParaRPr lang="en-US" sz="2200" dirty="0"/>
          </a:p>
        </p:txBody>
      </p:sp>
      <p:sp>
        <p:nvSpPr>
          <p:cNvPr id="22" name="Text 19"/>
          <p:cNvSpPr txBox="1"/>
          <p:nvPr/>
        </p:nvSpPr>
        <p:spPr>
          <a:xfrm>
            <a:off x="5577840" y="4581144"/>
            <a:ext cx="6035040" cy="365760"/>
          </a:xfrm>
          <a:prstGeom prst="rect">
            <a:avLst/>
          </a:prstGeom>
          <a:noFill/>
        </p:spPr>
        <p:txBody>
          <a:bodyPr wrap="square" lIns="0" tIns="0" rIns="0" bIns="0" rtlCol="0" anchor="t"/>
          <a:lstStyle/>
          <a:p>
            <a:pPr marL="0" indent="0">
              <a:buNone/>
            </a:pPr>
            <a:r>
              <a:rPr lang="en-US" sz="1400" dirty="0">
                <a:solidFill>
                  <a:srgbClr val="5F6368"/>
                </a:solidFill>
                <a:latin typeface="Arial" panose="020B0704020202020204" pitchFamily="34" charset="0"/>
                <a:ea typeface="Arial" panose="020B0704020202020204" pitchFamily="34" charset="-122"/>
                <a:cs typeface="Arial" panose="020B0704020202020204" pitchFamily="34" charset="-120"/>
              </a:rPr>
              <a:t>Model · cable and pipe sections · utility map and evaluation</a:t>
            </a:r>
            <a:endParaRPr lang="en-US" sz="1400" dirty="0"/>
          </a:p>
        </p:txBody>
      </p:sp>
      <p:sp>
        <p:nvSpPr>
          <p:cNvPr id="23" name="Shape 20"/>
          <p:cNvSpPr/>
          <p:nvPr/>
        </p:nvSpPr>
        <p:spPr>
          <a:xfrm>
            <a:off x="4663440" y="5285232"/>
            <a:ext cx="640080" cy="640080"/>
          </a:xfrm>
          <a:prstGeom prst="ellipse">
            <a:avLst/>
          </a:prstGeom>
          <a:solidFill>
            <a:srgbClr val="0B4A9E"/>
          </a:solidFill>
          <a:ln w="12700">
            <a:solidFill>
              <a:srgbClr val="0B4A9E"/>
            </a:solidFill>
            <a:prstDash val="solid"/>
          </a:ln>
        </p:spPr>
      </p:sp>
      <p:sp>
        <p:nvSpPr>
          <p:cNvPr id="24" name="Text 21"/>
          <p:cNvSpPr txBox="1"/>
          <p:nvPr/>
        </p:nvSpPr>
        <p:spPr>
          <a:xfrm>
            <a:off x="4663440" y="5285232"/>
            <a:ext cx="640080" cy="640080"/>
          </a:xfrm>
          <a:prstGeom prst="rect">
            <a:avLst/>
          </a:prstGeom>
          <a:noFill/>
        </p:spPr>
        <p:txBody>
          <a:bodyPr wrap="square" lIns="0" tIns="0" rIns="0" bIns="0" rtlCol="0" anchor="ctr"/>
          <a:lstStyle/>
          <a:p>
            <a:pPr marL="0" indent="0" algn="ctr">
              <a:buNone/>
            </a:pPr>
            <a:r>
              <a:rPr lang="en-US" sz="2200" b="1" dirty="0">
                <a:solidFill>
                  <a:srgbClr val="FFFFFF"/>
                </a:solidFill>
                <a:latin typeface="Arial" panose="020B0704020202020204" pitchFamily="34" charset="0"/>
                <a:ea typeface="Arial" panose="020B0704020202020204" pitchFamily="34" charset="-122"/>
                <a:cs typeface="Arial" panose="020B0704020202020204" pitchFamily="34" charset="-120"/>
              </a:rPr>
              <a:t>5</a:t>
            </a:r>
            <a:endParaRPr lang="en-US" sz="2200" dirty="0"/>
          </a:p>
        </p:txBody>
      </p:sp>
      <p:sp>
        <p:nvSpPr>
          <p:cNvPr id="25" name="Text 22"/>
          <p:cNvSpPr txBox="1"/>
          <p:nvPr/>
        </p:nvSpPr>
        <p:spPr>
          <a:xfrm>
            <a:off x="5577840" y="5239512"/>
            <a:ext cx="6035040" cy="411480"/>
          </a:xfrm>
          <a:prstGeom prst="rect">
            <a:avLst/>
          </a:prstGeom>
          <a:noFill/>
        </p:spPr>
        <p:txBody>
          <a:bodyPr wrap="square" lIns="0" tIns="0" rIns="0" bIns="0" rtlCol="0" anchor="t"/>
          <a:lstStyle/>
          <a:p>
            <a:pPr marL="0" indent="0">
              <a:buNone/>
            </a:pPr>
            <a:r>
              <a:rPr lang="en-US" sz="2200" b="1" dirty="0">
                <a:solidFill>
                  <a:srgbClr val="1B1B1D"/>
                </a:solidFill>
                <a:latin typeface="Arial" panose="020B0704020202020204" pitchFamily="34" charset="0"/>
                <a:ea typeface="Arial" panose="020B0704020202020204" pitchFamily="34" charset="-122"/>
                <a:cs typeface="Arial" panose="020B0704020202020204" pitchFamily="34" charset="-120"/>
              </a:rPr>
              <a:t>Conclusions</a:t>
            </a:r>
            <a:endParaRPr lang="en-US" sz="2200" dirty="0"/>
          </a:p>
        </p:txBody>
      </p:sp>
      <p:sp>
        <p:nvSpPr>
          <p:cNvPr id="26" name="Text 23"/>
          <p:cNvSpPr txBox="1"/>
          <p:nvPr/>
        </p:nvSpPr>
        <p:spPr>
          <a:xfrm>
            <a:off x="5577840" y="5696712"/>
            <a:ext cx="6035040" cy="365760"/>
          </a:xfrm>
          <a:prstGeom prst="rect">
            <a:avLst/>
          </a:prstGeom>
          <a:noFill/>
        </p:spPr>
        <p:txBody>
          <a:bodyPr wrap="square" lIns="0" tIns="0" rIns="0" bIns="0" rtlCol="0" anchor="t"/>
          <a:lstStyle/>
          <a:p>
            <a:pPr marL="0" indent="0">
              <a:buNone/>
            </a:pPr>
            <a:r>
              <a:rPr lang="en-US" sz="1400" dirty="0">
                <a:solidFill>
                  <a:srgbClr val="5F6368"/>
                </a:solidFill>
                <a:latin typeface="Arial" panose="020B0704020202020204" pitchFamily="34" charset="0"/>
                <a:ea typeface="Arial" panose="020B0704020202020204" pitchFamily="34" charset="-122"/>
                <a:cs typeface="Arial" panose="020B0704020202020204" pitchFamily="34" charset="-120"/>
              </a:rPr>
              <a:t>Conclusions, limitations and recommendations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1  Introduction: problem, objectives and approach</a:t>
            </a:r>
            <a:endParaRPr lang="en-US" sz="2600" dirty="0"/>
          </a:p>
        </p:txBody>
      </p:sp>
      <p:pic>
        <p:nvPicPr>
          <p:cNvPr id="4" name="Image 0" descr="The paved courtyard behind Building I, HCMUS Nguyen Van Cu campus, where the survey was made"/>
          <p:cNvPicPr>
            <a:picLocks noChangeAspect="1"/>
          </p:cNvPicPr>
          <p:nvPr/>
        </p:nvPicPr>
        <p:blipFill>
          <a:blip r:embed="rId1"/>
          <a:srcRect/>
          <a:stretch>
            <a:fillRect/>
          </a:stretch>
        </p:blipFill>
        <p:spPr>
          <a:xfrm>
            <a:off x="548640" y="1325880"/>
            <a:ext cx="3383280" cy="4343400"/>
          </a:xfrm>
          <a:prstGeom prst="rect">
            <a:avLst/>
          </a:prstGeom>
        </p:spPr>
      </p:pic>
      <p:sp>
        <p:nvSpPr>
          <p:cNvPr id="5" name="Text 2"/>
          <p:cNvSpPr txBox="1"/>
          <p:nvPr/>
        </p:nvSpPr>
        <p:spPr>
          <a:xfrm>
            <a:off x="548640" y="5742432"/>
            <a:ext cx="3383280" cy="274320"/>
          </a:xfrm>
          <a:prstGeom prst="rect">
            <a:avLst/>
          </a:prstGeom>
          <a:noFill/>
        </p:spPr>
        <p:txBody>
          <a:bodyPr wrap="square" lIns="0" tIns="0" rIns="0" bIns="0" rtlCol="0" anchor="t"/>
          <a:lstStyle/>
          <a:p>
            <a:pPr marL="0" indent="0">
              <a:buNone/>
            </a:pPr>
            <a:r>
              <a:rPr lang="en-US" sz="1100" i="1" dirty="0">
                <a:solidFill>
                  <a:srgbClr val="5F6368"/>
                </a:solidFill>
                <a:latin typeface="Arial" panose="020B0704020202020204" pitchFamily="34" charset="0"/>
                <a:ea typeface="Arial" panose="020B0704020202020204" pitchFamily="34" charset="-122"/>
                <a:cs typeface="Arial" panose="020B0704020202020204" pitchFamily="34" charset="-120"/>
              </a:rPr>
              <a:t>Survey site: courtyard behind Building I, HCMUS</a:t>
            </a:r>
            <a:endParaRPr lang="en-US" sz="1100" dirty="0"/>
          </a:p>
        </p:txBody>
      </p:sp>
      <p:sp>
        <p:nvSpPr>
          <p:cNvPr id="6" name="Shape 3"/>
          <p:cNvSpPr/>
          <p:nvPr/>
        </p:nvSpPr>
        <p:spPr>
          <a:xfrm>
            <a:off x="4297680" y="1325880"/>
            <a:ext cx="3584448" cy="2286000"/>
          </a:xfrm>
          <a:prstGeom prst="roundRect">
            <a:avLst>
              <a:gd name="adj" fmla="val 3200"/>
            </a:avLst>
          </a:prstGeom>
          <a:solidFill>
            <a:srgbClr val="EEF3FA"/>
          </a:solidFill>
          <a:ln w="12700">
            <a:solidFill>
              <a:srgbClr val="EEF3FA"/>
            </a:solidFill>
            <a:prstDash val="solid"/>
          </a:ln>
        </p:spPr>
      </p:sp>
      <p:sp>
        <p:nvSpPr>
          <p:cNvPr id="7" name="Text 4"/>
          <p:cNvSpPr txBox="1"/>
          <p:nvPr/>
        </p:nvSpPr>
        <p:spPr>
          <a:xfrm>
            <a:off x="4526280" y="1508760"/>
            <a:ext cx="3127248"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Problem</a:t>
            </a:r>
            <a:endParaRPr lang="en-US" sz="1800" dirty="0"/>
          </a:p>
        </p:txBody>
      </p:sp>
      <p:sp>
        <p:nvSpPr>
          <p:cNvPr id="8" name="Text 5"/>
          <p:cNvSpPr txBox="1"/>
          <p:nvPr/>
        </p:nvSpPr>
        <p:spPr>
          <a:xfrm>
            <a:off x="4526280" y="1965960"/>
            <a:ext cx="3127248" cy="1508760"/>
          </a:xfrm>
          <a:prstGeom prst="rect">
            <a:avLst/>
          </a:prstGeom>
          <a:noFill/>
        </p:spPr>
        <p:txBody>
          <a:bodyPr wrap="square" lIns="0" tIns="0" rIns="0" bIns="0" rtlCol="0" anchor="t"/>
          <a:lstStyle/>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Cables, pipes and trenches were buried over decades; as-built drawings are incomplete or wrong.</a:t>
            </a:r>
            <a:endParaRPr lang="en-US" sz="1400" dirty="0"/>
          </a:p>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Digging blind costs money, blocks traffic and can hit live lines.</a:t>
            </a:r>
            <a:endParaRPr lang="en-US" sz="1400" dirty="0"/>
          </a:p>
        </p:txBody>
      </p:sp>
      <p:sp>
        <p:nvSpPr>
          <p:cNvPr id="9" name="Shape 6"/>
          <p:cNvSpPr/>
          <p:nvPr/>
        </p:nvSpPr>
        <p:spPr>
          <a:xfrm>
            <a:off x="8065008" y="1325880"/>
            <a:ext cx="3584448" cy="2286000"/>
          </a:xfrm>
          <a:prstGeom prst="roundRect">
            <a:avLst>
              <a:gd name="adj" fmla="val 3200"/>
            </a:avLst>
          </a:prstGeom>
          <a:solidFill>
            <a:srgbClr val="EEF3FA"/>
          </a:solidFill>
          <a:ln w="12700">
            <a:solidFill>
              <a:srgbClr val="EEF3FA"/>
            </a:solidFill>
            <a:prstDash val="solid"/>
          </a:ln>
        </p:spPr>
      </p:sp>
      <p:sp>
        <p:nvSpPr>
          <p:cNvPr id="10" name="Text 7"/>
          <p:cNvSpPr txBox="1"/>
          <p:nvPr/>
        </p:nvSpPr>
        <p:spPr>
          <a:xfrm>
            <a:off x="8293608" y="1508760"/>
            <a:ext cx="3127248"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Objectives</a:t>
            </a:r>
            <a:endParaRPr lang="en-US" sz="1800" dirty="0"/>
          </a:p>
        </p:txBody>
      </p:sp>
      <p:sp>
        <p:nvSpPr>
          <p:cNvPr id="11" name="Text 8"/>
          <p:cNvSpPr txBox="1"/>
          <p:nvPr/>
        </p:nvSpPr>
        <p:spPr>
          <a:xfrm>
            <a:off x="8293608" y="1965960"/>
            <a:ext cx="3127248" cy="1508760"/>
          </a:xfrm>
          <a:prstGeom prst="rect">
            <a:avLst/>
          </a:prstGeom>
          <a:noFill/>
        </p:spPr>
        <p:txBody>
          <a:bodyPr wrap="square" lIns="0" tIns="0" rIns="0" bIns="0" rtlCol="0" anchor="t"/>
          <a:lstStyle/>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Locate buried cables and pipes behind Building I without digging.</a:t>
            </a:r>
            <a:endParaRPr lang="en-US" sz="1400" dirty="0"/>
          </a:p>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Estimate the depth to the top of each.</a:t>
            </a:r>
            <a:endParaRPr lang="en-US" sz="1400" dirty="0"/>
          </a:p>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Map them in plan view (2D / 3D).</a:t>
            </a:r>
            <a:endParaRPr lang="en-US" sz="1400" dirty="0"/>
          </a:p>
        </p:txBody>
      </p:sp>
      <p:sp>
        <p:nvSpPr>
          <p:cNvPr id="12" name="Shape 9"/>
          <p:cNvSpPr/>
          <p:nvPr/>
        </p:nvSpPr>
        <p:spPr>
          <a:xfrm>
            <a:off x="4297680" y="3749040"/>
            <a:ext cx="3584448" cy="2286000"/>
          </a:xfrm>
          <a:prstGeom prst="roundRect">
            <a:avLst>
              <a:gd name="adj" fmla="val 3200"/>
            </a:avLst>
          </a:prstGeom>
          <a:solidFill>
            <a:srgbClr val="EEF3FA"/>
          </a:solidFill>
          <a:ln w="12700">
            <a:solidFill>
              <a:srgbClr val="EEF3FA"/>
            </a:solidFill>
            <a:prstDash val="solid"/>
          </a:ln>
        </p:spPr>
      </p:sp>
      <p:sp>
        <p:nvSpPr>
          <p:cNvPr id="13" name="Text 10"/>
          <p:cNvSpPr txBox="1"/>
          <p:nvPr/>
        </p:nvSpPr>
        <p:spPr>
          <a:xfrm>
            <a:off x="4526280" y="3931920"/>
            <a:ext cx="3127248"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Approach</a:t>
            </a:r>
            <a:endParaRPr lang="en-US" sz="1800" dirty="0"/>
          </a:p>
        </p:txBody>
      </p:sp>
      <p:sp>
        <p:nvSpPr>
          <p:cNvPr id="14" name="Text 11"/>
          <p:cNvSpPr txBox="1"/>
          <p:nvPr/>
        </p:nvSpPr>
        <p:spPr>
          <a:xfrm>
            <a:off x="4526280" y="4389120"/>
            <a:ext cx="3127248" cy="1508760"/>
          </a:xfrm>
          <a:prstGeom prst="rect">
            <a:avLst/>
          </a:prstGeom>
          <a:noFill/>
        </p:spPr>
        <p:txBody>
          <a:bodyPr wrap="square" lIns="0" tIns="0" rIns="0" bIns="0" rtlCol="0" anchor="t"/>
          <a:lstStyle/>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GPR IDS Detector Duo, 250 + 700 MHz.</a:t>
            </a:r>
            <a:endParaRPr lang="en-US" sz="1400" dirty="0"/>
          </a:p>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Zigzag grid of 9 lines (4 C + 5 N), 10 m × 3.5 m.</a:t>
            </a:r>
            <a:endParaRPr lang="en-US" sz="1400" dirty="0"/>
          </a:p>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ReflexW processing + 2-layer velocity model.</a:t>
            </a:r>
            <a:endParaRPr lang="en-US" sz="1400" dirty="0"/>
          </a:p>
        </p:txBody>
      </p:sp>
      <p:sp>
        <p:nvSpPr>
          <p:cNvPr id="15" name="Shape 12"/>
          <p:cNvSpPr/>
          <p:nvPr/>
        </p:nvSpPr>
        <p:spPr>
          <a:xfrm>
            <a:off x="8065008" y="3749040"/>
            <a:ext cx="3584448" cy="2286000"/>
          </a:xfrm>
          <a:prstGeom prst="roundRect">
            <a:avLst>
              <a:gd name="adj" fmla="val 3200"/>
            </a:avLst>
          </a:prstGeom>
          <a:solidFill>
            <a:srgbClr val="EEF3FA"/>
          </a:solidFill>
          <a:ln w="12700">
            <a:solidFill>
              <a:srgbClr val="EEF3FA"/>
            </a:solidFill>
            <a:prstDash val="solid"/>
          </a:ln>
        </p:spPr>
      </p:sp>
      <p:sp>
        <p:nvSpPr>
          <p:cNvPr id="16" name="Text 13"/>
          <p:cNvSpPr txBox="1"/>
          <p:nvPr/>
        </p:nvSpPr>
        <p:spPr>
          <a:xfrm>
            <a:off x="8293608" y="3931920"/>
            <a:ext cx="3127248"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Expected results</a:t>
            </a:r>
            <a:endParaRPr lang="en-US" sz="1800" dirty="0"/>
          </a:p>
        </p:txBody>
      </p:sp>
      <p:sp>
        <p:nvSpPr>
          <p:cNvPr id="17" name="Text 14"/>
          <p:cNvSpPr txBox="1"/>
          <p:nvPr/>
        </p:nvSpPr>
        <p:spPr>
          <a:xfrm>
            <a:off x="8293608" y="4389120"/>
            <a:ext cx="3127248" cy="1508760"/>
          </a:xfrm>
          <a:prstGeom prst="rect">
            <a:avLst/>
          </a:prstGeom>
          <a:noFill/>
        </p:spPr>
        <p:txBody>
          <a:bodyPr wrap="square" lIns="0" tIns="0" rIns="0" bIns="0" rtlCol="0" anchor="t"/>
          <a:lstStyle/>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Each utility shows as a hyperbola on every line that crosses it.</a:t>
            </a:r>
            <a:endParaRPr lang="en-US" sz="1400" dirty="0"/>
          </a:p>
          <a:p>
            <a:pPr marL="177800" indent="-177800">
              <a:spcAft>
                <a:spcPts val="5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Apexes joined across lines give its path; apex time + velocity give its depth.</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2.1  Previous work: abroad and in Vietnam</a:t>
            </a:r>
            <a:endParaRPr lang="en-US" sz="2600" dirty="0"/>
          </a:p>
        </p:txBody>
      </p:sp>
      <p:sp>
        <p:nvSpPr>
          <p:cNvPr id="4" name="Text 2"/>
          <p:cNvSpPr txBox="1"/>
          <p:nvPr/>
        </p:nvSpPr>
        <p:spPr>
          <a:xfrm>
            <a:off x="548640" y="1325880"/>
            <a:ext cx="5394960"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International</a:t>
            </a:r>
            <a:endParaRPr lang="en-US" sz="1800" dirty="0"/>
          </a:p>
        </p:txBody>
      </p:sp>
      <p:sp>
        <p:nvSpPr>
          <p:cNvPr id="5" name="Shape 3"/>
          <p:cNvSpPr/>
          <p:nvPr/>
        </p:nvSpPr>
        <p:spPr>
          <a:xfrm>
            <a:off x="548640" y="1828800"/>
            <a:ext cx="5394960" cy="1024128"/>
          </a:xfrm>
          <a:prstGeom prst="roundRect">
            <a:avLst>
              <a:gd name="adj" fmla="val 7143"/>
            </a:avLst>
          </a:prstGeom>
          <a:solidFill>
            <a:srgbClr val="EEF3FA"/>
          </a:solidFill>
          <a:ln w="12700">
            <a:solidFill>
              <a:srgbClr val="EEF3FA"/>
            </a:solidFill>
            <a:prstDash val="solid"/>
          </a:ln>
        </p:spPr>
      </p:sp>
      <p:sp>
        <p:nvSpPr>
          <p:cNvPr id="6" name="Text 4"/>
          <p:cNvSpPr txBox="1"/>
          <p:nvPr/>
        </p:nvSpPr>
        <p:spPr>
          <a:xfrm>
            <a:off x="731520" y="1938528"/>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Lai, Dérobert &amp; Annan (2018)</a:t>
            </a:r>
            <a:endParaRPr lang="en-US" sz="1400" dirty="0"/>
          </a:p>
        </p:txBody>
      </p:sp>
      <p:sp>
        <p:nvSpPr>
          <p:cNvPr id="7" name="Text 5"/>
          <p:cNvSpPr txBox="1"/>
          <p:nvPr/>
        </p:nvSpPr>
        <p:spPr>
          <a:xfrm>
            <a:off x="731520" y="2240280"/>
            <a:ext cx="502920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30 years of GPR in civil engineering: from locating and testing to imaging and diagnosis.</a:t>
            </a:r>
            <a:endParaRPr lang="en-US" sz="1300" dirty="0"/>
          </a:p>
        </p:txBody>
      </p:sp>
      <p:sp>
        <p:nvSpPr>
          <p:cNvPr id="8" name="Shape 6"/>
          <p:cNvSpPr/>
          <p:nvPr/>
        </p:nvSpPr>
        <p:spPr>
          <a:xfrm>
            <a:off x="548640" y="2962656"/>
            <a:ext cx="5394960" cy="1024128"/>
          </a:xfrm>
          <a:prstGeom prst="roundRect">
            <a:avLst>
              <a:gd name="adj" fmla="val 7143"/>
            </a:avLst>
          </a:prstGeom>
          <a:solidFill>
            <a:srgbClr val="EEF3FA"/>
          </a:solidFill>
          <a:ln w="12700">
            <a:solidFill>
              <a:srgbClr val="EEF3FA"/>
            </a:solidFill>
            <a:prstDash val="solid"/>
          </a:ln>
        </p:spPr>
      </p:sp>
      <p:sp>
        <p:nvSpPr>
          <p:cNvPr id="9" name="Text 7"/>
          <p:cNvSpPr txBox="1"/>
          <p:nvPr/>
        </p:nvSpPr>
        <p:spPr>
          <a:xfrm>
            <a:off x="731520" y="3072384"/>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Xiang et al. (2019) · Hong et al. (2018)</a:t>
            </a:r>
            <a:endParaRPr lang="en-US" sz="1400" dirty="0"/>
          </a:p>
        </p:txBody>
      </p:sp>
      <p:sp>
        <p:nvSpPr>
          <p:cNvPr id="10" name="Text 8"/>
          <p:cNvSpPr txBox="1"/>
          <p:nvPr/>
        </p:nvSpPr>
        <p:spPr>
          <a:xfrm>
            <a:off x="731520" y="3374136"/>
            <a:ext cx="502920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Depth error from mm to cm, ~10 % of depth; 400 MHz + measured permittivity matched pipes ~1 m deep to the utility map.</a:t>
            </a:r>
            <a:endParaRPr lang="en-US" sz="1300" dirty="0"/>
          </a:p>
        </p:txBody>
      </p:sp>
      <p:sp>
        <p:nvSpPr>
          <p:cNvPr id="11" name="Shape 9"/>
          <p:cNvSpPr/>
          <p:nvPr/>
        </p:nvSpPr>
        <p:spPr>
          <a:xfrm>
            <a:off x="548640" y="4096512"/>
            <a:ext cx="5394960" cy="1024128"/>
          </a:xfrm>
          <a:prstGeom prst="roundRect">
            <a:avLst>
              <a:gd name="adj" fmla="val 7143"/>
            </a:avLst>
          </a:prstGeom>
          <a:solidFill>
            <a:srgbClr val="EEF3FA"/>
          </a:solidFill>
          <a:ln w="12700">
            <a:solidFill>
              <a:srgbClr val="EEF3FA"/>
            </a:solidFill>
            <a:prstDash val="solid"/>
          </a:ln>
        </p:spPr>
      </p:sp>
      <p:sp>
        <p:nvSpPr>
          <p:cNvPr id="12" name="Text 10"/>
          <p:cNvSpPr txBox="1"/>
          <p:nvPr/>
        </p:nvSpPr>
        <p:spPr>
          <a:xfrm>
            <a:off x="731520" y="4206240"/>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Thitimakorn et al. (2016) · Bangkok</a:t>
            </a:r>
            <a:endParaRPr lang="en-US" sz="1400" dirty="0"/>
          </a:p>
        </p:txBody>
      </p:sp>
      <p:sp>
        <p:nvSpPr>
          <p:cNvPr id="13" name="Text 11"/>
          <p:cNvSpPr txBox="1"/>
          <p:nvPr/>
        </p:nvSpPr>
        <p:spPr>
          <a:xfrm>
            <a:off x="731520" y="4507992"/>
            <a:ext cx="502920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Voids under city roads found in soft clay, a ground similar to Ho Chi Minh City.</a:t>
            </a:r>
            <a:endParaRPr lang="en-US" sz="1300" dirty="0"/>
          </a:p>
        </p:txBody>
      </p:sp>
      <p:sp>
        <p:nvSpPr>
          <p:cNvPr id="14" name="Text 12"/>
          <p:cNvSpPr txBox="1"/>
          <p:nvPr/>
        </p:nvSpPr>
        <p:spPr>
          <a:xfrm>
            <a:off x="6217920" y="1325880"/>
            <a:ext cx="5394960"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Vietnam</a:t>
            </a:r>
            <a:endParaRPr lang="en-US" sz="1800" dirty="0"/>
          </a:p>
        </p:txBody>
      </p:sp>
      <p:sp>
        <p:nvSpPr>
          <p:cNvPr id="15" name="Shape 13"/>
          <p:cNvSpPr/>
          <p:nvPr/>
        </p:nvSpPr>
        <p:spPr>
          <a:xfrm>
            <a:off x="6217920" y="1828800"/>
            <a:ext cx="5394960" cy="1024128"/>
          </a:xfrm>
          <a:prstGeom prst="roundRect">
            <a:avLst>
              <a:gd name="adj" fmla="val 7143"/>
            </a:avLst>
          </a:prstGeom>
          <a:solidFill>
            <a:srgbClr val="EEF3FA"/>
          </a:solidFill>
          <a:ln w="12700">
            <a:solidFill>
              <a:srgbClr val="EEF3FA"/>
            </a:solidFill>
            <a:prstDash val="solid"/>
          </a:ln>
        </p:spPr>
      </p:sp>
      <p:sp>
        <p:nvSpPr>
          <p:cNvPr id="16" name="Text 14"/>
          <p:cNvSpPr txBox="1"/>
          <p:nvPr/>
        </p:nvSpPr>
        <p:spPr>
          <a:xfrm>
            <a:off x="6400800" y="1938528"/>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Trần Viết Tuấn (2011, 2012) · RAMAC/X3M</a:t>
            </a:r>
            <a:endParaRPr lang="en-US" sz="1400" dirty="0"/>
          </a:p>
        </p:txBody>
      </p:sp>
      <p:sp>
        <p:nvSpPr>
          <p:cNvPr id="17" name="Text 15"/>
          <p:cNvSpPr txBox="1"/>
          <p:nvPr/>
        </p:nvSpPr>
        <p:spPr>
          <a:xfrm>
            <a:off x="6400800" y="2240280"/>
            <a:ext cx="502920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Urban utility mapping: position error ≈ ±6.2 cm, depth error ≈ ±10 cm.</a:t>
            </a:r>
            <a:endParaRPr lang="en-US" sz="1300" dirty="0"/>
          </a:p>
        </p:txBody>
      </p:sp>
      <p:sp>
        <p:nvSpPr>
          <p:cNvPr id="18" name="Shape 16"/>
          <p:cNvSpPr/>
          <p:nvPr/>
        </p:nvSpPr>
        <p:spPr>
          <a:xfrm>
            <a:off x="6217920" y="2962656"/>
            <a:ext cx="5394960" cy="1024128"/>
          </a:xfrm>
          <a:prstGeom prst="roundRect">
            <a:avLst>
              <a:gd name="adj" fmla="val 7143"/>
            </a:avLst>
          </a:prstGeom>
          <a:solidFill>
            <a:srgbClr val="EEF3FA"/>
          </a:solidFill>
          <a:ln w="12700">
            <a:solidFill>
              <a:srgbClr val="EEF3FA"/>
            </a:solidFill>
            <a:prstDash val="solid"/>
          </a:ln>
        </p:spPr>
      </p:sp>
      <p:sp>
        <p:nvSpPr>
          <p:cNvPr id="19" name="Text 17"/>
          <p:cNvSpPr txBox="1"/>
          <p:nvPr/>
        </p:nvSpPr>
        <p:spPr>
          <a:xfrm>
            <a:off x="6400800" y="3072384"/>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Nguyễn Phi Sơn et al. (2024)</a:t>
            </a:r>
            <a:endParaRPr lang="en-US" sz="1400" dirty="0"/>
          </a:p>
        </p:txBody>
      </p:sp>
      <p:sp>
        <p:nvSpPr>
          <p:cNvPr id="20" name="Text 18"/>
          <p:cNvSpPr txBox="1"/>
          <p:nvPr/>
        </p:nvSpPr>
        <p:spPr>
          <a:xfrm>
            <a:off x="6400800" y="3374136"/>
            <a:ext cx="502920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Base standard for shallow scanning (to 6 m) with four location-quality levels, QLB1–QLB4.</a:t>
            </a:r>
            <a:endParaRPr lang="en-US" sz="1300" dirty="0"/>
          </a:p>
        </p:txBody>
      </p:sp>
      <p:sp>
        <p:nvSpPr>
          <p:cNvPr id="21" name="Shape 19"/>
          <p:cNvSpPr/>
          <p:nvPr/>
        </p:nvSpPr>
        <p:spPr>
          <a:xfrm>
            <a:off x="6217920" y="4096512"/>
            <a:ext cx="5394960" cy="1024128"/>
          </a:xfrm>
          <a:prstGeom prst="roundRect">
            <a:avLst>
              <a:gd name="adj" fmla="val 7143"/>
            </a:avLst>
          </a:prstGeom>
          <a:solidFill>
            <a:srgbClr val="EEF3FA"/>
          </a:solidFill>
          <a:ln w="12700">
            <a:solidFill>
              <a:srgbClr val="EEF3FA"/>
            </a:solidFill>
            <a:prstDash val="solid"/>
          </a:ln>
        </p:spPr>
      </p:sp>
      <p:sp>
        <p:nvSpPr>
          <p:cNvPr id="22" name="Text 20"/>
          <p:cNvSpPr txBox="1"/>
          <p:nvPr/>
        </p:nvSpPr>
        <p:spPr>
          <a:xfrm>
            <a:off x="6400800" y="4206240"/>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HCMUS Geophysics group · Vấn, Thuận, Cường, Trung</a:t>
            </a:r>
            <a:endParaRPr lang="en-US" sz="1400" dirty="0"/>
          </a:p>
        </p:txBody>
      </p:sp>
      <p:sp>
        <p:nvSpPr>
          <p:cNvPr id="23" name="Text 21"/>
          <p:cNvSpPr txBox="1"/>
          <p:nvPr/>
        </p:nvSpPr>
        <p:spPr>
          <a:xfrm>
            <a:off x="6400800" y="4507992"/>
            <a:ext cx="502920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GPRTVN software; velocity by energy, entropy and Kirchhoff migration; 3D data cubes with ReflexW and OpendTect.</a:t>
            </a:r>
            <a:endParaRPr lang="en-US" sz="1300" dirty="0"/>
          </a:p>
        </p:txBody>
      </p:sp>
      <p:sp>
        <p:nvSpPr>
          <p:cNvPr id="24" name="Text 22"/>
          <p:cNvSpPr txBox="1"/>
          <p:nvPr/>
        </p:nvSpPr>
        <p:spPr>
          <a:xfrm>
            <a:off x="548640" y="5321808"/>
            <a:ext cx="11064240" cy="292608"/>
          </a:xfrm>
          <a:prstGeom prst="rect">
            <a:avLst/>
          </a:prstGeom>
          <a:noFill/>
        </p:spPr>
        <p:txBody>
          <a:bodyPr wrap="square" lIns="0" tIns="0" rIns="0" bIns="0" rtlCol="0" anchor="t"/>
          <a:lstStyle/>
          <a:p>
            <a:pPr marL="0" indent="0">
              <a:buNone/>
            </a:pPr>
            <a:r>
              <a:rPr lang="en-US" sz="1400" b="1" dirty="0">
                <a:solidFill>
                  <a:srgbClr val="0B4A9E"/>
                </a:solidFill>
                <a:latin typeface="Arial" panose="020B0704020202020204" pitchFamily="34" charset="0"/>
                <a:ea typeface="Arial" panose="020B0704020202020204" pitchFamily="34" charset="-122"/>
                <a:cs typeface="Arial" panose="020B0704020202020204" pitchFamily="34" charset="-120"/>
              </a:rPr>
              <a:t>Standards: </a:t>
            </a: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ASCE/UESI/CI 38-22 and ASTM D6432-19 (US) · PAS 128:2022 (UK) · AS 5488 (AU) · CJJ 61-2017 (CN)</a:t>
            </a:r>
            <a:endParaRPr lang="en-US" sz="1400" dirty="0"/>
          </a:p>
        </p:txBody>
      </p:sp>
      <p:sp>
        <p:nvSpPr>
          <p:cNvPr id="25" name="Text 23"/>
          <p:cNvSpPr txBox="1"/>
          <p:nvPr/>
        </p:nvSpPr>
        <p:spPr>
          <a:xfrm>
            <a:off x="548640" y="5669280"/>
            <a:ext cx="11064240" cy="292608"/>
          </a:xfrm>
          <a:prstGeom prst="rect">
            <a:avLst/>
          </a:prstGeom>
          <a:noFill/>
        </p:spPr>
        <p:txBody>
          <a:bodyPr wrap="square" lIns="0" tIns="0" rIns="0" bIns="0" rtlCol="0" anchor="t"/>
          <a:lstStyle/>
          <a:p>
            <a:pPr marL="0" indent="0">
              <a:buNone/>
            </a:pPr>
            <a:r>
              <a:rPr lang="en-US" sz="1400" b="1" dirty="0">
                <a:solidFill>
                  <a:srgbClr val="0B4A9E"/>
                </a:solidFill>
                <a:latin typeface="Arial" panose="020B0704020202020204" pitchFamily="34" charset="0"/>
                <a:ea typeface="Arial" panose="020B0704020202020204" pitchFamily="34" charset="-122"/>
                <a:cs typeface="Arial" panose="020B0704020202020204" pitchFamily="34" charset="-120"/>
              </a:rPr>
              <a:t>Our work: </a:t>
            </a: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the same IDS radar and ReflexW chain, end to end on a site with no drawings — following ASTM D6432-19.</a:t>
            </a:r>
            <a:endParaRPr lang="en-US" sz="1400" dirty="0"/>
          </a:p>
        </p:txBody>
      </p:sp>
      <p:sp>
        <p:nvSpPr>
          <p:cNvPr id="26" name="Text 24"/>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Full reference list in the written report (§1.3–1.4)</a:t>
            </a:r>
            <a:endParaRPr lang="en-US" sz="1000" dirty="0"/>
          </a:p>
        </p:txBody>
      </p:sp>
      <p:sp>
        <p:nvSpPr>
          <p:cNvPr id="27"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2.2  NDT methods for buried utilities, and our scope</a:t>
            </a:r>
            <a:endParaRPr lang="en-US" sz="2600" dirty="0"/>
          </a:p>
        </p:txBody>
      </p:sp>
      <p:graphicFrame>
        <p:nvGraphicFramePr>
          <p:cNvPr id="6" name="Table 0"/>
          <p:cNvGraphicFramePr>
            <a:graphicFrameLocks noGrp="1"/>
          </p:cNvGraphicFramePr>
          <p:nvPr/>
        </p:nvGraphicFramePr>
        <p:xfrm>
          <a:off x="548640" y="1325880"/>
          <a:ext cx="11064240" cy="3337560"/>
        </p:xfrm>
        <a:graphic>
          <a:graphicData uri="http://schemas.openxmlformats.org/drawingml/2006/table">
            <a:tbl>
              <a:tblPr/>
              <a:tblGrid>
                <a:gridCol w="1691640"/>
                <a:gridCol w="2194560"/>
                <a:gridCol w="2148840"/>
                <a:gridCol w="1417320"/>
                <a:gridCol w="1783080"/>
                <a:gridCol w="1828800"/>
              </a:tblGrid>
              <a:tr h="411480">
                <a:tc>
                  <a:txBody>
                    <a:bodyPr/>
                    <a:lstStyle/>
                    <a:p>
                      <a:pPr marL="0" indent="0">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Method</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Physical principle</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What it detects</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Depth range</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Data</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Main limitation</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r>
              <a:tr h="731520">
                <a:tc>
                  <a:txBody>
                    <a:bodyPr/>
                    <a:lstStyle/>
                    <a:p>
                      <a:pPr marL="0" indent="0">
                        <a:buNone/>
                      </a:pPr>
                      <a:r>
                        <a:rPr lang="en-US" sz="1200" b="1" dirty="0">
                          <a:solidFill>
                            <a:srgbClr val="1B1B1D"/>
                          </a:solidFill>
                          <a:latin typeface="Arial" panose="020B0704020202020204" pitchFamily="34" charset="0"/>
                          <a:ea typeface="Arial" panose="020B0704020202020204" pitchFamily="34" charset="-122"/>
                          <a:cs typeface="Arial" panose="020B0704020202020204" pitchFamily="34" charset="-120"/>
                        </a:rPr>
                        <a:t>Ground-penetrating radar (GPR)</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c>
                  <a:txBody>
                    <a:bodyPr/>
                    <a:lstStyle/>
                    <a:p>
                      <a:pPr marL="0" indent="0">
                        <a:buNone/>
                      </a:pPr>
                      <a:r>
                        <a:rPr lang="en-US" sz="1200" b="1" dirty="0">
                          <a:solidFill>
                            <a:srgbClr val="1B1B1D"/>
                          </a:solidFill>
                          <a:latin typeface="Arial" panose="020B0704020202020204" pitchFamily="34" charset="0"/>
                          <a:ea typeface="Arial" panose="020B0704020202020204" pitchFamily="34" charset="-122"/>
                          <a:cs typeface="Arial" panose="020B0704020202020204" pitchFamily="34" charset="-120"/>
                        </a:rPr>
                        <a:t>Reflection of a high-frequency EM pulse (10 MHz to 3 GHz)</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c>
                  <a:txBody>
                    <a:bodyPr/>
                    <a:lstStyle/>
                    <a:p>
                      <a:pPr marL="0" indent="0">
                        <a:buNone/>
                      </a:pPr>
                      <a:r>
                        <a:rPr lang="en-US" sz="1200" b="1" dirty="0">
                          <a:solidFill>
                            <a:srgbClr val="1B1B1D"/>
                          </a:solidFill>
                          <a:latin typeface="Arial" panose="020B0704020202020204" pitchFamily="34" charset="0"/>
                          <a:ea typeface="Arial" panose="020B0704020202020204" pitchFamily="34" charset="-122"/>
                          <a:cs typeface="Arial" panose="020B0704020202020204" pitchFamily="34" charset="-120"/>
                        </a:rPr>
                        <a:t>Metal, non-metal (PVC, HDPE, concrete) and voids</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c>
                  <a:txBody>
                    <a:bodyPr/>
                    <a:lstStyle/>
                    <a:p>
                      <a:pPr marL="0" indent="0">
                        <a:buNone/>
                      </a:pPr>
                      <a:r>
                        <a:rPr lang="en-US" sz="1200" b="1" dirty="0">
                          <a:solidFill>
                            <a:srgbClr val="1B1B1D"/>
                          </a:solidFill>
                          <a:latin typeface="Arial" panose="020B0704020202020204" pitchFamily="34" charset="0"/>
                          <a:ea typeface="Arial" panose="020B0704020202020204" pitchFamily="34" charset="-122"/>
                          <a:cs typeface="Arial" panose="020B0704020202020204" pitchFamily="34" charset="-120"/>
                        </a:rPr>
                        <a:t>0.2–6 m (frequency, soil)</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c>
                  <a:txBody>
                    <a:bodyPr/>
                    <a:lstStyle/>
                    <a:p>
                      <a:pPr marL="0" indent="0">
                        <a:buNone/>
                      </a:pPr>
                      <a:r>
                        <a:rPr lang="en-US" sz="1200" b="1" dirty="0">
                          <a:solidFill>
                            <a:srgbClr val="1B1B1D"/>
                          </a:solidFill>
                          <a:latin typeface="Arial" panose="020B0704020202020204" pitchFamily="34" charset="0"/>
                          <a:ea typeface="Arial" panose="020B0704020202020204" pitchFamily="34" charset="-122"/>
                          <a:cs typeface="Arial" panose="020B0704020202020204" pitchFamily="34" charset="-120"/>
                        </a:rPr>
                        <a:t>2D B-scan, 3D C-scan</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c>
                  <a:txBody>
                    <a:bodyPr/>
                    <a:lstStyle/>
                    <a:p>
                      <a:pPr marL="0" indent="0">
                        <a:buNone/>
                      </a:pPr>
                      <a:r>
                        <a:rPr lang="en-US" sz="1200" b="1" dirty="0">
                          <a:solidFill>
                            <a:srgbClr val="1B1B1D"/>
                          </a:solidFill>
                          <a:latin typeface="Arial" panose="020B0704020202020204" pitchFamily="34" charset="0"/>
                          <a:ea typeface="Arial" panose="020B0704020202020204" pitchFamily="34" charset="-122"/>
                          <a:cs typeface="Arial" panose="020B0704020202020204" pitchFamily="34" charset="-120"/>
                        </a:rPr>
                        <a:t>Strong loss in wet or saline clay; needs processing</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D6E2F3"/>
                    </a:solidFill>
                  </a:tcPr>
                </a:tc>
              </a:tr>
              <a:tr h="731520">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EM locator (RD7000)</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Low-frequency / VLF magnetic induction (50 Hz–200 kHz)</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Conductors only (Cu/Al cable, steel pipe) or a sonde</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0.3–5 m (current, mode)</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Peak / null, current, depth</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Misses non-metal pipes; distorted by nearby cables</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731520">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Ultrasonic pulse–echo</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Reflection of elastic (mechanical) waves</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Defects in concrete, welds, wall thickness</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0.01–1.5 m in solid material</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A-scan, tomography</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Needs good contact; slow on long lines</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731520">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Eddy current</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Local EM induction in a conductor</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Surface and near-surface cracks in metal</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&lt; 10 mm</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Impedance plane</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Not for soil, rock or insulators</a:t>
                      </a:r>
                      <a:endParaRPr lang="en-US" sz="1200" dirty="0">
                        <a:latin typeface="Arial" panose="020B0704020202020204" pitchFamily="34" charset="0"/>
                        <a:ea typeface="Arial" panose="020B0704020202020204" pitchFamily="34" charset="0"/>
                        <a:cs typeface="Arial" panose="020B0704020202020204" pitchFamily="34" charset="0"/>
                      </a:endParaRPr>
                    </a:p>
                  </a:txBody>
                  <a:tcPr marL="64008" marR="64008" marT="64008" marB="64008"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bl>
          </a:graphicData>
        </a:graphic>
      </p:graphicFrame>
      <p:sp>
        <p:nvSpPr>
          <p:cNvPr id="5" name="Shape 2"/>
          <p:cNvSpPr/>
          <p:nvPr/>
        </p:nvSpPr>
        <p:spPr>
          <a:xfrm>
            <a:off x="548640" y="4892040"/>
            <a:ext cx="11064240" cy="1051560"/>
          </a:xfrm>
          <a:prstGeom prst="roundRect">
            <a:avLst>
              <a:gd name="adj" fmla="val 6957"/>
            </a:avLst>
          </a:prstGeom>
          <a:solidFill>
            <a:srgbClr val="EEF3FA"/>
          </a:solidFill>
          <a:ln w="12700">
            <a:solidFill>
              <a:srgbClr val="EEF3FA"/>
            </a:solidFill>
            <a:prstDash val="solid"/>
          </a:ln>
        </p:spPr>
      </p:sp>
      <p:sp>
        <p:nvSpPr>
          <p:cNvPr id="4" name="Text 3"/>
          <p:cNvSpPr txBox="1"/>
          <p:nvPr/>
        </p:nvSpPr>
        <p:spPr>
          <a:xfrm>
            <a:off x="777240" y="5010912"/>
            <a:ext cx="2743200" cy="320040"/>
          </a:xfrm>
          <a:prstGeom prst="rect">
            <a:avLst/>
          </a:prstGeom>
          <a:noFill/>
        </p:spPr>
        <p:txBody>
          <a:bodyPr wrap="square" lIns="0" tIns="0" rIns="0" bIns="0" rtlCol="0" anchor="t"/>
          <a:lstStyle/>
          <a:p>
            <a:pPr marL="0" indent="0">
              <a:buNone/>
            </a:pPr>
            <a:r>
              <a:rPr lang="en-US" sz="1600" b="1" dirty="0">
                <a:solidFill>
                  <a:srgbClr val="0B4A9E"/>
                </a:solidFill>
                <a:latin typeface="Arial" panose="020B0704020202020204" pitchFamily="34" charset="0"/>
                <a:ea typeface="Arial" panose="020B0704020202020204" pitchFamily="34" charset="-122"/>
                <a:cs typeface="Arial" panose="020B0704020202020204" pitchFamily="34" charset="-120"/>
              </a:rPr>
              <a:t>Scope of this work</a:t>
            </a:r>
            <a:endParaRPr lang="en-US" sz="1600" dirty="0"/>
          </a:p>
        </p:txBody>
      </p:sp>
      <p:sp>
        <p:nvSpPr>
          <p:cNvPr id="7" name="Text 4"/>
          <p:cNvSpPr txBox="1"/>
          <p:nvPr/>
        </p:nvSpPr>
        <p:spPr>
          <a:xfrm>
            <a:off x="777240" y="5349240"/>
            <a:ext cx="10607040" cy="548640"/>
          </a:xfrm>
          <a:prstGeom prst="rect">
            <a:avLst/>
          </a:prstGeom>
          <a:noFill/>
        </p:spPr>
        <p:txBody>
          <a:bodyPr wrap="square" lIns="0" tIns="0" rIns="0" bIns="0" rtlCol="0" anchor="t"/>
          <a:lstStyle/>
          <a:p>
            <a:pPr marL="177800" indent="-177800">
              <a:spcAft>
                <a:spcPts val="2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GPR uses: locate position and depth · check before digging · find voids around pipes · feed utility maps.</a:t>
            </a:r>
            <a:endParaRPr lang="en-US" sz="1400" dirty="0"/>
          </a:p>
          <a:p>
            <a:pPr marL="177800" indent="-177800">
              <a:spcAft>
                <a:spcPts val="200"/>
              </a:spcAft>
              <a:buSzPct val="100000"/>
              <a:buChar char="•"/>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Here: shallow targets (≤ 2 m) under one paved 10 m × 3.5 m courtyard — GPR alone, as it sees metal and non-metal.</a:t>
            </a:r>
            <a:endParaRPr lang="en-US" sz="1400" dirty="0"/>
          </a:p>
        </p:txBody>
      </p:sp>
      <p:sp>
        <p:nvSpPr>
          <p:cNvPr id="8" name="Text 5"/>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After Table 1 of the report: Metje et al. (2007), Royal et al. (2011), Nguyễn Việt Hà (2016)</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3.1  Principle of ground-penetrating radar</a:t>
            </a:r>
            <a:endParaRPr lang="en-US" sz="2600" dirty="0"/>
          </a:p>
        </p:txBody>
      </p:sp>
      <p:pic>
        <p:nvPicPr>
          <p:cNvPr id="4" name="Image 0" descr="Antenna positions above a buried pipe and the resulting hyperbola in travel time"/>
          <p:cNvPicPr>
            <a:picLocks noChangeAspect="1"/>
          </p:cNvPicPr>
          <p:nvPr/>
        </p:nvPicPr>
        <p:blipFill>
          <a:blip r:embed="rId1"/>
          <a:stretch>
            <a:fillRect/>
          </a:stretch>
        </p:blipFill>
        <p:spPr>
          <a:xfrm>
            <a:off x="548640" y="1325880"/>
            <a:ext cx="4572000" cy="1975104"/>
          </a:xfrm>
          <a:prstGeom prst="rect">
            <a:avLst/>
          </a:prstGeom>
        </p:spPr>
      </p:pic>
      <p:sp>
        <p:nvSpPr>
          <p:cNvPr id="5" name="Shape 2"/>
          <p:cNvSpPr/>
          <p:nvPr/>
        </p:nvSpPr>
        <p:spPr>
          <a:xfrm>
            <a:off x="548640" y="3520440"/>
            <a:ext cx="4572000" cy="1143000"/>
          </a:xfrm>
          <a:prstGeom prst="roundRect">
            <a:avLst>
              <a:gd name="adj" fmla="val 6400"/>
            </a:avLst>
          </a:prstGeom>
          <a:solidFill>
            <a:srgbClr val="EEF3FA"/>
          </a:solidFill>
          <a:ln w="12700">
            <a:solidFill>
              <a:srgbClr val="EEF3FA"/>
            </a:solidFill>
            <a:prstDash val="solid"/>
          </a:ln>
        </p:spPr>
      </p:sp>
      <p:sp>
        <p:nvSpPr>
          <p:cNvPr id="6" name="Text 3"/>
          <p:cNvSpPr txBox="1"/>
          <p:nvPr/>
        </p:nvSpPr>
        <p:spPr>
          <a:xfrm>
            <a:off x="731520" y="3630168"/>
            <a:ext cx="4206240" cy="320040"/>
          </a:xfrm>
          <a:prstGeom prst="rect">
            <a:avLst/>
          </a:prstGeom>
          <a:noFill/>
        </p:spPr>
        <p:txBody>
          <a:bodyPr wrap="square" lIns="0" tIns="0" rIns="0" bIns="0" rtlCol="0" anchor="t"/>
          <a:lstStyle/>
          <a:p>
            <a:pPr marL="0" indent="0">
              <a:buNone/>
            </a:pPr>
            <a:r>
              <a:rPr lang="en-US" sz="1500" b="1" dirty="0">
                <a:solidFill>
                  <a:srgbClr val="0B4A9E"/>
                </a:solidFill>
                <a:latin typeface="Arial" panose="020B0704020202020204" pitchFamily="34" charset="0"/>
                <a:ea typeface="Arial" panose="020B0704020202020204" pitchFamily="34" charset="-122"/>
                <a:cs typeface="Arial" panose="020B0704020202020204" pitchFamily="34" charset="-120"/>
              </a:rPr>
              <a:t>Pulse–echo, like ultrasound</a:t>
            </a:r>
            <a:endParaRPr lang="en-US" sz="1500" dirty="0"/>
          </a:p>
        </p:txBody>
      </p:sp>
      <p:sp>
        <p:nvSpPr>
          <p:cNvPr id="7" name="Text 4"/>
          <p:cNvSpPr txBox="1"/>
          <p:nvPr/>
        </p:nvSpPr>
        <p:spPr>
          <a:xfrm>
            <a:off x="731520" y="3977640"/>
            <a:ext cx="4206240" cy="640080"/>
          </a:xfrm>
          <a:prstGeom prst="rect">
            <a:avLst/>
          </a:prstGeom>
          <a:noFill/>
        </p:spPr>
        <p:txBody>
          <a:bodyPr wrap="square" lIns="0" tIns="0" rIns="0" bIns="0" rtlCol="0" anchor="t"/>
          <a:lstStyle/>
          <a:p>
            <a:pPr marL="0" indent="0">
              <a:buNone/>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Pulse → echo at an interface → time gives depth. The wave is electromagnetic: no contact, no couplant.</a:t>
            </a:r>
            <a:endParaRPr lang="en-US" sz="1300" dirty="0"/>
          </a:p>
        </p:txBody>
      </p:sp>
      <p:sp>
        <p:nvSpPr>
          <p:cNvPr id="8" name="Shape 5"/>
          <p:cNvSpPr/>
          <p:nvPr/>
        </p:nvSpPr>
        <p:spPr>
          <a:xfrm>
            <a:off x="548640" y="4800600"/>
            <a:ext cx="4572000" cy="1234440"/>
          </a:xfrm>
          <a:prstGeom prst="roundRect">
            <a:avLst>
              <a:gd name="adj" fmla="val 5926"/>
            </a:avLst>
          </a:prstGeom>
          <a:solidFill>
            <a:srgbClr val="EEF3FA"/>
          </a:solidFill>
          <a:ln w="12700">
            <a:solidFill>
              <a:srgbClr val="EEF3FA"/>
            </a:solidFill>
            <a:prstDash val="solid"/>
          </a:ln>
        </p:spPr>
      </p:sp>
      <p:sp>
        <p:nvSpPr>
          <p:cNvPr id="9" name="Text 6"/>
          <p:cNvSpPr txBox="1"/>
          <p:nvPr/>
        </p:nvSpPr>
        <p:spPr>
          <a:xfrm>
            <a:off x="731520" y="4892040"/>
            <a:ext cx="4206240" cy="320040"/>
          </a:xfrm>
          <a:prstGeom prst="rect">
            <a:avLst/>
          </a:prstGeom>
          <a:noFill/>
        </p:spPr>
        <p:txBody>
          <a:bodyPr wrap="square" lIns="0" tIns="0" rIns="0" bIns="0" rtlCol="0" anchor="t"/>
          <a:lstStyle/>
          <a:p>
            <a:pPr marL="0" indent="0">
              <a:buNone/>
            </a:pPr>
            <a:r>
              <a:rPr lang="en-US" sz="1500" b="1" dirty="0">
                <a:solidFill>
                  <a:srgbClr val="0B4A9E"/>
                </a:solidFill>
                <a:latin typeface="Arial" panose="020B0704020202020204" pitchFamily="34" charset="0"/>
                <a:ea typeface="Arial" panose="020B0704020202020204" pitchFamily="34" charset="-122"/>
                <a:cs typeface="Arial" panose="020B0704020202020204" pitchFamily="34" charset="-120"/>
              </a:rPr>
              <a:t>Resolution vs. depth</a:t>
            </a:r>
            <a:endParaRPr lang="en-US" sz="1500" dirty="0"/>
          </a:p>
        </p:txBody>
      </p:sp>
      <p:pic>
        <p:nvPicPr>
          <p:cNvPr id="10" name="Image 1" descr="Delta z is approximately lambda over 4, equal to v over 4 f"/>
          <p:cNvPicPr>
            <a:picLocks noChangeAspect="1"/>
          </p:cNvPicPr>
          <p:nvPr/>
        </p:nvPicPr>
        <p:blipFill>
          <a:blip r:embed="rId2"/>
          <a:stretch>
            <a:fillRect/>
          </a:stretch>
        </p:blipFill>
        <p:spPr>
          <a:xfrm>
            <a:off x="685800" y="5330952"/>
            <a:ext cx="1261872" cy="493776"/>
          </a:xfrm>
          <a:prstGeom prst="rect">
            <a:avLst/>
          </a:prstGeom>
        </p:spPr>
      </p:pic>
      <p:sp>
        <p:nvSpPr>
          <p:cNvPr id="11" name="Text 7"/>
          <p:cNvSpPr txBox="1"/>
          <p:nvPr/>
        </p:nvSpPr>
        <p:spPr>
          <a:xfrm>
            <a:off x="2194560" y="5257800"/>
            <a:ext cx="2834640" cy="640080"/>
          </a:xfrm>
          <a:prstGeom prst="rect">
            <a:avLst/>
          </a:prstGeom>
          <a:noFill/>
        </p:spPr>
        <p:txBody>
          <a:bodyPr wrap="square" lIns="0" tIns="0" rIns="0" bIns="0" rtlCol="0" anchor="ctr"/>
          <a:lstStyle/>
          <a:p>
            <a:pPr marL="0" indent="0">
              <a:buNone/>
            </a:pPr>
            <a:r>
              <a:rPr lang="en-US" sz="1300" b="1" dirty="0">
                <a:solidFill>
                  <a:srgbClr val="1B1B1D"/>
                </a:solidFill>
                <a:latin typeface="Arial" panose="020B0704020202020204" pitchFamily="34" charset="0"/>
                <a:ea typeface="Arial" panose="020B0704020202020204" pitchFamily="34" charset="-122"/>
                <a:cs typeface="Arial" panose="020B0704020202020204" pitchFamily="34" charset="-120"/>
              </a:rPr>
              <a:t>250 MHz ≈ 10 cm</a:t>
            </a: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 · deeper</a:t>
            </a:r>
            <a:endParaRPr lang="en-US" sz="1300" dirty="0"/>
          </a:p>
          <a:p>
            <a:pPr marL="0" indent="0">
              <a:buNone/>
            </a:pPr>
            <a:r>
              <a:rPr lang="en-US" sz="1300" b="1" dirty="0">
                <a:solidFill>
                  <a:srgbClr val="1B1B1D"/>
                </a:solidFill>
                <a:latin typeface="Arial" panose="020B0704020202020204" pitchFamily="34" charset="0"/>
                <a:ea typeface="Arial" panose="020B0704020202020204" pitchFamily="34" charset="-122"/>
                <a:cs typeface="Arial" panose="020B0704020202020204" pitchFamily="34" charset="-120"/>
              </a:rPr>
              <a:t>700 MHz ≈ 3.6 cm</a:t>
            </a: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 · sharper</a:t>
            </a:r>
            <a:endParaRPr lang="en-US" sz="1300" dirty="0"/>
          </a:p>
        </p:txBody>
      </p:sp>
      <p:sp>
        <p:nvSpPr>
          <p:cNvPr id="12" name="Shape 8"/>
          <p:cNvSpPr/>
          <p:nvPr/>
        </p:nvSpPr>
        <p:spPr>
          <a:xfrm>
            <a:off x="5440680" y="1325880"/>
            <a:ext cx="6199632" cy="1069848"/>
          </a:xfrm>
          <a:prstGeom prst="roundRect">
            <a:avLst>
              <a:gd name="adj" fmla="val 6838"/>
            </a:avLst>
          </a:prstGeom>
          <a:solidFill>
            <a:srgbClr val="EEF3FA"/>
          </a:solidFill>
          <a:ln w="12700">
            <a:solidFill>
              <a:srgbClr val="EEF3FA"/>
            </a:solidFill>
            <a:prstDash val="solid"/>
          </a:ln>
        </p:spPr>
      </p:sp>
      <p:sp>
        <p:nvSpPr>
          <p:cNvPr id="13" name="Shape 9"/>
          <p:cNvSpPr/>
          <p:nvPr/>
        </p:nvSpPr>
        <p:spPr>
          <a:xfrm>
            <a:off x="5605272" y="1696212"/>
            <a:ext cx="329184" cy="329184"/>
          </a:xfrm>
          <a:prstGeom prst="ellipse">
            <a:avLst/>
          </a:prstGeom>
          <a:solidFill>
            <a:srgbClr val="C9A227"/>
          </a:solidFill>
          <a:ln w="12700">
            <a:solidFill>
              <a:srgbClr val="C9A227"/>
            </a:solidFill>
            <a:prstDash val="solid"/>
          </a:ln>
        </p:spPr>
      </p:sp>
      <p:sp>
        <p:nvSpPr>
          <p:cNvPr id="14" name="Text 10"/>
          <p:cNvSpPr txBox="1"/>
          <p:nvPr/>
        </p:nvSpPr>
        <p:spPr>
          <a:xfrm>
            <a:off x="5605272" y="1696212"/>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1</a:t>
            </a:r>
            <a:endParaRPr lang="en-US" sz="1200" dirty="0"/>
          </a:p>
        </p:txBody>
      </p:sp>
      <p:pic>
        <p:nvPicPr>
          <p:cNvPr id="15" name="Image 2" descr="v equals c over the square root of epsilon r"/>
          <p:cNvPicPr>
            <a:picLocks noChangeAspect="1"/>
          </p:cNvPicPr>
          <p:nvPr/>
        </p:nvPicPr>
        <p:blipFill>
          <a:blip r:embed="rId3"/>
          <a:stretch>
            <a:fillRect/>
          </a:stretch>
        </p:blipFill>
        <p:spPr>
          <a:xfrm>
            <a:off x="6080760" y="1589776"/>
            <a:ext cx="1011692" cy="542056"/>
          </a:xfrm>
          <a:prstGeom prst="rect">
            <a:avLst/>
          </a:prstGeom>
        </p:spPr>
      </p:pic>
      <p:sp>
        <p:nvSpPr>
          <p:cNvPr id="16" name="Text 11"/>
          <p:cNvSpPr txBox="1"/>
          <p:nvPr/>
        </p:nvSpPr>
        <p:spPr>
          <a:xfrm>
            <a:off x="9281160" y="1481328"/>
            <a:ext cx="2240280" cy="274320"/>
          </a:xfrm>
          <a:prstGeom prst="rect">
            <a:avLst/>
          </a:prstGeom>
          <a:noFill/>
        </p:spPr>
        <p:txBody>
          <a:bodyPr wrap="square" lIns="0" tIns="0" rIns="0" bIns="0" rtlCol="0" anchor="t"/>
          <a:lstStyle/>
          <a:p>
            <a:pPr marL="0" indent="0">
              <a:buNone/>
            </a:pPr>
            <a:r>
              <a:rPr lang="en-US" sz="1400" b="1" dirty="0">
                <a:solidFill>
                  <a:srgbClr val="0B4A9E"/>
                </a:solidFill>
                <a:latin typeface="Arial" panose="020B0704020202020204" pitchFamily="34" charset="0"/>
                <a:ea typeface="Arial" panose="020B0704020202020204" pitchFamily="34" charset="-122"/>
                <a:cs typeface="Arial" panose="020B0704020202020204" pitchFamily="34" charset="-120"/>
              </a:rPr>
              <a:t>Wave speed</a:t>
            </a:r>
            <a:endParaRPr lang="en-US" sz="1400" dirty="0"/>
          </a:p>
        </p:txBody>
      </p:sp>
      <p:sp>
        <p:nvSpPr>
          <p:cNvPr id="17" name="Text 12"/>
          <p:cNvSpPr txBox="1"/>
          <p:nvPr/>
        </p:nvSpPr>
        <p:spPr>
          <a:xfrm>
            <a:off x="9281160" y="1783080"/>
            <a:ext cx="2240280" cy="548640"/>
          </a:xfrm>
          <a:prstGeom prst="rect">
            <a:avLst/>
          </a:prstGeom>
          <a:noFill/>
        </p:spPr>
        <p:txBody>
          <a:bodyPr wrap="square" lIns="0" tIns="0" rIns="0" bIns="0" rtlCol="0" anchor="t"/>
          <a:lstStyle/>
          <a:p>
            <a:pPr marL="0" indent="0">
              <a:buNone/>
            </a:pP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c = 0.3 m/ns · ε</a:t>
            </a:r>
            <a:r>
              <a:rPr lang="en-US" sz="1150" baseline="-40000" dirty="0">
                <a:solidFill>
                  <a:srgbClr val="5F6368"/>
                </a:solidFill>
                <a:latin typeface="Arial" panose="020B0704020202020204" pitchFamily="34" charset="0"/>
                <a:ea typeface="Arial" panose="020B0704020202020204" pitchFamily="34" charset="-122"/>
                <a:cs typeface="Arial" panose="020B0704020202020204" pitchFamily="34" charset="-120"/>
              </a:rPr>
              <a:t>r</a:t>
            </a: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 relative permittivity of the ground</a:t>
            </a:r>
            <a:endParaRPr lang="en-US" sz="1150" dirty="0"/>
          </a:p>
        </p:txBody>
      </p:sp>
      <p:sp>
        <p:nvSpPr>
          <p:cNvPr id="18" name="Shape 13"/>
          <p:cNvSpPr/>
          <p:nvPr/>
        </p:nvSpPr>
        <p:spPr>
          <a:xfrm>
            <a:off x="5440680" y="2505456"/>
            <a:ext cx="6199632" cy="1069848"/>
          </a:xfrm>
          <a:prstGeom prst="roundRect">
            <a:avLst>
              <a:gd name="adj" fmla="val 6838"/>
            </a:avLst>
          </a:prstGeom>
          <a:solidFill>
            <a:srgbClr val="EEF3FA"/>
          </a:solidFill>
          <a:ln w="12700">
            <a:solidFill>
              <a:srgbClr val="EEF3FA"/>
            </a:solidFill>
            <a:prstDash val="solid"/>
          </a:ln>
        </p:spPr>
      </p:sp>
      <p:sp>
        <p:nvSpPr>
          <p:cNvPr id="19" name="Shape 14"/>
          <p:cNvSpPr/>
          <p:nvPr/>
        </p:nvSpPr>
        <p:spPr>
          <a:xfrm>
            <a:off x="5605272" y="2875788"/>
            <a:ext cx="329184" cy="329184"/>
          </a:xfrm>
          <a:prstGeom prst="ellipse">
            <a:avLst/>
          </a:prstGeom>
          <a:solidFill>
            <a:srgbClr val="C9A227"/>
          </a:solidFill>
          <a:ln w="12700">
            <a:solidFill>
              <a:srgbClr val="C9A227"/>
            </a:solidFill>
            <a:prstDash val="solid"/>
          </a:ln>
        </p:spPr>
      </p:sp>
      <p:sp>
        <p:nvSpPr>
          <p:cNvPr id="20" name="Text 15"/>
          <p:cNvSpPr txBox="1"/>
          <p:nvPr/>
        </p:nvSpPr>
        <p:spPr>
          <a:xfrm>
            <a:off x="5605272" y="287578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2</a:t>
            </a:r>
            <a:endParaRPr lang="en-US" sz="1200" dirty="0"/>
          </a:p>
        </p:txBody>
      </p:sp>
      <p:pic>
        <p:nvPicPr>
          <p:cNvPr id="21" name="Image 3" descr="d equals v t over 2"/>
          <p:cNvPicPr>
            <a:picLocks noChangeAspect="1"/>
          </p:cNvPicPr>
          <p:nvPr/>
        </p:nvPicPr>
        <p:blipFill>
          <a:blip r:embed="rId4"/>
          <a:stretch>
            <a:fillRect/>
          </a:stretch>
        </p:blipFill>
        <p:spPr>
          <a:xfrm>
            <a:off x="6080760" y="2788006"/>
            <a:ext cx="779069" cy="504749"/>
          </a:xfrm>
          <a:prstGeom prst="rect">
            <a:avLst/>
          </a:prstGeom>
        </p:spPr>
      </p:pic>
      <p:sp>
        <p:nvSpPr>
          <p:cNvPr id="22" name="Text 16"/>
          <p:cNvSpPr txBox="1"/>
          <p:nvPr/>
        </p:nvSpPr>
        <p:spPr>
          <a:xfrm>
            <a:off x="9281160" y="2660904"/>
            <a:ext cx="2240280" cy="274320"/>
          </a:xfrm>
          <a:prstGeom prst="rect">
            <a:avLst/>
          </a:prstGeom>
          <a:noFill/>
        </p:spPr>
        <p:txBody>
          <a:bodyPr wrap="square" lIns="0" tIns="0" rIns="0" bIns="0" rtlCol="0" anchor="t"/>
          <a:lstStyle/>
          <a:p>
            <a:pPr marL="0" indent="0">
              <a:buNone/>
            </a:pPr>
            <a:r>
              <a:rPr lang="en-US" sz="1400" b="1" dirty="0">
                <a:solidFill>
                  <a:srgbClr val="0B4A9E"/>
                </a:solidFill>
                <a:latin typeface="Arial" panose="020B0704020202020204" pitchFamily="34" charset="0"/>
                <a:ea typeface="Arial" panose="020B0704020202020204" pitchFamily="34" charset="-122"/>
                <a:cs typeface="Arial" panose="020B0704020202020204" pitchFamily="34" charset="-120"/>
              </a:rPr>
              <a:t>Depth</a:t>
            </a:r>
            <a:endParaRPr lang="en-US" sz="1400" dirty="0"/>
          </a:p>
        </p:txBody>
      </p:sp>
      <p:sp>
        <p:nvSpPr>
          <p:cNvPr id="23" name="Text 17"/>
          <p:cNvSpPr txBox="1"/>
          <p:nvPr/>
        </p:nvSpPr>
        <p:spPr>
          <a:xfrm>
            <a:off x="9281160" y="2962656"/>
            <a:ext cx="2240280" cy="548640"/>
          </a:xfrm>
          <a:prstGeom prst="rect">
            <a:avLst/>
          </a:prstGeom>
          <a:noFill/>
        </p:spPr>
        <p:txBody>
          <a:bodyPr wrap="square" lIns="0" tIns="0" rIns="0" bIns="0" rtlCol="0" anchor="t"/>
          <a:lstStyle/>
          <a:p>
            <a:pPr marL="0" indent="0">
              <a:buNone/>
            </a:pP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t: two-way travel time, down and back</a:t>
            </a:r>
            <a:endParaRPr lang="en-US" sz="1150" dirty="0"/>
          </a:p>
        </p:txBody>
      </p:sp>
      <p:sp>
        <p:nvSpPr>
          <p:cNvPr id="24" name="Shape 18"/>
          <p:cNvSpPr/>
          <p:nvPr/>
        </p:nvSpPr>
        <p:spPr>
          <a:xfrm>
            <a:off x="5440680" y="3685032"/>
            <a:ext cx="6199632" cy="1069848"/>
          </a:xfrm>
          <a:prstGeom prst="roundRect">
            <a:avLst>
              <a:gd name="adj" fmla="val 6838"/>
            </a:avLst>
          </a:prstGeom>
          <a:solidFill>
            <a:srgbClr val="EEF3FA"/>
          </a:solidFill>
          <a:ln w="12700">
            <a:solidFill>
              <a:srgbClr val="EEF3FA"/>
            </a:solidFill>
            <a:prstDash val="solid"/>
          </a:ln>
        </p:spPr>
      </p:sp>
      <p:sp>
        <p:nvSpPr>
          <p:cNvPr id="25" name="Shape 19"/>
          <p:cNvSpPr/>
          <p:nvPr/>
        </p:nvSpPr>
        <p:spPr>
          <a:xfrm>
            <a:off x="5605272" y="4055364"/>
            <a:ext cx="329184" cy="329184"/>
          </a:xfrm>
          <a:prstGeom prst="ellipse">
            <a:avLst/>
          </a:prstGeom>
          <a:solidFill>
            <a:srgbClr val="C9A227"/>
          </a:solidFill>
          <a:ln w="12700">
            <a:solidFill>
              <a:srgbClr val="C9A227"/>
            </a:solidFill>
            <a:prstDash val="solid"/>
          </a:ln>
        </p:spPr>
      </p:sp>
      <p:sp>
        <p:nvSpPr>
          <p:cNvPr id="26" name="Text 20"/>
          <p:cNvSpPr txBox="1"/>
          <p:nvPr/>
        </p:nvSpPr>
        <p:spPr>
          <a:xfrm>
            <a:off x="5605272" y="4055364"/>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3</a:t>
            </a:r>
            <a:endParaRPr lang="en-US" sz="1200" dirty="0"/>
          </a:p>
        </p:txBody>
      </p:sp>
      <p:pic>
        <p:nvPicPr>
          <p:cNvPr id="27" name="Image 4" descr="R equals root epsilon 1 minus root epsilon 2, over root epsilon 1 plus root epsilon 2"/>
          <p:cNvPicPr>
            <a:picLocks noChangeAspect="1"/>
          </p:cNvPicPr>
          <p:nvPr/>
        </p:nvPicPr>
        <p:blipFill>
          <a:blip r:embed="rId5"/>
          <a:stretch>
            <a:fillRect/>
          </a:stretch>
        </p:blipFill>
        <p:spPr>
          <a:xfrm>
            <a:off x="6080760" y="3875410"/>
            <a:ext cx="1924629" cy="689092"/>
          </a:xfrm>
          <a:prstGeom prst="rect">
            <a:avLst/>
          </a:prstGeom>
        </p:spPr>
      </p:pic>
      <p:sp>
        <p:nvSpPr>
          <p:cNvPr id="28" name="Text 21"/>
          <p:cNvSpPr txBox="1"/>
          <p:nvPr/>
        </p:nvSpPr>
        <p:spPr>
          <a:xfrm>
            <a:off x="9281160" y="3840480"/>
            <a:ext cx="2240280" cy="274320"/>
          </a:xfrm>
          <a:prstGeom prst="rect">
            <a:avLst/>
          </a:prstGeom>
          <a:noFill/>
        </p:spPr>
        <p:txBody>
          <a:bodyPr wrap="square" lIns="0" tIns="0" rIns="0" bIns="0" rtlCol="0" anchor="t"/>
          <a:lstStyle/>
          <a:p>
            <a:pPr marL="0" indent="0">
              <a:buNone/>
            </a:pPr>
            <a:r>
              <a:rPr lang="en-US" sz="1400" b="1" dirty="0">
                <a:solidFill>
                  <a:srgbClr val="0B4A9E"/>
                </a:solidFill>
                <a:latin typeface="Arial" panose="020B0704020202020204" pitchFamily="34" charset="0"/>
                <a:ea typeface="Arial" panose="020B0704020202020204" pitchFamily="34" charset="-122"/>
                <a:cs typeface="Arial" panose="020B0704020202020204" pitchFamily="34" charset="-120"/>
              </a:rPr>
              <a:t>Reflection coefficient</a:t>
            </a:r>
            <a:endParaRPr lang="en-US" sz="1400" dirty="0"/>
          </a:p>
        </p:txBody>
      </p:sp>
      <p:sp>
        <p:nvSpPr>
          <p:cNvPr id="29" name="Text 22"/>
          <p:cNvSpPr txBox="1"/>
          <p:nvPr/>
        </p:nvSpPr>
        <p:spPr>
          <a:xfrm>
            <a:off x="9281160" y="4142232"/>
            <a:ext cx="2240280" cy="548640"/>
          </a:xfrm>
          <a:prstGeom prst="rect">
            <a:avLst/>
          </a:prstGeom>
          <a:noFill/>
        </p:spPr>
        <p:txBody>
          <a:bodyPr wrap="square" lIns="0" tIns="0" rIns="0" bIns="0" rtlCol="0" anchor="t"/>
          <a:lstStyle/>
          <a:p>
            <a:pPr marL="0" indent="0">
              <a:buNone/>
            </a:pP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ε</a:t>
            </a:r>
            <a:r>
              <a:rPr lang="en-US" sz="1150" baseline="-40000" dirty="0">
                <a:solidFill>
                  <a:srgbClr val="5F6368"/>
                </a:solidFill>
                <a:latin typeface="Arial" panose="020B0704020202020204" pitchFamily="34" charset="0"/>
                <a:ea typeface="Arial" panose="020B0704020202020204" pitchFamily="34" charset="-122"/>
                <a:cs typeface="Arial" panose="020B0704020202020204" pitchFamily="34" charset="-120"/>
              </a:rPr>
              <a:t>1</a:t>
            </a: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 ε</a:t>
            </a:r>
            <a:r>
              <a:rPr lang="en-US" sz="1150" baseline="-40000" dirty="0">
                <a:solidFill>
                  <a:srgbClr val="5F6368"/>
                </a:solidFill>
                <a:latin typeface="Arial" panose="020B0704020202020204" pitchFamily="34" charset="0"/>
                <a:ea typeface="Arial" panose="020B0704020202020204" pitchFamily="34" charset="-122"/>
                <a:cs typeface="Arial" panose="020B0704020202020204" pitchFamily="34" charset="-120"/>
              </a:rPr>
              <a:t>2</a:t>
            </a: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 either side of the interface · metal: R = −1 · air: R &gt; 0</a:t>
            </a:r>
            <a:endParaRPr lang="en-US" sz="1150" dirty="0"/>
          </a:p>
        </p:txBody>
      </p:sp>
      <p:sp>
        <p:nvSpPr>
          <p:cNvPr id="30" name="Shape 23"/>
          <p:cNvSpPr/>
          <p:nvPr/>
        </p:nvSpPr>
        <p:spPr>
          <a:xfrm>
            <a:off x="5440680" y="4864608"/>
            <a:ext cx="6199632" cy="1069848"/>
          </a:xfrm>
          <a:prstGeom prst="roundRect">
            <a:avLst>
              <a:gd name="adj" fmla="val 6838"/>
            </a:avLst>
          </a:prstGeom>
          <a:solidFill>
            <a:srgbClr val="EEF3FA"/>
          </a:solidFill>
          <a:ln w="12700">
            <a:solidFill>
              <a:srgbClr val="EEF3FA"/>
            </a:solidFill>
            <a:prstDash val="solid"/>
          </a:ln>
        </p:spPr>
      </p:sp>
      <p:sp>
        <p:nvSpPr>
          <p:cNvPr id="31" name="Shape 24"/>
          <p:cNvSpPr/>
          <p:nvPr/>
        </p:nvSpPr>
        <p:spPr>
          <a:xfrm>
            <a:off x="5605272" y="5234940"/>
            <a:ext cx="329184" cy="329184"/>
          </a:xfrm>
          <a:prstGeom prst="ellipse">
            <a:avLst/>
          </a:prstGeom>
          <a:solidFill>
            <a:srgbClr val="C9A227"/>
          </a:solidFill>
          <a:ln w="12700">
            <a:solidFill>
              <a:srgbClr val="C9A227"/>
            </a:solidFill>
            <a:prstDash val="solid"/>
          </a:ln>
        </p:spPr>
      </p:sp>
      <p:sp>
        <p:nvSpPr>
          <p:cNvPr id="32" name="Text 25"/>
          <p:cNvSpPr txBox="1"/>
          <p:nvPr/>
        </p:nvSpPr>
        <p:spPr>
          <a:xfrm>
            <a:off x="5605272" y="523494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4</a:t>
            </a:r>
            <a:endParaRPr lang="en-US" sz="1200" dirty="0"/>
          </a:p>
        </p:txBody>
      </p:sp>
      <p:pic>
        <p:nvPicPr>
          <p:cNvPr id="33" name="Image 5" descr="t of x equals 2 over v times the square root of d squared plus x minus x0 squared"/>
          <p:cNvPicPr>
            <a:picLocks noChangeAspect="1"/>
          </p:cNvPicPr>
          <p:nvPr/>
        </p:nvPicPr>
        <p:blipFill>
          <a:blip r:embed="rId6"/>
          <a:stretch>
            <a:fillRect/>
          </a:stretch>
        </p:blipFill>
        <p:spPr>
          <a:xfrm>
            <a:off x="6080760" y="5147158"/>
            <a:ext cx="2960461" cy="504749"/>
          </a:xfrm>
          <a:prstGeom prst="rect">
            <a:avLst/>
          </a:prstGeom>
        </p:spPr>
      </p:pic>
      <p:sp>
        <p:nvSpPr>
          <p:cNvPr id="34" name="Text 26"/>
          <p:cNvSpPr txBox="1"/>
          <p:nvPr/>
        </p:nvSpPr>
        <p:spPr>
          <a:xfrm>
            <a:off x="9281160" y="5020056"/>
            <a:ext cx="2240280" cy="274320"/>
          </a:xfrm>
          <a:prstGeom prst="rect">
            <a:avLst/>
          </a:prstGeom>
          <a:noFill/>
        </p:spPr>
        <p:txBody>
          <a:bodyPr wrap="square" lIns="0" tIns="0" rIns="0" bIns="0" rtlCol="0" anchor="t"/>
          <a:lstStyle/>
          <a:p>
            <a:pPr marL="0" indent="0">
              <a:buNone/>
            </a:pPr>
            <a:r>
              <a:rPr lang="en-US" sz="1400" b="1" dirty="0">
                <a:solidFill>
                  <a:srgbClr val="0B4A9E"/>
                </a:solidFill>
                <a:latin typeface="Arial" panose="020B0704020202020204" pitchFamily="34" charset="0"/>
                <a:ea typeface="Arial" panose="020B0704020202020204" pitchFamily="34" charset="-122"/>
                <a:cs typeface="Arial" panose="020B0704020202020204" pitchFamily="34" charset="-120"/>
              </a:rPr>
              <a:t>Hyperbola</a:t>
            </a:r>
            <a:endParaRPr lang="en-US" sz="1400" dirty="0"/>
          </a:p>
        </p:txBody>
      </p:sp>
      <p:sp>
        <p:nvSpPr>
          <p:cNvPr id="35" name="Text 27"/>
          <p:cNvSpPr txBox="1"/>
          <p:nvPr/>
        </p:nvSpPr>
        <p:spPr>
          <a:xfrm>
            <a:off x="9281160" y="5321808"/>
            <a:ext cx="2240280" cy="548640"/>
          </a:xfrm>
          <a:prstGeom prst="rect">
            <a:avLst/>
          </a:prstGeom>
          <a:noFill/>
        </p:spPr>
        <p:txBody>
          <a:bodyPr wrap="square" lIns="0" tIns="0" rIns="0" bIns="0" rtlCol="0" anchor="t"/>
          <a:lstStyle/>
          <a:p>
            <a:pPr marL="0" indent="0">
              <a:buNone/>
            </a:pP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x</a:t>
            </a:r>
            <a:r>
              <a:rPr lang="en-US" sz="1150" baseline="-40000" dirty="0">
                <a:solidFill>
                  <a:srgbClr val="5F6368"/>
                </a:solidFill>
                <a:latin typeface="Arial" panose="020B0704020202020204" pitchFamily="34" charset="0"/>
                <a:ea typeface="Arial" panose="020B0704020202020204" pitchFamily="34" charset="-122"/>
                <a:cs typeface="Arial" panose="020B0704020202020204" pitchFamily="34" charset="-120"/>
              </a:rPr>
              <a:t>0</a:t>
            </a: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 target position · apex t</a:t>
            </a:r>
            <a:r>
              <a:rPr lang="en-US" sz="1150" baseline="-40000" dirty="0">
                <a:solidFill>
                  <a:srgbClr val="5F6368"/>
                </a:solidFill>
                <a:latin typeface="Arial" panose="020B0704020202020204" pitchFamily="34" charset="0"/>
                <a:ea typeface="Arial" panose="020B0704020202020204" pitchFamily="34" charset="-122"/>
                <a:cs typeface="Arial" panose="020B0704020202020204" pitchFamily="34" charset="-120"/>
              </a:rPr>
              <a:t>0</a:t>
            </a: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 = 2d / v</a:t>
            </a:r>
            <a:endParaRPr lang="en-US" sz="1150" dirty="0"/>
          </a:p>
        </p:txBody>
      </p:sp>
      <p:sp>
        <p:nvSpPr>
          <p:cNvPr id="36" name="Text 28"/>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Daniels (2004) [1]; Jol (2009) [2]; ASTM D6432-19. Resolution at v = 0.10 m/ns.</a:t>
            </a:r>
            <a:endParaRPr lang="en-US" sz="1000" dirty="0"/>
          </a:p>
        </p:txBody>
      </p:sp>
      <p:sp>
        <p:nvSpPr>
          <p:cNvPr id="37"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3.2  Principle of the electromagnetic locator (RD7000)</a:t>
            </a:r>
            <a:endParaRPr lang="en-US" sz="2600" dirty="0"/>
          </a:p>
        </p:txBody>
      </p:sp>
      <p:pic>
        <p:nvPicPr>
          <p:cNvPr id="4" name="Image 0" descr="Magnetic field around a current-carrying cable and the peak and null responses of the receiver"/>
          <p:cNvPicPr>
            <a:picLocks noChangeAspect="1"/>
          </p:cNvPicPr>
          <p:nvPr/>
        </p:nvPicPr>
        <p:blipFill>
          <a:blip r:embed="rId1"/>
          <a:stretch>
            <a:fillRect/>
          </a:stretch>
        </p:blipFill>
        <p:spPr>
          <a:xfrm>
            <a:off x="548640" y="1325880"/>
            <a:ext cx="5120640" cy="4169664"/>
          </a:xfrm>
          <a:prstGeom prst="rect">
            <a:avLst/>
          </a:prstGeom>
        </p:spPr>
      </p:pic>
      <p:sp>
        <p:nvSpPr>
          <p:cNvPr id="5" name="Shape 2"/>
          <p:cNvSpPr/>
          <p:nvPr/>
        </p:nvSpPr>
        <p:spPr>
          <a:xfrm>
            <a:off x="6035040" y="1325880"/>
            <a:ext cx="5605272" cy="1143000"/>
          </a:xfrm>
          <a:prstGeom prst="roundRect">
            <a:avLst>
              <a:gd name="adj" fmla="val 6400"/>
            </a:avLst>
          </a:prstGeom>
          <a:solidFill>
            <a:srgbClr val="EEF3FA"/>
          </a:solidFill>
          <a:ln w="12700">
            <a:solidFill>
              <a:srgbClr val="EEF3FA"/>
            </a:solidFill>
            <a:prstDash val="solid"/>
          </a:ln>
        </p:spPr>
      </p:sp>
      <p:sp>
        <p:nvSpPr>
          <p:cNvPr id="6" name="Text 3"/>
          <p:cNvSpPr txBox="1"/>
          <p:nvPr/>
        </p:nvSpPr>
        <p:spPr>
          <a:xfrm>
            <a:off x="6263640" y="1444752"/>
            <a:ext cx="5148072" cy="411480"/>
          </a:xfrm>
          <a:prstGeom prst="rect">
            <a:avLst/>
          </a:prstGeom>
          <a:noFill/>
        </p:spPr>
        <p:txBody>
          <a:bodyPr wrap="square" lIns="0" tIns="0" rIns="0" bIns="0" rtlCol="0" anchor="t"/>
          <a:lstStyle/>
          <a:p>
            <a:pPr marL="0" indent="0">
              <a:buNone/>
            </a:pPr>
            <a:r>
              <a:rPr lang="en-US" sz="2000" b="1" dirty="0">
                <a:solidFill>
                  <a:srgbClr val="1B1B1D"/>
                </a:solidFill>
                <a:latin typeface="Cambria" pitchFamily="34" charset="0"/>
                <a:ea typeface="Cambria" pitchFamily="34" charset="-122"/>
                <a:cs typeface="Cambria" pitchFamily="34" charset="-120"/>
              </a:rPr>
              <a:t>B = μ</a:t>
            </a:r>
            <a:r>
              <a:rPr lang="en-US" sz="2000" b="1" baseline="-40000" dirty="0">
                <a:solidFill>
                  <a:srgbClr val="1B1B1D"/>
                </a:solidFill>
                <a:latin typeface="Cambria" pitchFamily="34" charset="0"/>
                <a:ea typeface="Cambria" pitchFamily="34" charset="-122"/>
                <a:cs typeface="Cambria" pitchFamily="34" charset="-120"/>
              </a:rPr>
              <a:t>0</a:t>
            </a:r>
            <a:r>
              <a:rPr lang="en-US" sz="2000" b="1" dirty="0">
                <a:solidFill>
                  <a:srgbClr val="1B1B1D"/>
                </a:solidFill>
                <a:latin typeface="Cambria" pitchFamily="34" charset="0"/>
                <a:ea typeface="Cambria" pitchFamily="34" charset="-122"/>
                <a:cs typeface="Cambria" pitchFamily="34" charset="-120"/>
              </a:rPr>
              <a:t>I / (2πr)</a:t>
            </a:r>
            <a:endParaRPr lang="en-US" sz="2000" dirty="0"/>
          </a:p>
        </p:txBody>
      </p:sp>
      <p:sp>
        <p:nvSpPr>
          <p:cNvPr id="7" name="Text 4"/>
          <p:cNvSpPr txBox="1"/>
          <p:nvPr/>
        </p:nvSpPr>
        <p:spPr>
          <a:xfrm>
            <a:off x="6263640" y="1883664"/>
            <a:ext cx="5148072" cy="502920"/>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An AC current I in a buried conductor makes a circular magnetic field that falls off as 1/r.</a:t>
            </a:r>
            <a:endParaRPr lang="en-US" sz="1300" dirty="0"/>
          </a:p>
        </p:txBody>
      </p:sp>
      <p:sp>
        <p:nvSpPr>
          <p:cNvPr id="8" name="Shape 5"/>
          <p:cNvSpPr/>
          <p:nvPr/>
        </p:nvSpPr>
        <p:spPr>
          <a:xfrm>
            <a:off x="6035040" y="2651760"/>
            <a:ext cx="5605272" cy="1463040"/>
          </a:xfrm>
          <a:prstGeom prst="roundRect">
            <a:avLst>
              <a:gd name="adj" fmla="val 5000"/>
            </a:avLst>
          </a:prstGeom>
          <a:solidFill>
            <a:srgbClr val="EEF3FA"/>
          </a:solidFill>
          <a:ln w="12700">
            <a:solidFill>
              <a:srgbClr val="EEF3FA"/>
            </a:solidFill>
            <a:prstDash val="solid"/>
          </a:ln>
        </p:spPr>
      </p:sp>
      <p:sp>
        <p:nvSpPr>
          <p:cNvPr id="9" name="Text 6"/>
          <p:cNvSpPr txBox="1"/>
          <p:nvPr/>
        </p:nvSpPr>
        <p:spPr>
          <a:xfrm>
            <a:off x="6263640" y="2761488"/>
            <a:ext cx="5148072" cy="320040"/>
          </a:xfrm>
          <a:prstGeom prst="rect">
            <a:avLst/>
          </a:prstGeom>
          <a:noFill/>
        </p:spPr>
        <p:txBody>
          <a:bodyPr wrap="square" lIns="0" tIns="0" rIns="0" bIns="0" rtlCol="0" anchor="t"/>
          <a:lstStyle/>
          <a:p>
            <a:pPr marL="0" indent="0">
              <a:buNone/>
            </a:pPr>
            <a:r>
              <a:rPr lang="en-US" sz="1600" b="1" dirty="0">
                <a:solidFill>
                  <a:srgbClr val="0B4A9E"/>
                </a:solidFill>
                <a:latin typeface="Arial" panose="020B0704020202020204" pitchFamily="34" charset="0"/>
                <a:ea typeface="Arial" panose="020B0704020202020204" pitchFamily="34" charset="-122"/>
                <a:cs typeface="Arial" panose="020B0704020202020204" pitchFamily="34" charset="-120"/>
              </a:rPr>
              <a:t>Peak and null</a:t>
            </a:r>
            <a:endParaRPr lang="en-US" sz="1600" dirty="0"/>
          </a:p>
        </p:txBody>
      </p:sp>
      <p:sp>
        <p:nvSpPr>
          <p:cNvPr id="10" name="Text 7"/>
          <p:cNvSpPr txBox="1"/>
          <p:nvPr/>
        </p:nvSpPr>
        <p:spPr>
          <a:xfrm>
            <a:off x="6263640" y="3108960"/>
            <a:ext cx="5148072" cy="960120"/>
          </a:xfrm>
          <a:prstGeom prst="rect">
            <a:avLst/>
          </a:prstGeom>
          <a:noFill/>
        </p:spPr>
        <p:txBody>
          <a:bodyPr wrap="square" lIns="0" tIns="0" rIns="0" bIns="0" rtlCol="0" anchor="t"/>
          <a:lstStyle/>
          <a:p>
            <a:pPr marL="177800" indent="-177800">
              <a:spcAft>
                <a:spcPts val="200"/>
              </a:spcAft>
              <a:buSzPct val="100000"/>
              <a:buChar char="•"/>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Horizontal coil: maximum (peak) right above the line.</a:t>
            </a:r>
            <a:endParaRPr lang="en-US" sz="1300" dirty="0"/>
          </a:p>
          <a:p>
            <a:pPr marL="177800" indent="-177800">
              <a:spcAft>
                <a:spcPts val="200"/>
              </a:spcAft>
              <a:buSzPct val="100000"/>
              <a:buChar char="•"/>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Vertical coil: zero (null) above the line; peak = null → undistorted field.</a:t>
            </a:r>
            <a:endParaRPr lang="en-US" sz="1300" dirty="0"/>
          </a:p>
          <a:p>
            <a:pPr marL="177800" indent="-177800">
              <a:spcAft>
                <a:spcPts val="200"/>
              </a:spcAft>
              <a:buSzPct val="100000"/>
              <a:buChar char="•"/>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Two stacked coils give the depth (±5 %).</a:t>
            </a:r>
            <a:endParaRPr lang="en-US" sz="1300" dirty="0"/>
          </a:p>
        </p:txBody>
      </p:sp>
      <p:sp>
        <p:nvSpPr>
          <p:cNvPr id="11" name="Shape 8"/>
          <p:cNvSpPr/>
          <p:nvPr/>
        </p:nvSpPr>
        <p:spPr>
          <a:xfrm>
            <a:off x="6035040" y="4297680"/>
            <a:ext cx="5605272" cy="1691640"/>
          </a:xfrm>
          <a:prstGeom prst="roundRect">
            <a:avLst>
              <a:gd name="adj" fmla="val 4324"/>
            </a:avLst>
          </a:prstGeom>
          <a:solidFill>
            <a:srgbClr val="EEF3FA"/>
          </a:solidFill>
          <a:ln w="12700">
            <a:solidFill>
              <a:srgbClr val="EEF3FA"/>
            </a:solidFill>
            <a:prstDash val="solid"/>
          </a:ln>
        </p:spPr>
      </p:sp>
      <p:sp>
        <p:nvSpPr>
          <p:cNvPr id="12" name="Text 9"/>
          <p:cNvSpPr txBox="1"/>
          <p:nvPr/>
        </p:nvSpPr>
        <p:spPr>
          <a:xfrm>
            <a:off x="6263640" y="4407408"/>
            <a:ext cx="5148072" cy="320040"/>
          </a:xfrm>
          <a:prstGeom prst="rect">
            <a:avLst/>
          </a:prstGeom>
          <a:noFill/>
        </p:spPr>
        <p:txBody>
          <a:bodyPr wrap="square" lIns="0" tIns="0" rIns="0" bIns="0" rtlCol="0" anchor="t"/>
          <a:lstStyle/>
          <a:p>
            <a:pPr marL="0" indent="0">
              <a:buNone/>
            </a:pPr>
            <a:r>
              <a:rPr lang="en-US" sz="1600" b="1" dirty="0">
                <a:solidFill>
                  <a:srgbClr val="0B4A9E"/>
                </a:solidFill>
                <a:latin typeface="Arial" panose="020B0704020202020204" pitchFamily="34" charset="0"/>
                <a:ea typeface="Arial" panose="020B0704020202020204" pitchFamily="34" charset="-122"/>
                <a:cs typeface="Arial" panose="020B0704020202020204" pitchFamily="34" charset="-120"/>
              </a:rPr>
              <a:t>Modes and role in this work</a:t>
            </a:r>
            <a:endParaRPr lang="en-US" sz="1600" dirty="0"/>
          </a:p>
        </p:txBody>
      </p:sp>
      <p:sp>
        <p:nvSpPr>
          <p:cNvPr id="13" name="Text 10"/>
          <p:cNvSpPr txBox="1"/>
          <p:nvPr/>
        </p:nvSpPr>
        <p:spPr>
          <a:xfrm>
            <a:off x="6263640" y="4754880"/>
            <a:ext cx="5148072" cy="1188720"/>
          </a:xfrm>
          <a:prstGeom prst="rect">
            <a:avLst/>
          </a:prstGeom>
          <a:noFill/>
        </p:spPr>
        <p:txBody>
          <a:bodyPr wrap="square" lIns="0" tIns="0" rIns="0" bIns="0" rtlCol="0" anchor="t"/>
          <a:lstStyle/>
          <a:p>
            <a:pPr marL="177800" indent="-177800">
              <a:spcAft>
                <a:spcPts val="200"/>
              </a:spcAft>
              <a:buSzPct val="100000"/>
              <a:buChar char="•"/>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Passive: Power 50/60 Hz, Radio VLF. Active: transmitter by direct connection, clamp, induction or sonde.</a:t>
            </a:r>
            <a:endParaRPr lang="en-US" sz="1300" dirty="0"/>
          </a:p>
          <a:p>
            <a:pPr marL="177800" indent="-177800">
              <a:spcAft>
                <a:spcPts val="200"/>
              </a:spcAft>
              <a:buSzPct val="100000"/>
              <a:buChar char="•"/>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Sees metallic lines only — a plastic pipe is invisible, hence GPR.</a:t>
            </a:r>
            <a:endParaRPr lang="en-US" sz="1300" dirty="0"/>
          </a:p>
          <a:p>
            <a:pPr marL="177800" indent="-177800">
              <a:spcAft>
                <a:spcPts val="200"/>
              </a:spcAft>
              <a:buSzPct val="100000"/>
              <a:buChar char="•"/>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Here: proposed cross-check of the cable depth (not yet measured).</a:t>
            </a:r>
            <a:endParaRPr lang="en-US" sz="1300" dirty="0"/>
          </a:p>
        </p:txBody>
      </p:sp>
      <p:sp>
        <p:nvSpPr>
          <p:cNvPr id="14" name="Text 11"/>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Radiodetection RD7000+ manual; Metje et al. (2007) [3]</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3.3  Field survey: a 10 m × 3.5 m grid of 9 lines</a:t>
            </a:r>
            <a:endParaRPr lang="en-US" sz="2600" dirty="0"/>
          </a:p>
        </p:txBody>
      </p:sp>
      <p:pic>
        <p:nvPicPr>
          <p:cNvPr id="4" name="Image 0" descr="Top view of the courtyard with survey lines C1–C4 and N1–N5"/>
          <p:cNvPicPr>
            <a:picLocks noChangeAspect="1"/>
          </p:cNvPicPr>
          <p:nvPr/>
        </p:nvPicPr>
        <p:blipFill>
          <a:blip r:embed="rId1"/>
          <a:stretch>
            <a:fillRect/>
          </a:stretch>
        </p:blipFill>
        <p:spPr>
          <a:xfrm>
            <a:off x="548640" y="1325880"/>
            <a:ext cx="3666744" cy="4297680"/>
          </a:xfrm>
          <a:prstGeom prst="rect">
            <a:avLst/>
          </a:prstGeom>
        </p:spPr>
      </p:pic>
      <p:sp>
        <p:nvSpPr>
          <p:cNvPr id="5" name="Text 2"/>
          <p:cNvSpPr txBox="1"/>
          <p:nvPr/>
        </p:nvSpPr>
        <p:spPr>
          <a:xfrm>
            <a:off x="548640" y="5669280"/>
            <a:ext cx="4206240" cy="411480"/>
          </a:xfrm>
          <a:prstGeom prst="rect">
            <a:avLst/>
          </a:prstGeom>
          <a:noFill/>
        </p:spPr>
        <p:txBody>
          <a:bodyPr wrap="square" lIns="0" tIns="0" rIns="0" bIns="0" rtlCol="0" anchor="t"/>
          <a:lstStyle/>
          <a:p>
            <a:pPr marL="0" indent="0">
              <a:buNone/>
            </a:pPr>
            <a:r>
              <a:rPr lang="en-US" sz="1100" b="1" dirty="0">
                <a:solidFill>
                  <a:srgbClr val="B98900"/>
                </a:solidFill>
                <a:latin typeface="Arial" panose="020B0704020202020204" pitchFamily="34" charset="0"/>
                <a:ea typeface="Arial" panose="020B0704020202020204" pitchFamily="34" charset="-122"/>
                <a:cs typeface="Arial" panose="020B0704020202020204" pitchFamily="34" charset="-120"/>
              </a:rPr>
              <a:t>C1–C4</a:t>
            </a: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 along the road, 1 m apart → cable</a:t>
            </a:r>
            <a:endParaRPr lang="en-US" sz="1100" dirty="0"/>
          </a:p>
          <a:p>
            <a:pPr marL="0" indent="0">
              <a:buNone/>
            </a:pPr>
            <a:r>
              <a:rPr lang="en-US" sz="1100" b="1" dirty="0">
                <a:solidFill>
                  <a:srgbClr val="1E8E3E"/>
                </a:solidFill>
                <a:latin typeface="Arial" panose="020B0704020202020204" pitchFamily="34" charset="0"/>
                <a:ea typeface="Arial" panose="020B0704020202020204" pitchFamily="34" charset="-122"/>
                <a:cs typeface="Arial" panose="020B0704020202020204" pitchFamily="34" charset="-120"/>
              </a:rPr>
              <a:t>N1–N5</a:t>
            </a: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 across the road, ~0.8 m apart → pipe</a:t>
            </a:r>
            <a:endParaRPr lang="en-US" sz="1100" dirty="0"/>
          </a:p>
        </p:txBody>
      </p:sp>
      <p:pic>
        <p:nvPicPr>
          <p:cNvPr id="6" name="Image 1" descr="Measuring tape and chalk marks on the asphalt"/>
          <p:cNvPicPr>
            <a:picLocks noChangeAspect="1"/>
          </p:cNvPicPr>
          <p:nvPr/>
        </p:nvPicPr>
        <p:blipFill>
          <a:blip r:embed="rId2"/>
          <a:stretch>
            <a:fillRect/>
          </a:stretch>
        </p:blipFill>
        <p:spPr>
          <a:xfrm>
            <a:off x="4846320" y="1325880"/>
            <a:ext cx="2194560" cy="1645920"/>
          </a:xfrm>
          <a:prstGeom prst="rect">
            <a:avLst/>
          </a:prstGeom>
        </p:spPr>
      </p:pic>
      <p:sp>
        <p:nvSpPr>
          <p:cNvPr id="7" name="Text 3"/>
          <p:cNvSpPr txBox="1"/>
          <p:nvPr/>
        </p:nvSpPr>
        <p:spPr>
          <a:xfrm>
            <a:off x="4919472" y="1399032"/>
            <a:ext cx="1783080" cy="310896"/>
          </a:xfrm>
          <a:prstGeom prst="roundRect">
            <a:avLst>
              <a:gd name="adj" fmla="val 23529"/>
            </a:avLst>
          </a:prstGeom>
          <a:solidFill>
            <a:srgbClr val="0B4A9E">
              <a:alpha val="90000"/>
            </a:srgbClr>
          </a:solid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1  Mark the grid</a:t>
            </a:r>
            <a:endParaRPr lang="en-US" sz="1200" dirty="0"/>
          </a:p>
        </p:txBody>
      </p:sp>
      <p:pic>
        <p:nvPicPr>
          <p:cNvPr id="8" name="Image 2" descr="Assembling the dual-antenna GPR cart"/>
          <p:cNvPicPr>
            <a:picLocks noChangeAspect="1"/>
          </p:cNvPicPr>
          <p:nvPr/>
        </p:nvPicPr>
        <p:blipFill>
          <a:blip r:embed="rId3"/>
          <a:stretch>
            <a:fillRect/>
          </a:stretch>
        </p:blipFill>
        <p:spPr>
          <a:xfrm>
            <a:off x="7178040" y="1325880"/>
            <a:ext cx="2194560" cy="1645920"/>
          </a:xfrm>
          <a:prstGeom prst="rect">
            <a:avLst/>
          </a:prstGeom>
        </p:spPr>
      </p:pic>
      <p:sp>
        <p:nvSpPr>
          <p:cNvPr id="9" name="Text 4"/>
          <p:cNvSpPr txBox="1"/>
          <p:nvPr/>
        </p:nvSpPr>
        <p:spPr>
          <a:xfrm>
            <a:off x="7251192" y="1399032"/>
            <a:ext cx="1783080" cy="310896"/>
          </a:xfrm>
          <a:prstGeom prst="roundRect">
            <a:avLst>
              <a:gd name="adj" fmla="val 23529"/>
            </a:avLst>
          </a:prstGeom>
          <a:solidFill>
            <a:srgbClr val="0B4A9E">
              <a:alpha val="90000"/>
            </a:srgbClr>
          </a:solid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2  Set up the radar</a:t>
            </a:r>
            <a:endParaRPr lang="en-US" sz="1200" dirty="0"/>
          </a:p>
        </p:txBody>
      </p:sp>
      <p:pic>
        <p:nvPicPr>
          <p:cNvPr id="10" name="Image 3" descr="Pushing the GPR cart along one survey line"/>
          <p:cNvPicPr>
            <a:picLocks noChangeAspect="1"/>
          </p:cNvPicPr>
          <p:nvPr/>
        </p:nvPicPr>
        <p:blipFill>
          <a:blip r:embed="rId4"/>
          <a:stretch>
            <a:fillRect/>
          </a:stretch>
        </p:blipFill>
        <p:spPr>
          <a:xfrm>
            <a:off x="4846320" y="3108960"/>
            <a:ext cx="2194560" cy="1645920"/>
          </a:xfrm>
          <a:prstGeom prst="rect">
            <a:avLst/>
          </a:prstGeom>
        </p:spPr>
      </p:pic>
      <p:sp>
        <p:nvSpPr>
          <p:cNvPr id="11" name="Text 5"/>
          <p:cNvSpPr txBox="1"/>
          <p:nvPr/>
        </p:nvSpPr>
        <p:spPr>
          <a:xfrm>
            <a:off x="4919472" y="3182112"/>
            <a:ext cx="1783080" cy="310896"/>
          </a:xfrm>
          <a:prstGeom prst="roundRect">
            <a:avLst>
              <a:gd name="adj" fmla="val 23529"/>
            </a:avLst>
          </a:prstGeom>
          <a:solidFill>
            <a:srgbClr val="0B4A9E">
              <a:alpha val="90000"/>
            </a:srgbClr>
          </a:solid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3  Scan each line</a:t>
            </a:r>
            <a:endParaRPr lang="en-US" sz="1200" dirty="0"/>
          </a:p>
        </p:txBody>
      </p:sp>
      <p:pic>
        <p:nvPicPr>
          <p:cNvPr id="12" name="Image 4" descr="Checking the radargram on the laptop in the field"/>
          <p:cNvPicPr>
            <a:picLocks noChangeAspect="1"/>
          </p:cNvPicPr>
          <p:nvPr/>
        </p:nvPicPr>
        <p:blipFill>
          <a:blip r:embed="rId5"/>
          <a:stretch>
            <a:fillRect/>
          </a:stretch>
        </p:blipFill>
        <p:spPr>
          <a:xfrm>
            <a:off x="7178040" y="3108960"/>
            <a:ext cx="2194560" cy="1645920"/>
          </a:xfrm>
          <a:prstGeom prst="rect">
            <a:avLst/>
          </a:prstGeom>
        </p:spPr>
      </p:pic>
      <p:sp>
        <p:nvSpPr>
          <p:cNvPr id="13" name="Text 6"/>
          <p:cNvSpPr txBox="1"/>
          <p:nvPr/>
        </p:nvSpPr>
        <p:spPr>
          <a:xfrm>
            <a:off x="7251192" y="3182112"/>
            <a:ext cx="1783080" cy="310896"/>
          </a:xfrm>
          <a:prstGeom prst="roundRect">
            <a:avLst>
              <a:gd name="adj" fmla="val 23529"/>
            </a:avLst>
          </a:prstGeom>
          <a:solidFill>
            <a:srgbClr val="0B4A9E">
              <a:alpha val="90000"/>
            </a:srgbClr>
          </a:solidFill>
        </p:spPr>
        <p:txBody>
          <a:bodyPr wrap="square" lIns="0" tIns="0" rIns="0" bIns="0" rtlCol="0" anchor="ctr"/>
          <a:lstStyle/>
          <a:p>
            <a:pPr marL="0" indent="0" algn="ctr">
              <a:buNone/>
            </a:pPr>
            <a:r>
              <a:rPr lang="en-US" sz="1200" b="1" dirty="0">
                <a:solidFill>
                  <a:srgbClr val="FFFFFF"/>
                </a:solidFill>
                <a:latin typeface="Arial" panose="020B0704020202020204" pitchFamily="34" charset="0"/>
                <a:ea typeface="Arial" panose="020B0704020202020204" pitchFamily="34" charset="-122"/>
                <a:cs typeface="Arial" panose="020B0704020202020204" pitchFamily="34" charset="-120"/>
              </a:rPr>
              <a:t>4  Check data on site</a:t>
            </a:r>
            <a:endParaRPr lang="en-US" sz="1200" dirty="0"/>
          </a:p>
        </p:txBody>
      </p:sp>
      <p:graphicFrame>
        <p:nvGraphicFramePr>
          <p:cNvPr id="14" name="Table 0"/>
          <p:cNvGraphicFramePr>
            <a:graphicFrameLocks noGrp="1"/>
          </p:cNvGraphicFramePr>
          <p:nvPr/>
        </p:nvGraphicFramePr>
        <p:xfrm>
          <a:off x="9646920" y="1325880"/>
          <a:ext cx="1993392" cy="3328416"/>
        </p:xfrm>
        <a:graphic>
          <a:graphicData uri="http://schemas.openxmlformats.org/drawingml/2006/table">
            <a:tbl>
              <a:tblPr/>
              <a:tblGrid>
                <a:gridCol w="914400"/>
                <a:gridCol w="1078992"/>
              </a:tblGrid>
              <a:tr h="475488">
                <a:tc>
                  <a:txBody>
                    <a:bodyPr/>
                    <a:lstStyle/>
                    <a:p>
                      <a:pPr marL="0" indent="0">
                        <a:buNone/>
                      </a:pPr>
                      <a:r>
                        <a:rPr lang="en-US" sz="1050" b="1" dirty="0">
                          <a:solidFill>
                            <a:srgbClr val="FFFFFF"/>
                          </a:solidFill>
                          <a:latin typeface="Arial" panose="020B0704020202020204" pitchFamily="34" charset="0"/>
                          <a:ea typeface="Arial" panose="020B0704020202020204" pitchFamily="34" charset="-122"/>
                          <a:cs typeface="Arial" panose="020B0704020202020204" pitchFamily="34" charset="-120"/>
                        </a:rPr>
                        <a:t>Parameter</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050" b="1" dirty="0">
                          <a:solidFill>
                            <a:srgbClr val="FFFFFF"/>
                          </a:solidFill>
                          <a:latin typeface="Arial" panose="020B0704020202020204" pitchFamily="34" charset="0"/>
                          <a:ea typeface="Arial" panose="020B0704020202020204" pitchFamily="34" charset="-122"/>
                          <a:cs typeface="Arial" panose="020B0704020202020204" pitchFamily="34" charset="-120"/>
                        </a:rPr>
                        <a:t>Value</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r>
              <a:tr h="475488">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Radar</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IDS Detector Duo</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Antennas</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250 + 700 MHz, shielded</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Trace interval</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2.78 cm</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Lines</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4 C + 5 N, 1 repeat (N5)</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Line layout</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perpendicular to the target</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475488">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Velocity (depth)</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050" dirty="0">
                          <a:solidFill>
                            <a:srgbClr val="1B1B1D"/>
                          </a:solidFill>
                          <a:latin typeface="Arial" panose="020B0704020202020204" pitchFamily="34" charset="0"/>
                          <a:ea typeface="Arial" panose="020B0704020202020204" pitchFamily="34" charset="-122"/>
                          <a:cs typeface="Arial" panose="020B0704020202020204" pitchFamily="34" charset="-120"/>
                        </a:rPr>
                        <a:t>0.12 | 0.10 m/ns</a:t>
                      </a:r>
                      <a:endParaRPr lang="en-US" sz="1050" dirty="0">
                        <a:latin typeface="Arial" panose="020B0704020202020204" pitchFamily="34" charset="0"/>
                        <a:ea typeface="Arial" panose="020B0704020202020204" pitchFamily="34" charset="0"/>
                        <a:cs typeface="Arial" panose="020B0704020202020204" pitchFamily="34" charset="0"/>
                      </a:endParaRPr>
                    </a:p>
                  </a:txBody>
                  <a:tcPr marL="45720" marR="45720"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bl>
          </a:graphicData>
        </a:graphic>
      </p:graphicFrame>
      <p:sp>
        <p:nvSpPr>
          <p:cNvPr id="15" name="Shape 7"/>
          <p:cNvSpPr/>
          <p:nvPr/>
        </p:nvSpPr>
        <p:spPr>
          <a:xfrm>
            <a:off x="4846320" y="4983480"/>
            <a:ext cx="6793992" cy="960120"/>
          </a:xfrm>
          <a:prstGeom prst="roundRect">
            <a:avLst>
              <a:gd name="adj" fmla="val 7619"/>
            </a:avLst>
          </a:prstGeom>
          <a:solidFill>
            <a:srgbClr val="EEF3FA"/>
          </a:solidFill>
          <a:ln w="12700">
            <a:solidFill>
              <a:srgbClr val="EEF3FA"/>
            </a:solidFill>
            <a:prstDash val="solid"/>
          </a:ln>
        </p:spPr>
      </p:sp>
      <p:sp>
        <p:nvSpPr>
          <p:cNvPr id="16" name="Text 8"/>
          <p:cNvSpPr txBox="1"/>
          <p:nvPr/>
        </p:nvSpPr>
        <p:spPr>
          <a:xfrm>
            <a:off x="5029200" y="5093208"/>
            <a:ext cx="6446520" cy="777240"/>
          </a:xfrm>
          <a:prstGeom prst="rect">
            <a:avLst/>
          </a:prstGeom>
          <a:noFill/>
        </p:spPr>
        <p:txBody>
          <a:bodyPr wrap="square" lIns="0" tIns="0" rIns="0" bIns="0" rtlCol="0" anchor="ctr"/>
          <a:lstStyle/>
          <a:p>
            <a:pPr marL="0" indent="0">
              <a:buNone/>
            </a:pPr>
            <a:r>
              <a:rPr lang="en-US" sz="1400" b="1" dirty="0">
                <a:solidFill>
                  <a:srgbClr val="0B4A9E"/>
                </a:solidFill>
                <a:latin typeface="Arial" panose="020B0704020202020204" pitchFamily="34" charset="0"/>
                <a:ea typeface="Arial" panose="020B0704020202020204" pitchFamily="34" charset="-122"/>
                <a:cs typeface="Arial" panose="020B0704020202020204" pitchFamily="34" charset="-120"/>
              </a:rPr>
              <a:t>Why this layout: </a:t>
            </a: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a target gives the clearest hyperbola when it is crossed at a right angle — C lines cross the cable, N lines cross the pipe.</a:t>
            </a:r>
            <a:endParaRPr lang="en-US" sz="1400" dirty="0"/>
          </a:p>
        </p:txBody>
      </p:sp>
      <p:sp>
        <p:nvSpPr>
          <p:cNvPr id="17" name="Text 9"/>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Procedure after ASTM D6432-19 and PAS 128:2022. Velocity: 0.12 m/ns concrete, 0.10 m/ns soil (team 2-layer model).</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3.4  Data processing: from raw traces to depth</a:t>
            </a:r>
            <a:endParaRPr lang="en-US" sz="2600" dirty="0"/>
          </a:p>
        </p:txBody>
      </p:sp>
      <p:sp>
        <p:nvSpPr>
          <p:cNvPr id="4" name="Shape 2"/>
          <p:cNvSpPr/>
          <p:nvPr/>
        </p:nvSpPr>
        <p:spPr>
          <a:xfrm>
            <a:off x="548640" y="1399032"/>
            <a:ext cx="411480" cy="411480"/>
          </a:xfrm>
          <a:prstGeom prst="ellipse">
            <a:avLst/>
          </a:prstGeom>
          <a:solidFill>
            <a:srgbClr val="0B4A9E"/>
          </a:solidFill>
          <a:ln w="12700">
            <a:solidFill>
              <a:srgbClr val="0B4A9E"/>
            </a:solidFill>
            <a:prstDash val="solid"/>
          </a:ln>
        </p:spPr>
      </p:sp>
      <p:sp>
        <p:nvSpPr>
          <p:cNvPr id="5" name="Text 3"/>
          <p:cNvSpPr txBox="1"/>
          <p:nvPr/>
        </p:nvSpPr>
        <p:spPr>
          <a:xfrm>
            <a:off x="548640" y="1399032"/>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1</a:t>
            </a:r>
            <a:endParaRPr lang="en-US" sz="1400" dirty="0"/>
          </a:p>
        </p:txBody>
      </p:sp>
      <p:sp>
        <p:nvSpPr>
          <p:cNvPr id="6" name="Text 4"/>
          <p:cNvSpPr txBox="1"/>
          <p:nvPr/>
        </p:nvSpPr>
        <p:spPr>
          <a:xfrm>
            <a:off x="1097280" y="1371600"/>
            <a:ext cx="2834640" cy="274320"/>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Move start time</a:t>
            </a:r>
            <a:endParaRPr lang="en-US" sz="1400" dirty="0"/>
          </a:p>
        </p:txBody>
      </p:sp>
      <p:sp>
        <p:nvSpPr>
          <p:cNvPr id="7" name="Text 5"/>
          <p:cNvSpPr txBox="1"/>
          <p:nvPr/>
        </p:nvSpPr>
        <p:spPr>
          <a:xfrm>
            <a:off x="1097280" y="1664208"/>
            <a:ext cx="2834640" cy="411480"/>
          </a:xfrm>
          <a:prstGeom prst="rect">
            <a:avLst/>
          </a:prstGeom>
          <a:noFill/>
        </p:spPr>
        <p:txBody>
          <a:bodyPr wrap="square" lIns="0" tIns="0" rIns="0" bIns="0" rtlCol="0" anchor="t"/>
          <a:lstStyle/>
          <a:p>
            <a:pPr marL="0" indent="0">
              <a:buNone/>
            </a:pPr>
            <a:r>
              <a:rPr lang="en-US" sz="1200" dirty="0">
                <a:solidFill>
                  <a:srgbClr val="5F6368"/>
                </a:solidFill>
                <a:latin typeface="Arial" panose="020B0704020202020204" pitchFamily="34" charset="0"/>
                <a:ea typeface="Arial" panose="020B0704020202020204" pitchFamily="34" charset="-122"/>
                <a:cs typeface="Arial" panose="020B0704020202020204" pitchFamily="34" charset="-120"/>
              </a:rPr>
              <a:t>time zero at the ground surface</a:t>
            </a:r>
            <a:endParaRPr lang="en-US" sz="1200" dirty="0"/>
          </a:p>
        </p:txBody>
      </p:sp>
      <p:sp>
        <p:nvSpPr>
          <p:cNvPr id="8" name="Shape 6"/>
          <p:cNvSpPr/>
          <p:nvPr/>
        </p:nvSpPr>
        <p:spPr>
          <a:xfrm>
            <a:off x="548640" y="2167128"/>
            <a:ext cx="411480" cy="411480"/>
          </a:xfrm>
          <a:prstGeom prst="ellipse">
            <a:avLst/>
          </a:prstGeom>
          <a:solidFill>
            <a:srgbClr val="0B4A9E"/>
          </a:solidFill>
          <a:ln w="12700">
            <a:solidFill>
              <a:srgbClr val="0B4A9E"/>
            </a:solidFill>
            <a:prstDash val="solid"/>
          </a:ln>
        </p:spPr>
      </p:sp>
      <p:sp>
        <p:nvSpPr>
          <p:cNvPr id="9" name="Text 7"/>
          <p:cNvSpPr txBox="1"/>
          <p:nvPr/>
        </p:nvSpPr>
        <p:spPr>
          <a:xfrm>
            <a:off x="548640" y="2167128"/>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2</a:t>
            </a:r>
            <a:endParaRPr lang="en-US" sz="1400" dirty="0"/>
          </a:p>
        </p:txBody>
      </p:sp>
      <p:sp>
        <p:nvSpPr>
          <p:cNvPr id="10" name="Text 8"/>
          <p:cNvSpPr txBox="1"/>
          <p:nvPr/>
        </p:nvSpPr>
        <p:spPr>
          <a:xfrm>
            <a:off x="1097280" y="2139696"/>
            <a:ext cx="2834640" cy="274320"/>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DC removal + dewow</a:t>
            </a:r>
            <a:endParaRPr lang="en-US" sz="1400" dirty="0"/>
          </a:p>
        </p:txBody>
      </p:sp>
      <p:sp>
        <p:nvSpPr>
          <p:cNvPr id="11" name="Text 9"/>
          <p:cNvSpPr txBox="1"/>
          <p:nvPr/>
        </p:nvSpPr>
        <p:spPr>
          <a:xfrm>
            <a:off x="1097280" y="2432304"/>
            <a:ext cx="2834640" cy="411480"/>
          </a:xfrm>
          <a:prstGeom prst="rect">
            <a:avLst/>
          </a:prstGeom>
          <a:noFill/>
        </p:spPr>
        <p:txBody>
          <a:bodyPr wrap="square" lIns="0" tIns="0" rIns="0" bIns="0" rtlCol="0" anchor="t"/>
          <a:lstStyle/>
          <a:p>
            <a:pPr marL="0" indent="0">
              <a:buNone/>
            </a:pPr>
            <a:r>
              <a:rPr lang="en-US" sz="1200" dirty="0">
                <a:solidFill>
                  <a:srgbClr val="5F6368"/>
                </a:solidFill>
                <a:latin typeface="Arial" panose="020B0704020202020204" pitchFamily="34" charset="0"/>
                <a:ea typeface="Arial" panose="020B0704020202020204" pitchFamily="34" charset="-122"/>
                <a:cs typeface="Arial" panose="020B0704020202020204" pitchFamily="34" charset="-120"/>
              </a:rPr>
              <a:t>removes the slow drift of each trace</a:t>
            </a:r>
            <a:endParaRPr lang="en-US" sz="1200" dirty="0"/>
          </a:p>
        </p:txBody>
      </p:sp>
      <p:sp>
        <p:nvSpPr>
          <p:cNvPr id="12" name="Shape 10"/>
          <p:cNvSpPr/>
          <p:nvPr/>
        </p:nvSpPr>
        <p:spPr>
          <a:xfrm>
            <a:off x="548640" y="2935224"/>
            <a:ext cx="411480" cy="411480"/>
          </a:xfrm>
          <a:prstGeom prst="ellipse">
            <a:avLst/>
          </a:prstGeom>
          <a:solidFill>
            <a:srgbClr val="0B4A9E"/>
          </a:solidFill>
          <a:ln w="12700">
            <a:solidFill>
              <a:srgbClr val="0B4A9E"/>
            </a:solidFill>
            <a:prstDash val="solid"/>
          </a:ln>
        </p:spPr>
      </p:sp>
      <p:sp>
        <p:nvSpPr>
          <p:cNvPr id="13" name="Text 11"/>
          <p:cNvSpPr txBox="1"/>
          <p:nvPr/>
        </p:nvSpPr>
        <p:spPr>
          <a:xfrm>
            <a:off x="548640" y="2935224"/>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3</a:t>
            </a:r>
            <a:endParaRPr lang="en-US" sz="1400" dirty="0"/>
          </a:p>
        </p:txBody>
      </p:sp>
      <p:sp>
        <p:nvSpPr>
          <p:cNvPr id="14" name="Text 12"/>
          <p:cNvSpPr txBox="1"/>
          <p:nvPr/>
        </p:nvSpPr>
        <p:spPr>
          <a:xfrm>
            <a:off x="1097280" y="2907792"/>
            <a:ext cx="2834640" cy="274320"/>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Background removal</a:t>
            </a:r>
            <a:endParaRPr lang="en-US" sz="1400" dirty="0"/>
          </a:p>
        </p:txBody>
      </p:sp>
      <p:sp>
        <p:nvSpPr>
          <p:cNvPr id="15" name="Text 13"/>
          <p:cNvSpPr txBox="1"/>
          <p:nvPr/>
        </p:nvSpPr>
        <p:spPr>
          <a:xfrm>
            <a:off x="1097280" y="3200400"/>
            <a:ext cx="2834640" cy="411480"/>
          </a:xfrm>
          <a:prstGeom prst="rect">
            <a:avLst/>
          </a:prstGeom>
          <a:noFill/>
        </p:spPr>
        <p:txBody>
          <a:bodyPr wrap="square" lIns="0" tIns="0" rIns="0" bIns="0" rtlCol="0" anchor="t"/>
          <a:lstStyle/>
          <a:p>
            <a:pPr marL="0" indent="0">
              <a:buNone/>
            </a:pPr>
            <a:r>
              <a:rPr lang="en-US" sz="1200" dirty="0">
                <a:solidFill>
                  <a:srgbClr val="5F6368"/>
                </a:solidFill>
                <a:latin typeface="Arial" panose="020B0704020202020204" pitchFamily="34" charset="0"/>
                <a:ea typeface="Arial" panose="020B0704020202020204" pitchFamily="34" charset="-122"/>
                <a:cs typeface="Arial" panose="020B0704020202020204" pitchFamily="34" charset="-120"/>
              </a:rPr>
              <a:t>deletes flat bands repeated on every trace</a:t>
            </a:r>
            <a:endParaRPr lang="en-US" sz="1200" dirty="0"/>
          </a:p>
        </p:txBody>
      </p:sp>
      <p:sp>
        <p:nvSpPr>
          <p:cNvPr id="16" name="Shape 14"/>
          <p:cNvSpPr/>
          <p:nvPr/>
        </p:nvSpPr>
        <p:spPr>
          <a:xfrm>
            <a:off x="548640" y="3703320"/>
            <a:ext cx="411480" cy="411480"/>
          </a:xfrm>
          <a:prstGeom prst="ellipse">
            <a:avLst/>
          </a:prstGeom>
          <a:solidFill>
            <a:srgbClr val="0B4A9E"/>
          </a:solidFill>
          <a:ln w="12700">
            <a:solidFill>
              <a:srgbClr val="0B4A9E"/>
            </a:solidFill>
            <a:prstDash val="solid"/>
          </a:ln>
        </p:spPr>
      </p:sp>
      <p:sp>
        <p:nvSpPr>
          <p:cNvPr id="17" name="Text 15"/>
          <p:cNvSpPr txBox="1"/>
          <p:nvPr/>
        </p:nvSpPr>
        <p:spPr>
          <a:xfrm>
            <a:off x="548640" y="370332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4</a:t>
            </a:r>
            <a:endParaRPr lang="en-US" sz="1400" dirty="0"/>
          </a:p>
        </p:txBody>
      </p:sp>
      <p:sp>
        <p:nvSpPr>
          <p:cNvPr id="18" name="Text 16"/>
          <p:cNvSpPr txBox="1"/>
          <p:nvPr/>
        </p:nvSpPr>
        <p:spPr>
          <a:xfrm>
            <a:off x="1097280" y="3675888"/>
            <a:ext cx="2834640" cy="274320"/>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Gain</a:t>
            </a:r>
            <a:endParaRPr lang="en-US" sz="1400" dirty="0"/>
          </a:p>
        </p:txBody>
      </p:sp>
      <p:sp>
        <p:nvSpPr>
          <p:cNvPr id="19" name="Text 17"/>
          <p:cNvSpPr txBox="1"/>
          <p:nvPr/>
        </p:nvSpPr>
        <p:spPr>
          <a:xfrm>
            <a:off x="1097280" y="3968496"/>
            <a:ext cx="2834640" cy="411480"/>
          </a:xfrm>
          <a:prstGeom prst="rect">
            <a:avLst/>
          </a:prstGeom>
          <a:noFill/>
        </p:spPr>
        <p:txBody>
          <a:bodyPr wrap="square" lIns="0" tIns="0" rIns="0" bIns="0" rtlCol="0" anchor="t"/>
          <a:lstStyle/>
          <a:p>
            <a:pPr marL="0" indent="0">
              <a:buNone/>
            </a:pPr>
            <a:r>
              <a:rPr lang="en-US" sz="1200" dirty="0">
                <a:solidFill>
                  <a:srgbClr val="5F6368"/>
                </a:solidFill>
                <a:latin typeface="Arial" panose="020B0704020202020204" pitchFamily="34" charset="0"/>
                <a:ea typeface="Arial" panose="020B0704020202020204" pitchFamily="34" charset="-122"/>
                <a:cs typeface="Arial" panose="020B0704020202020204" pitchFamily="34" charset="-120"/>
              </a:rPr>
              <a:t>boosts weak, deeper echoes</a:t>
            </a:r>
            <a:endParaRPr lang="en-US" sz="1200" dirty="0"/>
          </a:p>
        </p:txBody>
      </p:sp>
      <p:sp>
        <p:nvSpPr>
          <p:cNvPr id="20" name="Shape 18"/>
          <p:cNvSpPr/>
          <p:nvPr/>
        </p:nvSpPr>
        <p:spPr>
          <a:xfrm>
            <a:off x="548640" y="4471416"/>
            <a:ext cx="411480" cy="411480"/>
          </a:xfrm>
          <a:prstGeom prst="ellipse">
            <a:avLst/>
          </a:prstGeom>
          <a:solidFill>
            <a:srgbClr val="0B4A9E"/>
          </a:solidFill>
          <a:ln w="12700">
            <a:solidFill>
              <a:srgbClr val="0B4A9E"/>
            </a:solidFill>
            <a:prstDash val="solid"/>
          </a:ln>
        </p:spPr>
      </p:sp>
      <p:sp>
        <p:nvSpPr>
          <p:cNvPr id="21" name="Text 19"/>
          <p:cNvSpPr txBox="1"/>
          <p:nvPr/>
        </p:nvSpPr>
        <p:spPr>
          <a:xfrm>
            <a:off x="548640" y="4471416"/>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5</a:t>
            </a:r>
            <a:endParaRPr lang="en-US" sz="1400" dirty="0"/>
          </a:p>
        </p:txBody>
      </p:sp>
      <p:sp>
        <p:nvSpPr>
          <p:cNvPr id="22" name="Text 20"/>
          <p:cNvSpPr txBox="1"/>
          <p:nvPr/>
        </p:nvSpPr>
        <p:spPr>
          <a:xfrm>
            <a:off x="1097280" y="4443984"/>
            <a:ext cx="2834640" cy="274320"/>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Kirchhoff migration</a:t>
            </a:r>
            <a:endParaRPr lang="en-US" sz="1400" dirty="0"/>
          </a:p>
        </p:txBody>
      </p:sp>
      <p:sp>
        <p:nvSpPr>
          <p:cNvPr id="23" name="Text 21"/>
          <p:cNvSpPr txBox="1"/>
          <p:nvPr/>
        </p:nvSpPr>
        <p:spPr>
          <a:xfrm>
            <a:off x="1097280" y="4736592"/>
            <a:ext cx="2834640" cy="411480"/>
          </a:xfrm>
          <a:prstGeom prst="rect">
            <a:avLst/>
          </a:prstGeom>
          <a:noFill/>
        </p:spPr>
        <p:txBody>
          <a:bodyPr wrap="square" lIns="0" tIns="0" rIns="0" bIns="0" rtlCol="0" anchor="t"/>
          <a:lstStyle/>
          <a:p>
            <a:pPr marL="0" indent="0">
              <a:buNone/>
            </a:pPr>
            <a:r>
              <a:rPr lang="en-US" sz="1200" dirty="0">
                <a:solidFill>
                  <a:srgbClr val="5F6368"/>
                </a:solidFill>
                <a:latin typeface="Arial" panose="020B0704020202020204" pitchFamily="34" charset="0"/>
                <a:ea typeface="Arial" panose="020B0704020202020204" pitchFamily="34" charset="-122"/>
                <a:cs typeface="Arial" panose="020B0704020202020204" pitchFamily="34" charset="-120"/>
              </a:rPr>
              <a:t>collapses a hyperbola to its apex (v = 0.095 m/ns)</a:t>
            </a:r>
            <a:endParaRPr lang="en-US" sz="1200" dirty="0"/>
          </a:p>
        </p:txBody>
      </p:sp>
      <p:sp>
        <p:nvSpPr>
          <p:cNvPr id="24" name="Shape 22"/>
          <p:cNvSpPr/>
          <p:nvPr/>
        </p:nvSpPr>
        <p:spPr>
          <a:xfrm>
            <a:off x="548640" y="5239512"/>
            <a:ext cx="411480" cy="411480"/>
          </a:xfrm>
          <a:prstGeom prst="ellipse">
            <a:avLst/>
          </a:prstGeom>
          <a:solidFill>
            <a:srgbClr val="0B4A9E"/>
          </a:solidFill>
          <a:ln w="12700">
            <a:solidFill>
              <a:srgbClr val="0B4A9E"/>
            </a:solidFill>
            <a:prstDash val="solid"/>
          </a:ln>
        </p:spPr>
      </p:sp>
      <p:sp>
        <p:nvSpPr>
          <p:cNvPr id="25" name="Text 23"/>
          <p:cNvSpPr txBox="1"/>
          <p:nvPr/>
        </p:nvSpPr>
        <p:spPr>
          <a:xfrm>
            <a:off x="548640" y="5239512"/>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6</a:t>
            </a:r>
            <a:endParaRPr lang="en-US" sz="1400" dirty="0"/>
          </a:p>
        </p:txBody>
      </p:sp>
      <p:sp>
        <p:nvSpPr>
          <p:cNvPr id="26" name="Text 24"/>
          <p:cNvSpPr txBox="1"/>
          <p:nvPr/>
        </p:nvSpPr>
        <p:spPr>
          <a:xfrm>
            <a:off x="1097280" y="5212080"/>
            <a:ext cx="2834640" cy="274320"/>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Time → depth</a:t>
            </a:r>
            <a:endParaRPr lang="en-US" sz="1400" dirty="0"/>
          </a:p>
        </p:txBody>
      </p:sp>
      <p:sp>
        <p:nvSpPr>
          <p:cNvPr id="27" name="Text 25"/>
          <p:cNvSpPr txBox="1"/>
          <p:nvPr/>
        </p:nvSpPr>
        <p:spPr>
          <a:xfrm>
            <a:off x="1097280" y="5504688"/>
            <a:ext cx="2834640" cy="411480"/>
          </a:xfrm>
          <a:prstGeom prst="rect">
            <a:avLst/>
          </a:prstGeom>
          <a:noFill/>
        </p:spPr>
        <p:txBody>
          <a:bodyPr wrap="square" lIns="0" tIns="0" rIns="0" bIns="0" rtlCol="0" anchor="t"/>
          <a:lstStyle/>
          <a:p>
            <a:pPr marL="0" indent="0">
              <a:buNone/>
            </a:pPr>
            <a:r>
              <a:rPr lang="en-US" sz="1200" dirty="0">
                <a:solidFill>
                  <a:srgbClr val="5F6368"/>
                </a:solidFill>
                <a:latin typeface="Arial" panose="020B0704020202020204" pitchFamily="34" charset="0"/>
                <a:ea typeface="Arial" panose="020B0704020202020204" pitchFamily="34" charset="-122"/>
                <a:cs typeface="Arial" panose="020B0704020202020204" pitchFamily="34" charset="-120"/>
              </a:rPr>
              <a:t>2-layer model: 0.12 m/ns concrete, 0.10 m/ns soil</a:t>
            </a:r>
            <a:endParaRPr lang="en-US" sz="1200" dirty="0"/>
          </a:p>
        </p:txBody>
      </p:sp>
      <p:pic>
        <p:nvPicPr>
          <p:cNvPr id="28" name="Image 0" descr="Raw and processed radargram of line N5, with the processing chain and the fitted hyperbola of the water pipe"/>
          <p:cNvPicPr>
            <a:picLocks noChangeAspect="1"/>
          </p:cNvPicPr>
          <p:nvPr/>
        </p:nvPicPr>
        <p:blipFill>
          <a:blip r:embed="rId1"/>
          <a:stretch>
            <a:fillRect/>
          </a:stretch>
        </p:blipFill>
        <p:spPr>
          <a:xfrm>
            <a:off x="4114800" y="1325880"/>
            <a:ext cx="7525512" cy="4233672"/>
          </a:xfrm>
          <a:prstGeom prst="rect">
            <a:avLst/>
          </a:prstGeom>
        </p:spPr>
      </p:pic>
      <p:sp>
        <p:nvSpPr>
          <p:cNvPr id="29" name="Text 26"/>
          <p:cNvSpPr txBox="1"/>
          <p:nvPr/>
        </p:nvSpPr>
        <p:spPr>
          <a:xfrm>
            <a:off x="4114800" y="5623560"/>
            <a:ext cx="7525512" cy="411480"/>
          </a:xfrm>
          <a:prstGeom prst="rect">
            <a:avLst/>
          </a:prstGeom>
          <a:noFill/>
        </p:spPr>
        <p:txBody>
          <a:bodyPr wrap="square" lIns="0" tIns="0" rIns="0" bIns="0" rtlCol="0" anchor="t"/>
          <a:lstStyle/>
          <a:p>
            <a:pPr marL="0" indent="0">
              <a:buNone/>
            </a:pPr>
            <a:r>
              <a:rPr lang="en-US" sz="1200" i="1" dirty="0">
                <a:solidFill>
                  <a:srgbClr val="5F6368"/>
                </a:solidFill>
                <a:latin typeface="Arial" panose="020B0704020202020204" pitchFamily="34" charset="0"/>
                <a:ea typeface="Arial" panose="020B0704020202020204" pitchFamily="34" charset="-122"/>
                <a:cs typeface="Arial" panose="020B0704020202020204" pitchFamily="34" charset="-120"/>
              </a:rPr>
              <a:t>Line N5 (repeat), 250 MHz: raw (left) and processed (right); the water-pipe hyperbola appears, depth to top ≈ 0.39 m.</a:t>
            </a:r>
            <a:endParaRPr lang="en-US" sz="1200" dirty="0"/>
          </a:p>
        </p:txBody>
      </p:sp>
      <p:sp>
        <p:nvSpPr>
          <p:cNvPr id="30" name="Text 27"/>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Software: ReflexW (Sandmeier); figures and maps in Python. Migration methods: Özdemir et al. (2014).</a:t>
            </a:r>
            <a:endParaRPr lang="en-US" sz="1000" dirty="0"/>
          </a:p>
        </p:txBody>
      </p:sp>
      <p:sp>
        <p:nvSpPr>
          <p:cNvPr id="31"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4.1  Model results: the model matches the field hyperbolas</a:t>
            </a:r>
            <a:endParaRPr lang="en-US" sz="2600" dirty="0"/>
          </a:p>
        </p:txBody>
      </p:sp>
      <p:pic>
        <p:nvPicPr>
          <p:cNvPr id="4" name="Image 0" descr="Synthetic radargram of a metal cable and a PVC pipe compared with field lines C1 and N5"/>
          <p:cNvPicPr>
            <a:picLocks noChangeAspect="1"/>
          </p:cNvPicPr>
          <p:nvPr/>
        </p:nvPicPr>
        <p:blipFill>
          <a:blip r:embed="rId1"/>
          <a:stretch>
            <a:fillRect/>
          </a:stretch>
        </p:blipFill>
        <p:spPr>
          <a:xfrm>
            <a:off x="923544" y="1325880"/>
            <a:ext cx="10341864" cy="470916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4.2  Field results: four aligned anomalies trace one power cable</a:t>
            </a:r>
            <a:endParaRPr lang="en-US" sz="2600" dirty="0"/>
          </a:p>
        </p:txBody>
      </p:sp>
      <p:pic>
        <p:nvPicPr>
          <p:cNvPr id="4" name="Image 0" descr="Radargrams of parallel lines C1, C2, C3 and C4 (250 MHz) drawn on the same position axis. Anomaly P1 sits at 2.5 m along the road on every line, at depths 0.65, 0.45, 0.46 and 0.43 m; a dashed orange vertical line joins the four hyperbola apexes."/>
          <p:cNvPicPr>
            <a:picLocks noChangeAspect="1"/>
          </p:cNvPicPr>
          <p:nvPr/>
        </p:nvPicPr>
        <p:blipFill>
          <a:blip r:embed="rId1"/>
          <a:stretch>
            <a:fillRect/>
          </a:stretch>
        </p:blipFill>
        <p:spPr>
          <a:xfrm>
            <a:off x="548640" y="1325880"/>
            <a:ext cx="5605272" cy="4645152"/>
          </a:xfrm>
          <a:prstGeom prst="rect">
            <a:avLst/>
          </a:prstGeom>
        </p:spPr>
      </p:pic>
      <p:sp>
        <p:nvSpPr>
          <p:cNvPr id="5" name="Text 2"/>
          <p:cNvSpPr txBox="1"/>
          <p:nvPr/>
        </p:nvSpPr>
        <p:spPr>
          <a:xfrm>
            <a:off x="7269480" y="1325880"/>
            <a:ext cx="4343400" cy="320040"/>
          </a:xfrm>
          <a:prstGeom prst="rect">
            <a:avLst/>
          </a:prstGeom>
          <a:noFill/>
        </p:spPr>
        <p:txBody>
          <a:bodyPr wrap="square" lIns="0" tIns="0" rIns="0" bIns="0" rtlCol="0" anchor="t"/>
          <a:lstStyle/>
          <a:p>
            <a:pPr marL="0" indent="0">
              <a:buNone/>
            </a:pPr>
            <a:r>
              <a:rPr lang="en-US" sz="1400" b="1" dirty="0">
                <a:solidFill>
                  <a:srgbClr val="5F6368"/>
                </a:solidFill>
                <a:latin typeface="Arial" panose="020B0704020202020204" pitchFamily="34" charset="0"/>
                <a:ea typeface="Arial" panose="020B0704020202020204" pitchFamily="34" charset="-122"/>
                <a:cs typeface="Arial" panose="020B0704020202020204" pitchFamily="34" charset="-120"/>
              </a:rPr>
              <a:t>Plan view</a:t>
            </a:r>
            <a:endParaRPr lang="en-US" sz="1400" dirty="0"/>
          </a:p>
        </p:txBody>
      </p:sp>
      <p:pic>
        <p:nvPicPr>
          <p:cNvPr id="6" name="Image 1" descr="Plan view: lines C1 to C4 run parallel 1 m apart, C2 and C4 walked in the opposite direction; the four P1 points fall on one dashed orange line straight across the road, the cable."/>
          <p:cNvPicPr>
            <a:picLocks noChangeAspect="1"/>
          </p:cNvPicPr>
          <p:nvPr/>
        </p:nvPicPr>
        <p:blipFill>
          <a:blip r:embed="rId2"/>
          <a:stretch>
            <a:fillRect/>
          </a:stretch>
        </p:blipFill>
        <p:spPr>
          <a:xfrm>
            <a:off x="7498080" y="1664208"/>
            <a:ext cx="3566160" cy="2185416"/>
          </a:xfrm>
          <a:prstGeom prst="rect">
            <a:avLst/>
          </a:prstGeom>
        </p:spPr>
      </p:pic>
      <p:sp>
        <p:nvSpPr>
          <p:cNvPr id="7" name="Shape 3"/>
          <p:cNvSpPr/>
          <p:nvPr/>
        </p:nvSpPr>
        <p:spPr>
          <a:xfrm>
            <a:off x="7269480" y="3931920"/>
            <a:ext cx="4370832" cy="640080"/>
          </a:xfrm>
          <a:prstGeom prst="roundRect">
            <a:avLst>
              <a:gd name="adj" fmla="val 11429"/>
            </a:avLst>
          </a:prstGeom>
          <a:solidFill>
            <a:srgbClr val="EEF3FA"/>
          </a:solidFill>
          <a:ln w="12700">
            <a:solidFill>
              <a:srgbClr val="EEF3FA"/>
            </a:solidFill>
            <a:prstDash val="solid"/>
          </a:ln>
        </p:spPr>
      </p:sp>
      <p:sp>
        <p:nvSpPr>
          <p:cNvPr id="8" name="Text 4"/>
          <p:cNvSpPr txBox="1"/>
          <p:nvPr/>
        </p:nvSpPr>
        <p:spPr>
          <a:xfrm>
            <a:off x="7452360" y="3931920"/>
            <a:ext cx="1463040" cy="640080"/>
          </a:xfrm>
          <a:prstGeom prst="rect">
            <a:avLst/>
          </a:prstGeom>
          <a:noFill/>
        </p:spPr>
        <p:txBody>
          <a:bodyPr wrap="square" lIns="0" tIns="0" rIns="0" bIns="0" rtlCol="0" anchor="ctr"/>
          <a:lstStyle/>
          <a:p>
            <a:pPr marL="0" indent="0">
              <a:buNone/>
            </a:pPr>
            <a:r>
              <a:rPr lang="en-US" sz="2200" b="1" dirty="0">
                <a:solidFill>
                  <a:srgbClr val="E8590C"/>
                </a:solidFill>
                <a:latin typeface="Arial" panose="020B0704020202020204" pitchFamily="34" charset="0"/>
                <a:ea typeface="Arial" panose="020B0704020202020204" pitchFamily="34" charset="-122"/>
                <a:cs typeface="Arial" panose="020B0704020202020204" pitchFamily="34" charset="-120"/>
              </a:rPr>
              <a:t>4 / 4</a:t>
            </a:r>
            <a:endParaRPr lang="en-US" sz="2200" dirty="0"/>
          </a:p>
        </p:txBody>
      </p:sp>
      <p:sp>
        <p:nvSpPr>
          <p:cNvPr id="9" name="Text 5"/>
          <p:cNvSpPr txBox="1"/>
          <p:nvPr/>
        </p:nvSpPr>
        <p:spPr>
          <a:xfrm>
            <a:off x="9006840" y="3995928"/>
            <a:ext cx="2560320" cy="274320"/>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Same echo on every line</a:t>
            </a:r>
            <a:endParaRPr lang="en-US" sz="1400" dirty="0"/>
          </a:p>
        </p:txBody>
      </p:sp>
      <p:sp>
        <p:nvSpPr>
          <p:cNvPr id="10" name="Text 6"/>
          <p:cNvSpPr txBox="1"/>
          <p:nvPr/>
        </p:nvSpPr>
        <p:spPr>
          <a:xfrm>
            <a:off x="9006840" y="4279392"/>
            <a:ext cx="2560320" cy="256032"/>
          </a:xfrm>
          <a:prstGeom prst="rect">
            <a:avLst/>
          </a:prstGeom>
          <a:noFill/>
        </p:spPr>
        <p:txBody>
          <a:bodyPr wrap="square" lIns="0" tIns="0" rIns="0" bIns="0" rtlCol="0" anchor="t"/>
          <a:lstStyle/>
          <a:p>
            <a:pPr marL="0" indent="0">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strong, ringing hyperbola → metal</a:t>
            </a:r>
            <a:endParaRPr lang="en-US" sz="1100" dirty="0"/>
          </a:p>
        </p:txBody>
      </p:sp>
      <p:sp>
        <p:nvSpPr>
          <p:cNvPr id="11" name="Shape 7"/>
          <p:cNvSpPr/>
          <p:nvPr/>
        </p:nvSpPr>
        <p:spPr>
          <a:xfrm>
            <a:off x="7269480" y="4663440"/>
            <a:ext cx="4370832" cy="640080"/>
          </a:xfrm>
          <a:prstGeom prst="roundRect">
            <a:avLst>
              <a:gd name="adj" fmla="val 11429"/>
            </a:avLst>
          </a:prstGeom>
          <a:solidFill>
            <a:srgbClr val="EEF3FA"/>
          </a:solidFill>
          <a:ln w="12700">
            <a:solidFill>
              <a:srgbClr val="EEF3FA"/>
            </a:solidFill>
            <a:prstDash val="solid"/>
          </a:ln>
        </p:spPr>
      </p:sp>
      <p:sp>
        <p:nvSpPr>
          <p:cNvPr id="12" name="Text 8"/>
          <p:cNvSpPr txBox="1"/>
          <p:nvPr/>
        </p:nvSpPr>
        <p:spPr>
          <a:xfrm>
            <a:off x="7452360" y="4663440"/>
            <a:ext cx="1463040" cy="640080"/>
          </a:xfrm>
          <a:prstGeom prst="rect">
            <a:avLst/>
          </a:prstGeom>
          <a:noFill/>
        </p:spPr>
        <p:txBody>
          <a:bodyPr wrap="square" lIns="0" tIns="0" rIns="0" bIns="0" rtlCol="0" anchor="ctr"/>
          <a:lstStyle/>
          <a:p>
            <a:pPr marL="0" indent="0">
              <a:buNone/>
            </a:pPr>
            <a:r>
              <a:rPr lang="en-US" sz="2200" b="1" dirty="0">
                <a:solidFill>
                  <a:srgbClr val="E8590C"/>
                </a:solidFill>
                <a:latin typeface="Arial" panose="020B0704020202020204" pitchFamily="34" charset="0"/>
                <a:ea typeface="Arial" panose="020B0704020202020204" pitchFamily="34" charset="-122"/>
                <a:cs typeface="Arial" panose="020B0704020202020204" pitchFamily="34" charset="-120"/>
              </a:rPr>
              <a:t>90°</a:t>
            </a:r>
            <a:endParaRPr lang="en-US" sz="2200" dirty="0"/>
          </a:p>
        </p:txBody>
      </p:sp>
      <p:sp>
        <p:nvSpPr>
          <p:cNvPr id="13" name="Text 9"/>
          <p:cNvSpPr txBox="1"/>
          <p:nvPr/>
        </p:nvSpPr>
        <p:spPr>
          <a:xfrm>
            <a:off x="9006840" y="4727448"/>
            <a:ext cx="2560320" cy="274320"/>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Straight across the road</a:t>
            </a:r>
            <a:endParaRPr lang="en-US" sz="1400" dirty="0"/>
          </a:p>
        </p:txBody>
      </p:sp>
      <p:sp>
        <p:nvSpPr>
          <p:cNvPr id="14" name="Text 10"/>
          <p:cNvSpPr txBox="1"/>
          <p:nvPr/>
        </p:nvSpPr>
        <p:spPr>
          <a:xfrm>
            <a:off x="9006840" y="5010912"/>
            <a:ext cx="2560320" cy="256032"/>
          </a:xfrm>
          <a:prstGeom prst="rect">
            <a:avLst/>
          </a:prstGeom>
          <a:noFill/>
        </p:spPr>
        <p:txBody>
          <a:bodyPr wrap="square" lIns="0" tIns="0" rIns="0" bIns="0" rtlCol="0" anchor="t"/>
          <a:lstStyle/>
          <a:p>
            <a:pPr marL="0" indent="0">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C1, C3 at 2.50 m · field marks agree</a:t>
            </a:r>
            <a:endParaRPr lang="en-US" sz="1100" dirty="0"/>
          </a:p>
        </p:txBody>
      </p:sp>
      <p:sp>
        <p:nvSpPr>
          <p:cNvPr id="15" name="Shape 11"/>
          <p:cNvSpPr/>
          <p:nvPr/>
        </p:nvSpPr>
        <p:spPr>
          <a:xfrm>
            <a:off x="7269480" y="5394960"/>
            <a:ext cx="4370832" cy="640080"/>
          </a:xfrm>
          <a:prstGeom prst="roundRect">
            <a:avLst>
              <a:gd name="adj" fmla="val 11429"/>
            </a:avLst>
          </a:prstGeom>
          <a:solidFill>
            <a:srgbClr val="EEF3FA"/>
          </a:solidFill>
          <a:ln w="12700">
            <a:solidFill>
              <a:srgbClr val="EEF3FA"/>
            </a:solidFill>
            <a:prstDash val="solid"/>
          </a:ln>
        </p:spPr>
      </p:sp>
      <p:sp>
        <p:nvSpPr>
          <p:cNvPr id="16" name="Text 12"/>
          <p:cNvSpPr txBox="1"/>
          <p:nvPr/>
        </p:nvSpPr>
        <p:spPr>
          <a:xfrm>
            <a:off x="7452360" y="5394960"/>
            <a:ext cx="1463040" cy="640080"/>
          </a:xfrm>
          <a:prstGeom prst="rect">
            <a:avLst/>
          </a:prstGeom>
          <a:noFill/>
        </p:spPr>
        <p:txBody>
          <a:bodyPr wrap="square" lIns="0" tIns="0" rIns="0" bIns="0" rtlCol="0" anchor="ctr"/>
          <a:lstStyle/>
          <a:p>
            <a:pPr marL="0" indent="0">
              <a:buNone/>
            </a:pPr>
            <a:r>
              <a:rPr lang="en-US" sz="2200" b="1" dirty="0">
                <a:solidFill>
                  <a:srgbClr val="E8590C"/>
                </a:solidFill>
                <a:latin typeface="Arial" panose="020B0704020202020204" pitchFamily="34" charset="0"/>
                <a:ea typeface="Arial" panose="020B0704020202020204" pitchFamily="34" charset="-122"/>
                <a:cs typeface="Arial" panose="020B0704020202020204" pitchFamily="34" charset="-120"/>
              </a:rPr>
              <a:t>≈ 0.45 m</a:t>
            </a:r>
            <a:endParaRPr lang="en-US" sz="2200" dirty="0"/>
          </a:p>
        </p:txBody>
      </p:sp>
      <p:sp>
        <p:nvSpPr>
          <p:cNvPr id="17" name="Text 13"/>
          <p:cNvSpPr txBox="1"/>
          <p:nvPr/>
        </p:nvSpPr>
        <p:spPr>
          <a:xfrm>
            <a:off x="9006840" y="5458968"/>
            <a:ext cx="2560320" cy="274320"/>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Depth to the top</a:t>
            </a:r>
            <a:endParaRPr lang="en-US" sz="1400" dirty="0"/>
          </a:p>
        </p:txBody>
      </p:sp>
      <p:sp>
        <p:nvSpPr>
          <p:cNvPr id="18" name="Text 14"/>
          <p:cNvSpPr txBox="1"/>
          <p:nvPr/>
        </p:nvSpPr>
        <p:spPr>
          <a:xfrm>
            <a:off x="9006840" y="5742432"/>
            <a:ext cx="2560320" cy="256032"/>
          </a:xfrm>
          <a:prstGeom prst="rect">
            <a:avLst/>
          </a:prstGeom>
          <a:noFill/>
        </p:spPr>
        <p:txBody>
          <a:bodyPr wrap="square" lIns="0" tIns="0" rIns="0" bIns="0" rtlCol="0" anchor="t"/>
          <a:lstStyle/>
          <a:p>
            <a:pPr marL="0" indent="0">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C2–C4: 0.43–0.46 m · C1: 0.65 m</a:t>
            </a:r>
            <a:endParaRPr lang="en-US" sz="1100" dirty="0"/>
          </a:p>
        </p:txBody>
      </p:sp>
      <p:sp>
        <p:nvSpPr>
          <p:cNvPr id="19" name="Text 15"/>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250 MHz, lines C1–C4 (LZZ20001–20004; C3 = LZZ20003.11 flipped back), team picks. C2, C4 walked in reverse, placed from the cable marked on site.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4.3  Field results: the water pipe on lines N1–N5</a:t>
            </a:r>
            <a:endParaRPr lang="en-US" sz="2600" dirty="0"/>
          </a:p>
        </p:txBody>
      </p:sp>
      <p:pic>
        <p:nvPicPr>
          <p:cNvPr id="4" name="Image 0" descr="GPR sections over the water pipe: line N2 with the pipe hyperbola A1, line N1 with no clear hyperbola, line N2 after migration, and a zoom on the pipe hyperbola"/>
          <p:cNvPicPr>
            <a:picLocks noChangeAspect="1"/>
          </p:cNvPicPr>
          <p:nvPr/>
        </p:nvPicPr>
        <p:blipFill>
          <a:blip r:embed="rId1"/>
          <a:stretch>
            <a:fillRect/>
          </a:stretch>
        </p:blipFill>
        <p:spPr>
          <a:xfrm>
            <a:off x="548640" y="1325880"/>
            <a:ext cx="8412480" cy="4727448"/>
          </a:xfrm>
          <a:prstGeom prst="rect">
            <a:avLst/>
          </a:prstGeom>
        </p:spPr>
      </p:pic>
      <p:sp>
        <p:nvSpPr>
          <p:cNvPr id="5" name="Shape 2"/>
          <p:cNvSpPr/>
          <p:nvPr/>
        </p:nvSpPr>
        <p:spPr>
          <a:xfrm>
            <a:off x="9189720" y="1325880"/>
            <a:ext cx="2450592" cy="1051560"/>
          </a:xfrm>
          <a:prstGeom prst="roundRect">
            <a:avLst>
              <a:gd name="adj" fmla="val 6957"/>
            </a:avLst>
          </a:prstGeom>
          <a:solidFill>
            <a:srgbClr val="EEF3FA"/>
          </a:solidFill>
          <a:ln w="12700">
            <a:solidFill>
              <a:srgbClr val="EEF3FA"/>
            </a:solidFill>
            <a:prstDash val="solid"/>
          </a:ln>
        </p:spPr>
      </p:sp>
      <p:sp>
        <p:nvSpPr>
          <p:cNvPr id="6" name="Text 3"/>
          <p:cNvSpPr txBox="1"/>
          <p:nvPr/>
        </p:nvSpPr>
        <p:spPr>
          <a:xfrm>
            <a:off x="9354312" y="1417320"/>
            <a:ext cx="2176272" cy="365760"/>
          </a:xfrm>
          <a:prstGeom prst="rect">
            <a:avLst/>
          </a:prstGeom>
          <a:noFill/>
        </p:spPr>
        <p:txBody>
          <a:bodyPr wrap="square" lIns="0" tIns="0" rIns="0" bIns="0" rtlCol="0" anchor="t"/>
          <a:lstStyle/>
          <a:p>
            <a:pPr marL="0" indent="0">
              <a:buNone/>
            </a:pPr>
            <a:r>
              <a:rPr lang="en-US" sz="1800" b="1" dirty="0">
                <a:solidFill>
                  <a:srgbClr val="1E7BD9"/>
                </a:solidFill>
                <a:latin typeface="Arial" panose="020B0704020202020204" pitchFamily="34" charset="0"/>
                <a:ea typeface="Arial" panose="020B0704020202020204" pitchFamily="34" charset="-122"/>
                <a:cs typeface="Arial" panose="020B0704020202020204" pitchFamily="34" charset="-120"/>
              </a:rPr>
              <a:t>3 / 5</a:t>
            </a:r>
            <a:endParaRPr lang="en-US" sz="1800" dirty="0"/>
          </a:p>
        </p:txBody>
      </p:sp>
      <p:sp>
        <p:nvSpPr>
          <p:cNvPr id="7" name="Text 4"/>
          <p:cNvSpPr txBox="1"/>
          <p:nvPr/>
        </p:nvSpPr>
        <p:spPr>
          <a:xfrm>
            <a:off x="9354312" y="1801368"/>
            <a:ext cx="2176272" cy="530352"/>
          </a:xfrm>
          <a:prstGeom prst="rect">
            <a:avLst/>
          </a:prstGeom>
          <a:noFill/>
        </p:spPr>
        <p:txBody>
          <a:bodyPr wrap="square" lIns="0" tIns="0" rIns="0" bIns="0" rtlCol="0" anchor="t"/>
          <a:lstStyle/>
          <a:p>
            <a:pPr marL="0" indent="0">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lines show the pipe hyperbola: N2, N4, N5</a:t>
            </a:r>
            <a:endParaRPr lang="en-US" sz="1100" dirty="0"/>
          </a:p>
        </p:txBody>
      </p:sp>
      <p:sp>
        <p:nvSpPr>
          <p:cNvPr id="8" name="Shape 5"/>
          <p:cNvSpPr/>
          <p:nvPr/>
        </p:nvSpPr>
        <p:spPr>
          <a:xfrm>
            <a:off x="9189720" y="2505456"/>
            <a:ext cx="2450592" cy="1051560"/>
          </a:xfrm>
          <a:prstGeom prst="roundRect">
            <a:avLst>
              <a:gd name="adj" fmla="val 6957"/>
            </a:avLst>
          </a:prstGeom>
          <a:solidFill>
            <a:srgbClr val="EEF3FA"/>
          </a:solidFill>
          <a:ln w="12700">
            <a:solidFill>
              <a:srgbClr val="EEF3FA"/>
            </a:solidFill>
            <a:prstDash val="solid"/>
          </a:ln>
        </p:spPr>
      </p:sp>
      <p:sp>
        <p:nvSpPr>
          <p:cNvPr id="9" name="Text 6"/>
          <p:cNvSpPr txBox="1"/>
          <p:nvPr/>
        </p:nvSpPr>
        <p:spPr>
          <a:xfrm>
            <a:off x="9354312" y="2596896"/>
            <a:ext cx="2176272" cy="365760"/>
          </a:xfrm>
          <a:prstGeom prst="rect">
            <a:avLst/>
          </a:prstGeom>
          <a:noFill/>
        </p:spPr>
        <p:txBody>
          <a:bodyPr wrap="square" lIns="0" tIns="0" rIns="0" bIns="0" rtlCol="0" anchor="t"/>
          <a:lstStyle/>
          <a:p>
            <a:pPr marL="0" indent="0">
              <a:buNone/>
            </a:pPr>
            <a:r>
              <a:rPr lang="en-US" sz="1800" b="1" dirty="0">
                <a:solidFill>
                  <a:srgbClr val="1E7BD9"/>
                </a:solidFill>
                <a:latin typeface="Arial" panose="020B0704020202020204" pitchFamily="34" charset="0"/>
                <a:ea typeface="Arial" panose="020B0704020202020204" pitchFamily="34" charset="-122"/>
                <a:cs typeface="Arial" panose="020B0704020202020204" pitchFamily="34" charset="-120"/>
              </a:rPr>
              <a:t>≈ 1 m</a:t>
            </a:r>
            <a:endParaRPr lang="en-US" sz="1800" dirty="0"/>
          </a:p>
        </p:txBody>
      </p:sp>
      <p:sp>
        <p:nvSpPr>
          <p:cNvPr id="10" name="Text 7"/>
          <p:cNvSpPr txBox="1"/>
          <p:nvPr/>
        </p:nvSpPr>
        <p:spPr>
          <a:xfrm>
            <a:off x="9354312" y="2980944"/>
            <a:ext cx="2176272" cy="530352"/>
          </a:xfrm>
          <a:prstGeom prst="rect">
            <a:avLst/>
          </a:prstGeom>
          <a:noFill/>
        </p:spPr>
        <p:txBody>
          <a:bodyPr wrap="square" lIns="0" tIns="0" rIns="0" bIns="0" rtlCol="0" anchor="t"/>
          <a:lstStyle/>
          <a:p>
            <a:pPr marL="0" indent="0">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from the bench-side edge of the road (0.67–1.09 m)</a:t>
            </a:r>
            <a:endParaRPr lang="en-US" sz="1100" dirty="0"/>
          </a:p>
        </p:txBody>
      </p:sp>
      <p:sp>
        <p:nvSpPr>
          <p:cNvPr id="11" name="Shape 8"/>
          <p:cNvSpPr/>
          <p:nvPr/>
        </p:nvSpPr>
        <p:spPr>
          <a:xfrm>
            <a:off x="9189720" y="3685032"/>
            <a:ext cx="2450592" cy="1051560"/>
          </a:xfrm>
          <a:prstGeom prst="roundRect">
            <a:avLst>
              <a:gd name="adj" fmla="val 6957"/>
            </a:avLst>
          </a:prstGeom>
          <a:solidFill>
            <a:srgbClr val="EEF3FA"/>
          </a:solidFill>
          <a:ln w="12700">
            <a:solidFill>
              <a:srgbClr val="EEF3FA"/>
            </a:solidFill>
            <a:prstDash val="solid"/>
          </a:ln>
        </p:spPr>
      </p:sp>
      <p:sp>
        <p:nvSpPr>
          <p:cNvPr id="12" name="Text 9"/>
          <p:cNvSpPr txBox="1"/>
          <p:nvPr/>
        </p:nvSpPr>
        <p:spPr>
          <a:xfrm>
            <a:off x="9354312" y="3776472"/>
            <a:ext cx="2176272" cy="365760"/>
          </a:xfrm>
          <a:prstGeom prst="rect">
            <a:avLst/>
          </a:prstGeom>
          <a:noFill/>
        </p:spPr>
        <p:txBody>
          <a:bodyPr wrap="square" lIns="0" tIns="0" rIns="0" bIns="0" rtlCol="0" anchor="t"/>
          <a:lstStyle/>
          <a:p>
            <a:pPr marL="0" indent="0">
              <a:buNone/>
            </a:pPr>
            <a:r>
              <a:rPr lang="en-US" sz="1800" b="1" dirty="0">
                <a:solidFill>
                  <a:srgbClr val="1E7BD9"/>
                </a:solidFill>
                <a:latin typeface="Arial" panose="020B0704020202020204" pitchFamily="34" charset="0"/>
                <a:ea typeface="Arial" panose="020B0704020202020204" pitchFamily="34" charset="-122"/>
                <a:cs typeface="Arial" panose="020B0704020202020204" pitchFamily="34" charset="-120"/>
              </a:rPr>
              <a:t>0.43–0.59 m</a:t>
            </a:r>
            <a:endParaRPr lang="en-US" sz="1800" dirty="0"/>
          </a:p>
        </p:txBody>
      </p:sp>
      <p:sp>
        <p:nvSpPr>
          <p:cNvPr id="13" name="Text 10"/>
          <p:cNvSpPr txBox="1"/>
          <p:nvPr/>
        </p:nvSpPr>
        <p:spPr>
          <a:xfrm>
            <a:off x="9354312" y="4160520"/>
            <a:ext cx="2176272" cy="530352"/>
          </a:xfrm>
          <a:prstGeom prst="rect">
            <a:avLst/>
          </a:prstGeom>
          <a:noFill/>
        </p:spPr>
        <p:txBody>
          <a:bodyPr wrap="square" lIns="0" tIns="0" rIns="0" bIns="0" rtlCol="0" anchor="t"/>
          <a:lstStyle/>
          <a:p>
            <a:pPr marL="0" indent="0">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depth to the top</a:t>
            </a:r>
            <a:endParaRPr lang="en-US" sz="1100" dirty="0"/>
          </a:p>
        </p:txBody>
      </p:sp>
      <p:sp>
        <p:nvSpPr>
          <p:cNvPr id="14" name="Shape 11"/>
          <p:cNvSpPr/>
          <p:nvPr/>
        </p:nvSpPr>
        <p:spPr>
          <a:xfrm>
            <a:off x="9189720" y="4864608"/>
            <a:ext cx="2450592" cy="1051560"/>
          </a:xfrm>
          <a:prstGeom prst="roundRect">
            <a:avLst>
              <a:gd name="adj" fmla="val 6957"/>
            </a:avLst>
          </a:prstGeom>
          <a:solidFill>
            <a:srgbClr val="EEF3FA"/>
          </a:solidFill>
          <a:ln w="12700">
            <a:solidFill>
              <a:srgbClr val="EEF3FA"/>
            </a:solidFill>
            <a:prstDash val="solid"/>
          </a:ln>
        </p:spPr>
      </p:sp>
      <p:sp>
        <p:nvSpPr>
          <p:cNvPr id="15" name="Text 12"/>
          <p:cNvSpPr txBox="1"/>
          <p:nvPr/>
        </p:nvSpPr>
        <p:spPr>
          <a:xfrm>
            <a:off x="9354312" y="4956048"/>
            <a:ext cx="2176272" cy="365760"/>
          </a:xfrm>
          <a:prstGeom prst="rect">
            <a:avLst/>
          </a:prstGeom>
          <a:noFill/>
        </p:spPr>
        <p:txBody>
          <a:bodyPr wrap="square" lIns="0" tIns="0" rIns="0" bIns="0" rtlCol="0" anchor="t"/>
          <a:lstStyle/>
          <a:p>
            <a:pPr marL="0" indent="0">
              <a:buNone/>
            </a:pPr>
            <a:r>
              <a:rPr lang="en-US" sz="1800" b="1" dirty="0">
                <a:solidFill>
                  <a:srgbClr val="5F6368"/>
                </a:solidFill>
                <a:latin typeface="Arial" panose="020B0704020202020204" pitchFamily="34" charset="0"/>
                <a:ea typeface="Arial" panose="020B0704020202020204" pitchFamily="34" charset="-122"/>
                <a:cs typeface="Arial" panose="020B0704020202020204" pitchFamily="34" charset="-120"/>
              </a:rPr>
              <a:t>N1: none</a:t>
            </a:r>
            <a:endParaRPr lang="en-US" sz="1800" dirty="0"/>
          </a:p>
        </p:txBody>
      </p:sp>
      <p:sp>
        <p:nvSpPr>
          <p:cNvPr id="16" name="Text 13"/>
          <p:cNvSpPr txBox="1"/>
          <p:nvPr/>
        </p:nvSpPr>
        <p:spPr>
          <a:xfrm>
            <a:off x="9354312" y="5340096"/>
            <a:ext cx="2176272" cy="530352"/>
          </a:xfrm>
          <a:prstGeom prst="rect">
            <a:avLst/>
          </a:prstGeom>
          <a:noFill/>
        </p:spPr>
        <p:txBody>
          <a:bodyPr wrap="square" lIns="0" tIns="0" rIns="0" bIns="0" rtlCol="0" anchor="t"/>
          <a:lstStyle/>
          <a:p>
            <a:pPr marL="0" indent="0">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only flat pavement layers — we do not claim a pipe</a:t>
            </a:r>
            <a:endParaRPr lang="en-US" sz="1100" dirty="0"/>
          </a:p>
        </p:txBody>
      </p:sp>
      <p:sp>
        <p:nvSpPr>
          <p:cNvPr id="17" name="Text 14"/>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250 MHz; (a) N2, (b) N1, (c) N2 after migration, (d) zoom on the pipe hyperbola. Depth: 0.12 m/ns concrete, 0.10 m/ns soil.</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4.5  Results summary and evaluation</a:t>
            </a:r>
            <a:endParaRPr lang="en-US" sz="2600" dirty="0"/>
          </a:p>
        </p:txBody>
      </p:sp>
      <p:pic>
        <p:nvPicPr>
          <p:cNvPr id="4" name="Image 0" descr="Animated 360-degree view of the survey area with the ground made transparent, showing the water pipe in blue and the power cable in orange with depth labels"/>
          <p:cNvPicPr>
            <a:picLocks noChangeAspect="1"/>
          </p:cNvPicPr>
          <p:nvPr/>
        </p:nvPicPr>
        <p:blipFill>
          <a:blip r:embed="rId1"/>
          <a:stretch>
            <a:fillRect/>
          </a:stretch>
        </p:blipFill>
        <p:spPr>
          <a:xfrm>
            <a:off x="548640" y="1325880"/>
            <a:ext cx="5669280" cy="3191256"/>
          </a:xfrm>
          <a:prstGeom prst="rect">
            <a:avLst/>
          </a:prstGeom>
        </p:spPr>
      </p:pic>
      <p:sp>
        <p:nvSpPr>
          <p:cNvPr id="5" name="Text 2"/>
          <p:cNvSpPr txBox="1"/>
          <p:nvPr/>
        </p:nvSpPr>
        <p:spPr>
          <a:xfrm>
            <a:off x="548640" y="4572000"/>
            <a:ext cx="5669280" cy="411480"/>
          </a:xfrm>
          <a:prstGeom prst="rect">
            <a:avLst/>
          </a:prstGeom>
          <a:noFill/>
        </p:spPr>
        <p:txBody>
          <a:bodyPr wrap="square" lIns="0" tIns="0" rIns="0" bIns="0" rtlCol="0" anchor="t"/>
          <a:lstStyle/>
          <a:p>
            <a:pPr marL="0" indent="0">
              <a:buNone/>
            </a:pPr>
            <a:r>
              <a:rPr lang="en-US" sz="1100" i="1" dirty="0">
                <a:solidFill>
                  <a:srgbClr val="5F6368"/>
                </a:solidFill>
                <a:latin typeface="Arial" panose="020B0704020202020204" pitchFamily="34" charset="0"/>
                <a:ea typeface="Arial" panose="020B0704020202020204" pitchFamily="34" charset="-122"/>
                <a:cs typeface="Arial" panose="020B0704020202020204" pitchFamily="34" charset="-120"/>
              </a:rPr>
              <a:t>360° view, ground made transparent · blue = water pipe · orange = power cable · labels = depth to top</a:t>
            </a:r>
            <a:endParaRPr lang="en-US" sz="1100" dirty="0"/>
          </a:p>
        </p:txBody>
      </p:sp>
      <p:sp>
        <p:nvSpPr>
          <p:cNvPr id="6" name="Shape 3"/>
          <p:cNvSpPr/>
          <p:nvPr/>
        </p:nvSpPr>
        <p:spPr>
          <a:xfrm>
            <a:off x="548640" y="5074920"/>
            <a:ext cx="5669280" cy="914400"/>
          </a:xfrm>
          <a:prstGeom prst="roundRect">
            <a:avLst>
              <a:gd name="adj" fmla="val 8000"/>
            </a:avLst>
          </a:prstGeom>
          <a:solidFill>
            <a:srgbClr val="EEF3FA"/>
          </a:solidFill>
          <a:ln w="12700">
            <a:solidFill>
              <a:srgbClr val="EEF3FA"/>
            </a:solidFill>
            <a:prstDash val="solid"/>
          </a:ln>
        </p:spPr>
      </p:sp>
      <p:sp>
        <p:nvSpPr>
          <p:cNvPr id="7" name="Text 4"/>
          <p:cNvSpPr txBox="1"/>
          <p:nvPr/>
        </p:nvSpPr>
        <p:spPr>
          <a:xfrm>
            <a:off x="731520" y="5138928"/>
            <a:ext cx="5303520" cy="786384"/>
          </a:xfrm>
          <a:prstGeom prst="rect">
            <a:avLst/>
          </a:prstGeom>
          <a:noFill/>
        </p:spPr>
        <p:txBody>
          <a:bodyPr wrap="square" lIns="0" tIns="0" rIns="0" bIns="0" rtlCol="0" anchor="ctr"/>
          <a:lstStyle/>
          <a:p>
            <a:pPr marL="0" indent="0">
              <a:buNone/>
            </a:pPr>
            <a:r>
              <a:rPr lang="en-US" sz="1300" b="1" dirty="0">
                <a:solidFill>
                  <a:srgbClr val="0B4A9E"/>
                </a:solidFill>
                <a:latin typeface="Arial" panose="020B0704020202020204" pitchFamily="34" charset="0"/>
                <a:ea typeface="Arial" panose="020B0704020202020204" pitchFamily="34" charset="-122"/>
                <a:cs typeface="Arial" panose="020B0704020202020204" pitchFamily="34" charset="-120"/>
              </a:rPr>
              <a:t>Depth uncertainty: </a:t>
            </a: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the 2-layer model and the migration velocity (0.095 m/ns) give depths ~20 % apart — about ±0.1 m at 0.5 m.</a:t>
            </a:r>
            <a:endParaRPr lang="en-US" sz="1300" dirty="0"/>
          </a:p>
        </p:txBody>
      </p:sp>
      <p:graphicFrame>
        <p:nvGraphicFramePr>
          <p:cNvPr id="15" name="Table 0"/>
          <p:cNvGraphicFramePr>
            <a:graphicFrameLocks noGrp="1"/>
          </p:cNvGraphicFramePr>
          <p:nvPr/>
        </p:nvGraphicFramePr>
        <p:xfrm>
          <a:off x="6492240" y="1325880"/>
          <a:ext cx="5148072" cy="2468880"/>
        </p:xfrm>
        <a:graphic>
          <a:graphicData uri="http://schemas.openxmlformats.org/drawingml/2006/table">
            <a:tbl>
              <a:tblPr/>
              <a:tblGrid>
                <a:gridCol w="1097280"/>
                <a:gridCol w="914400"/>
                <a:gridCol w="1097280"/>
                <a:gridCol w="1024128"/>
                <a:gridCol w="1014984"/>
              </a:tblGrid>
              <a:tr h="411480">
                <a:tc>
                  <a:txBody>
                    <a:bodyPr/>
                    <a:lstStyle/>
                    <a:p>
                      <a:pPr marL="0" indent="0">
                        <a:buNone/>
                      </a:pPr>
                      <a:r>
                        <a:rPr lang="en-US" sz="1100" b="1" dirty="0">
                          <a:solidFill>
                            <a:srgbClr val="FFFFFF"/>
                          </a:solidFill>
                          <a:latin typeface="Arial" panose="020B0704020202020204" pitchFamily="34" charset="0"/>
                          <a:ea typeface="Arial" panose="020B0704020202020204" pitchFamily="34" charset="-122"/>
                          <a:cs typeface="Arial" panose="020B0704020202020204" pitchFamily="34" charset="-120"/>
                        </a:rPr>
                        <a:t>Target</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100" b="1" dirty="0">
                          <a:solidFill>
                            <a:srgbClr val="FFFFFF"/>
                          </a:solidFill>
                          <a:latin typeface="Arial" panose="020B0704020202020204" pitchFamily="34" charset="0"/>
                          <a:ea typeface="Arial" panose="020B0704020202020204" pitchFamily="34" charset="-122"/>
                          <a:cs typeface="Arial" panose="020B0704020202020204" pitchFamily="34" charset="-120"/>
                        </a:rPr>
                        <a:t>Seen on</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100" b="1" dirty="0">
                          <a:solidFill>
                            <a:srgbClr val="FFFFFF"/>
                          </a:solidFill>
                          <a:latin typeface="Arial" panose="020B0704020202020204" pitchFamily="34" charset="0"/>
                          <a:ea typeface="Arial" panose="020B0704020202020204" pitchFamily="34" charset="-122"/>
                          <a:cs typeface="Arial" panose="020B0704020202020204" pitchFamily="34" charset="-120"/>
                        </a:rPr>
                        <a:t>Path</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100" b="1" dirty="0">
                          <a:solidFill>
                            <a:srgbClr val="FFFFFF"/>
                          </a:solidFill>
                          <a:latin typeface="Arial" panose="020B0704020202020204" pitchFamily="34" charset="0"/>
                          <a:ea typeface="Arial" panose="020B0704020202020204" pitchFamily="34" charset="-122"/>
                          <a:cs typeface="Arial" panose="020B0704020202020204" pitchFamily="34" charset="-120"/>
                        </a:rPr>
                        <a:t>Depth to top</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100" b="1" dirty="0">
                          <a:solidFill>
                            <a:srgbClr val="FFFFFF"/>
                          </a:solidFill>
                          <a:latin typeface="Arial" panose="020B0704020202020204" pitchFamily="34" charset="0"/>
                          <a:ea typeface="Arial" panose="020B0704020202020204" pitchFamily="34" charset="-122"/>
                          <a:cs typeface="Arial" panose="020B0704020202020204" pitchFamily="34" charset="-120"/>
                        </a:rPr>
                        <a:t>Confidence</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r>
              <a:tr h="685800">
                <a:tc>
                  <a:txBody>
                    <a:bodyPr/>
                    <a:lstStyle/>
                    <a:p>
                      <a:pPr marL="0" indent="0">
                        <a:buNone/>
                      </a:pPr>
                      <a:r>
                        <a:rPr lang="en-US" sz="1100" b="1" dirty="0">
                          <a:solidFill>
                            <a:srgbClr val="E8590C"/>
                          </a:solidFill>
                          <a:latin typeface="Arial" panose="020B0704020202020204" pitchFamily="34" charset="0"/>
                          <a:ea typeface="Arial" panose="020B0704020202020204" pitchFamily="34" charset="-122"/>
                          <a:cs typeface="Arial" panose="020B0704020202020204" pitchFamily="34" charset="-120"/>
                        </a:rPr>
                        <a:t>Power cable</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C1–C4 (4/4)</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across the road, 90°</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0.43–0.65 m</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b="1" dirty="0">
                          <a:solidFill>
                            <a:srgbClr val="1E8E3E"/>
                          </a:solidFill>
                          <a:latin typeface="Arial" panose="020B0704020202020204" pitchFamily="34" charset="0"/>
                          <a:ea typeface="Arial" panose="020B0704020202020204" pitchFamily="34" charset="-122"/>
                          <a:cs typeface="Arial" panose="020B0704020202020204" pitchFamily="34" charset="-120"/>
                        </a:rPr>
                        <a:t>High</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685800">
                <a:tc>
                  <a:txBody>
                    <a:bodyPr/>
                    <a:lstStyle/>
                    <a:p>
                      <a:pPr marL="0" indent="0">
                        <a:buNone/>
                      </a:pPr>
                      <a:r>
                        <a:rPr lang="en-US" sz="1100" b="1" dirty="0">
                          <a:solidFill>
                            <a:srgbClr val="1E7BD9"/>
                          </a:solidFill>
                          <a:latin typeface="Arial" panose="020B0704020202020204" pitchFamily="34" charset="0"/>
                          <a:ea typeface="Arial" panose="020B0704020202020204" pitchFamily="34" charset="-122"/>
                          <a:cs typeface="Arial" panose="020B0704020202020204" pitchFamily="34" charset="-120"/>
                        </a:rPr>
                        <a:t>Water pipe</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N2, N4, N5 (3/5)</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along the road, ~1 m from the edge</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0.43–0.59 m</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b="1" dirty="0">
                          <a:solidFill>
                            <a:srgbClr val="B98900"/>
                          </a:solidFill>
                          <a:latin typeface="Arial" panose="020B0704020202020204" pitchFamily="34" charset="0"/>
                          <a:ea typeface="Arial" panose="020B0704020202020204" pitchFamily="34" charset="-122"/>
                          <a:cs typeface="Arial" panose="020B0704020202020204" pitchFamily="34" charset="-120"/>
                        </a:rPr>
                        <a:t>Medium</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685800">
                <a:tc>
                  <a:txBody>
                    <a:bodyPr/>
                    <a:lstStyle/>
                    <a:p>
                      <a:pPr marL="0" indent="0">
                        <a:buNone/>
                      </a:pPr>
                      <a:r>
                        <a:rPr lang="en-US" sz="1100" b="1" dirty="0">
                          <a:solidFill>
                            <a:srgbClr val="5F6368"/>
                          </a:solidFill>
                          <a:latin typeface="Arial" panose="020B0704020202020204" pitchFamily="34" charset="0"/>
                          <a:ea typeface="Arial" panose="020B0704020202020204" pitchFamily="34" charset="-122"/>
                          <a:cs typeface="Arial" panose="020B0704020202020204" pitchFamily="34" charset="-120"/>
                        </a:rPr>
                        <a:t>Other reflectors O1–O5</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1 line each</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0.26–0.90 m</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100" b="1" dirty="0">
                          <a:solidFill>
                            <a:srgbClr val="5F6368"/>
                          </a:solidFill>
                          <a:latin typeface="Arial" panose="020B0704020202020204" pitchFamily="34" charset="0"/>
                          <a:ea typeface="Arial" panose="020B0704020202020204" pitchFamily="34" charset="-122"/>
                          <a:cs typeface="Arial" panose="020B0704020202020204" pitchFamily="34" charset="-120"/>
                        </a:rPr>
                        <a:t>Low</a:t>
                      </a:r>
                      <a:endParaRPr lang="en-US" sz="1100" dirty="0">
                        <a:latin typeface="Arial" panose="020B0704020202020204" pitchFamily="34" charset="0"/>
                        <a:ea typeface="Arial" panose="020B0704020202020204" pitchFamily="34" charset="0"/>
                        <a:cs typeface="Arial" panose="020B0704020202020204" pitchFamily="34" charset="0"/>
                      </a:endParaRPr>
                    </a:p>
                  </a:txBody>
                  <a:tcPr marL="54864" marR="54864" marT="54864" marB="54864"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bl>
          </a:graphicData>
        </a:graphic>
      </p:graphicFrame>
      <p:sp>
        <p:nvSpPr>
          <p:cNvPr id="9" name="Shape 5"/>
          <p:cNvSpPr/>
          <p:nvPr/>
        </p:nvSpPr>
        <p:spPr>
          <a:xfrm>
            <a:off x="6492240" y="4023360"/>
            <a:ext cx="5148072" cy="1965960"/>
          </a:xfrm>
          <a:prstGeom prst="roundRect">
            <a:avLst>
              <a:gd name="adj" fmla="val 3721"/>
            </a:avLst>
          </a:prstGeom>
          <a:solidFill>
            <a:srgbClr val="EEF3FA"/>
          </a:solidFill>
          <a:ln w="12700">
            <a:solidFill>
              <a:srgbClr val="EEF3FA"/>
            </a:solidFill>
            <a:prstDash val="solid"/>
          </a:ln>
        </p:spPr>
      </p:sp>
      <p:sp>
        <p:nvSpPr>
          <p:cNvPr id="10" name="Text 6"/>
          <p:cNvSpPr txBox="1"/>
          <p:nvPr/>
        </p:nvSpPr>
        <p:spPr>
          <a:xfrm>
            <a:off x="6675120" y="4133088"/>
            <a:ext cx="4754880" cy="320040"/>
          </a:xfrm>
          <a:prstGeom prst="rect">
            <a:avLst/>
          </a:prstGeom>
          <a:noFill/>
        </p:spPr>
        <p:txBody>
          <a:bodyPr wrap="square" lIns="0" tIns="0" rIns="0" bIns="0" rtlCol="0" anchor="t"/>
          <a:lstStyle/>
          <a:p>
            <a:pPr marL="0" indent="0">
              <a:buNone/>
            </a:pPr>
            <a:r>
              <a:rPr lang="en-US" sz="1600" b="1" dirty="0">
                <a:solidFill>
                  <a:srgbClr val="0B4A9E"/>
                </a:solidFill>
                <a:latin typeface="Arial" panose="020B0704020202020204" pitchFamily="34" charset="0"/>
                <a:ea typeface="Arial" panose="020B0704020202020204" pitchFamily="34" charset="-122"/>
                <a:cs typeface="Arial" panose="020B0704020202020204" pitchFamily="34" charset="-120"/>
              </a:rPr>
              <a:t>Evaluation</a:t>
            </a:r>
            <a:endParaRPr lang="en-US" sz="1600" dirty="0"/>
          </a:p>
        </p:txBody>
      </p:sp>
      <p:sp>
        <p:nvSpPr>
          <p:cNvPr id="11" name="Text 7"/>
          <p:cNvSpPr txBox="1"/>
          <p:nvPr/>
        </p:nvSpPr>
        <p:spPr>
          <a:xfrm>
            <a:off x="6675120" y="4480560"/>
            <a:ext cx="4800600" cy="1463040"/>
          </a:xfrm>
          <a:prstGeom prst="rect">
            <a:avLst/>
          </a:prstGeom>
          <a:noFill/>
        </p:spPr>
        <p:txBody>
          <a:bodyPr wrap="square" lIns="0" tIns="0" rIns="0" bIns="0" rtlCol="0" anchor="t"/>
          <a:lstStyle/>
          <a:p>
            <a:pPr marL="177800" indent="-177800">
              <a:spcAft>
                <a:spcPts val="300"/>
              </a:spcAft>
              <a:buSzPct val="100000"/>
              <a:buChar char="•"/>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Cable: the same ringing echo on 4 parallel lines, in line with the marks made on site.</a:t>
            </a:r>
            <a:endParaRPr lang="en-US" sz="1300" dirty="0"/>
          </a:p>
          <a:p>
            <a:pPr marL="177800" indent="-177800">
              <a:spcAft>
                <a:spcPts val="300"/>
              </a:spcAft>
              <a:buSzPct val="100000"/>
              <a:buChar char="•"/>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Pipe: seen on 3 of 5 crossing lines; the path between lines is interpolated.</a:t>
            </a:r>
            <a:endParaRPr lang="en-US" sz="1300" dirty="0"/>
          </a:p>
          <a:p>
            <a:pPr marL="177800" indent="-177800">
              <a:spcAft>
                <a:spcPts val="300"/>
              </a:spcAft>
              <a:buSzPct val="100000"/>
              <a:buChar char="•"/>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O1–O5 appear on one line only, so they are not interpreted.</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
          <p:cNvSpPr txBox="1"/>
          <p:nvPr/>
        </p:nvSpPr>
        <p:spPr>
          <a:xfrm>
            <a:off x="548640" y="182880"/>
            <a:ext cx="10241280" cy="256032"/>
          </a:xfrm>
          <a:prstGeom prst="rect">
            <a:avLst/>
          </a:prstGeom>
          <a:noFill/>
        </p:spPr>
        <p:txBody>
          <a:bodyPr wrap="square" lIns="0" tIns="0" rIns="0" bIns="0" rtlCol="0" anchor="t"/>
          <a:lstStyle/>
          <a:p>
            <a:pPr marL="0" indent="0">
              <a:buNone/>
            </a:pP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1  Introduction</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2  Overview</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3  Methods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4  Results</a:t>
            </a:r>
            <a:r>
              <a:rPr lang="en-US" sz="1100" dirty="0">
                <a:solidFill>
                  <a:srgbClr val="9AA0A6"/>
                </a:solidFill>
                <a:latin typeface="Arial" panose="020B0704020202020204" pitchFamily="34" charset="0"/>
                <a:ea typeface="Arial" panose="020B0704020202020204" pitchFamily="34" charset="-122"/>
                <a:cs typeface="Arial" panose="020B0704020202020204" pitchFamily="34" charset="-120"/>
              </a:rPr>
              <a:t>      </a:t>
            </a:r>
            <a:r>
              <a:rPr lang="en-US" sz="1100" b="1" dirty="0">
                <a:solidFill>
                  <a:srgbClr val="0B4A9E"/>
                </a:solidFill>
                <a:latin typeface="Arial" panose="020B0704020202020204" pitchFamily="34" charset="0"/>
                <a:ea typeface="Arial" panose="020B0704020202020204" pitchFamily="34" charset="-122"/>
                <a:cs typeface="Arial" panose="020B0704020202020204" pitchFamily="34" charset="-120"/>
              </a:rPr>
              <a:t>5  Conclusions</a:t>
            </a:r>
            <a:endParaRPr lang="en-US" sz="1100" dirty="0"/>
          </a:p>
        </p:txBody>
      </p:sp>
      <p:sp>
        <p:nvSpPr>
          <p:cNvPr id="3"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5  Conclusions and recommendations</a:t>
            </a:r>
            <a:endParaRPr lang="en-US" sz="2600" dirty="0"/>
          </a:p>
        </p:txBody>
      </p:sp>
      <p:sp>
        <p:nvSpPr>
          <p:cNvPr id="4" name="Text 2"/>
          <p:cNvSpPr txBox="1"/>
          <p:nvPr/>
        </p:nvSpPr>
        <p:spPr>
          <a:xfrm>
            <a:off x="548640" y="1371600"/>
            <a:ext cx="5486400" cy="411480"/>
          </a:xfrm>
          <a:prstGeom prst="rect">
            <a:avLst/>
          </a:prstGeom>
          <a:noFill/>
        </p:spPr>
        <p:txBody>
          <a:bodyPr wrap="square" lIns="0" tIns="0" rIns="0" bIns="0" rtlCol="0" anchor="t"/>
          <a:lstStyle/>
          <a:p>
            <a:pPr marL="0" indent="0">
              <a:buNone/>
            </a:pPr>
            <a:r>
              <a:rPr lang="en-US" sz="2000" b="1" dirty="0">
                <a:solidFill>
                  <a:srgbClr val="0B4A9E"/>
                </a:solidFill>
                <a:latin typeface="Arial" panose="020B0704020202020204" pitchFamily="34" charset="0"/>
                <a:ea typeface="Arial" panose="020B0704020202020204" pitchFamily="34" charset="-122"/>
                <a:cs typeface="Arial" panose="020B0704020202020204" pitchFamily="34" charset="-120"/>
              </a:rPr>
              <a:t>Conclusions</a:t>
            </a:r>
            <a:endParaRPr lang="en-US" sz="2000" dirty="0"/>
          </a:p>
        </p:txBody>
      </p:sp>
      <p:sp>
        <p:nvSpPr>
          <p:cNvPr id="5" name="Shape 3"/>
          <p:cNvSpPr/>
          <p:nvPr/>
        </p:nvSpPr>
        <p:spPr>
          <a:xfrm>
            <a:off x="548640" y="1965960"/>
            <a:ext cx="502920" cy="502920"/>
          </a:xfrm>
          <a:prstGeom prst="ellipse">
            <a:avLst/>
          </a:prstGeom>
          <a:solidFill>
            <a:srgbClr val="0B4A9E"/>
          </a:solidFill>
          <a:ln w="12700">
            <a:solidFill>
              <a:srgbClr val="0B4A9E"/>
            </a:solidFill>
            <a:prstDash val="solid"/>
          </a:ln>
        </p:spPr>
      </p:sp>
      <p:sp>
        <p:nvSpPr>
          <p:cNvPr id="6" name="Text 4"/>
          <p:cNvSpPr txBox="1"/>
          <p:nvPr/>
        </p:nvSpPr>
        <p:spPr>
          <a:xfrm>
            <a:off x="548640" y="196596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Arial" panose="020B0704020202020204" pitchFamily="34" charset="0"/>
                <a:ea typeface="Arial" panose="020B0704020202020204" pitchFamily="34" charset="-122"/>
                <a:cs typeface="Arial" panose="020B0704020202020204" pitchFamily="34" charset="-120"/>
              </a:rPr>
              <a:t>1</a:t>
            </a:r>
            <a:endParaRPr lang="en-US" sz="2000" dirty="0"/>
          </a:p>
        </p:txBody>
      </p:sp>
      <p:sp>
        <p:nvSpPr>
          <p:cNvPr id="7" name="Text 5"/>
          <p:cNvSpPr txBox="1"/>
          <p:nvPr/>
        </p:nvSpPr>
        <p:spPr>
          <a:xfrm>
            <a:off x="1280160" y="1947672"/>
            <a:ext cx="4754880" cy="822960"/>
          </a:xfrm>
          <a:prstGeom prst="rect">
            <a:avLst/>
          </a:prstGeom>
          <a:noFill/>
        </p:spPr>
        <p:txBody>
          <a:bodyPr wrap="square" lIns="0" tIns="0" rIns="0" bIns="0" rtlCol="0" anchor="t"/>
          <a:lstStyle/>
          <a:p>
            <a:pPr marL="0" indent="0">
              <a:buNone/>
            </a:pPr>
            <a:r>
              <a:rPr lang="en-US" sz="1700" dirty="0">
                <a:solidFill>
                  <a:srgbClr val="1B1B1D"/>
                </a:solidFill>
                <a:latin typeface="Arial" panose="020B0704020202020204" pitchFamily="34" charset="0"/>
                <a:ea typeface="Arial" panose="020B0704020202020204" pitchFamily="34" charset="-122"/>
                <a:cs typeface="Arial" panose="020B0704020202020204" pitchFamily="34" charset="-120"/>
              </a:rPr>
              <a:t>GPR located a power cable and a water pipe under asphalt — without digging.</a:t>
            </a:r>
            <a:endParaRPr lang="en-US" sz="1700" dirty="0"/>
          </a:p>
        </p:txBody>
      </p:sp>
      <p:sp>
        <p:nvSpPr>
          <p:cNvPr id="8" name="Shape 6"/>
          <p:cNvSpPr/>
          <p:nvPr/>
        </p:nvSpPr>
        <p:spPr>
          <a:xfrm>
            <a:off x="548640" y="3017520"/>
            <a:ext cx="502920" cy="502920"/>
          </a:xfrm>
          <a:prstGeom prst="ellipse">
            <a:avLst/>
          </a:prstGeom>
          <a:solidFill>
            <a:srgbClr val="0B4A9E"/>
          </a:solidFill>
          <a:ln w="12700">
            <a:solidFill>
              <a:srgbClr val="0B4A9E"/>
            </a:solidFill>
            <a:prstDash val="solid"/>
          </a:ln>
        </p:spPr>
      </p:sp>
      <p:sp>
        <p:nvSpPr>
          <p:cNvPr id="9" name="Text 7"/>
          <p:cNvSpPr txBox="1"/>
          <p:nvPr/>
        </p:nvSpPr>
        <p:spPr>
          <a:xfrm>
            <a:off x="548640" y="301752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Arial" panose="020B0704020202020204" pitchFamily="34" charset="0"/>
                <a:ea typeface="Arial" panose="020B0704020202020204" pitchFamily="34" charset="-122"/>
                <a:cs typeface="Arial" panose="020B0704020202020204" pitchFamily="34" charset="-120"/>
              </a:rPr>
              <a:t>2</a:t>
            </a:r>
            <a:endParaRPr lang="en-US" sz="2000" dirty="0"/>
          </a:p>
        </p:txBody>
      </p:sp>
      <p:sp>
        <p:nvSpPr>
          <p:cNvPr id="10" name="Text 8"/>
          <p:cNvSpPr txBox="1"/>
          <p:nvPr/>
        </p:nvSpPr>
        <p:spPr>
          <a:xfrm>
            <a:off x="1280160" y="2999232"/>
            <a:ext cx="4754880" cy="822960"/>
          </a:xfrm>
          <a:prstGeom prst="rect">
            <a:avLst/>
          </a:prstGeom>
          <a:noFill/>
        </p:spPr>
        <p:txBody>
          <a:bodyPr wrap="square" lIns="0" tIns="0" rIns="0" bIns="0" rtlCol="0" anchor="t"/>
          <a:lstStyle/>
          <a:p>
            <a:pPr marL="0" indent="0">
              <a:buNone/>
            </a:pPr>
            <a:r>
              <a:rPr lang="en-US" sz="1700" dirty="0">
                <a:solidFill>
                  <a:srgbClr val="1B1B1D"/>
                </a:solidFill>
                <a:latin typeface="Arial" panose="020B0704020202020204" pitchFamily="34" charset="0"/>
                <a:ea typeface="Arial" panose="020B0704020202020204" pitchFamily="34" charset="-122"/>
                <a:cs typeface="Arial" panose="020B0704020202020204" pitchFamily="34" charset="-120"/>
              </a:rPr>
              <a:t>Crossing the target at a right angle is what makes the hyperbola visible.</a:t>
            </a:r>
            <a:endParaRPr lang="en-US" sz="1700" dirty="0"/>
          </a:p>
        </p:txBody>
      </p:sp>
      <p:sp>
        <p:nvSpPr>
          <p:cNvPr id="11" name="Shape 9"/>
          <p:cNvSpPr/>
          <p:nvPr/>
        </p:nvSpPr>
        <p:spPr>
          <a:xfrm>
            <a:off x="548640" y="4069080"/>
            <a:ext cx="502920" cy="502920"/>
          </a:xfrm>
          <a:prstGeom prst="ellipse">
            <a:avLst/>
          </a:prstGeom>
          <a:solidFill>
            <a:srgbClr val="0B4A9E"/>
          </a:solidFill>
          <a:ln w="12700">
            <a:solidFill>
              <a:srgbClr val="0B4A9E"/>
            </a:solidFill>
            <a:prstDash val="solid"/>
          </a:ln>
        </p:spPr>
      </p:sp>
      <p:sp>
        <p:nvSpPr>
          <p:cNvPr id="12" name="Text 10"/>
          <p:cNvSpPr txBox="1"/>
          <p:nvPr/>
        </p:nvSpPr>
        <p:spPr>
          <a:xfrm>
            <a:off x="548640" y="406908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Arial" panose="020B0704020202020204" pitchFamily="34" charset="0"/>
                <a:ea typeface="Arial" panose="020B0704020202020204" pitchFamily="34" charset="-122"/>
                <a:cs typeface="Arial" panose="020B0704020202020204" pitchFamily="34" charset="-120"/>
              </a:rPr>
              <a:t>3</a:t>
            </a:r>
            <a:endParaRPr lang="en-US" sz="2000" dirty="0"/>
          </a:p>
        </p:txBody>
      </p:sp>
      <p:sp>
        <p:nvSpPr>
          <p:cNvPr id="13" name="Text 11"/>
          <p:cNvSpPr txBox="1"/>
          <p:nvPr/>
        </p:nvSpPr>
        <p:spPr>
          <a:xfrm>
            <a:off x="1280160" y="4050792"/>
            <a:ext cx="4754880" cy="822960"/>
          </a:xfrm>
          <a:prstGeom prst="rect">
            <a:avLst/>
          </a:prstGeom>
          <a:noFill/>
        </p:spPr>
        <p:txBody>
          <a:bodyPr wrap="square" lIns="0" tIns="0" rIns="0" bIns="0" rtlCol="0" anchor="t"/>
          <a:lstStyle/>
          <a:p>
            <a:pPr marL="0" indent="0">
              <a:buNone/>
            </a:pPr>
            <a:r>
              <a:rPr lang="en-US" sz="1700" dirty="0">
                <a:solidFill>
                  <a:srgbClr val="1B1B1D"/>
                </a:solidFill>
                <a:latin typeface="Arial" panose="020B0704020202020204" pitchFamily="34" charset="0"/>
                <a:ea typeface="Arial" panose="020B0704020202020204" pitchFamily="34" charset="-122"/>
                <a:cs typeface="Arial" panose="020B0704020202020204" pitchFamily="34" charset="-120"/>
              </a:rPr>
              <a:t>700 MHz gives sharp images, 250 MHz sees deeper — using both is safer.</a:t>
            </a:r>
            <a:endParaRPr lang="en-US" sz="1700" dirty="0"/>
          </a:p>
        </p:txBody>
      </p:sp>
      <p:sp>
        <p:nvSpPr>
          <p:cNvPr id="14" name="Text 12"/>
          <p:cNvSpPr txBox="1"/>
          <p:nvPr/>
        </p:nvSpPr>
        <p:spPr>
          <a:xfrm>
            <a:off x="6492240" y="1371600"/>
            <a:ext cx="5120640" cy="411480"/>
          </a:xfrm>
          <a:prstGeom prst="rect">
            <a:avLst/>
          </a:prstGeom>
          <a:noFill/>
        </p:spPr>
        <p:txBody>
          <a:bodyPr wrap="square" lIns="0" tIns="0" rIns="0" bIns="0" rtlCol="0" anchor="t"/>
          <a:lstStyle/>
          <a:p>
            <a:pPr marL="0" indent="0">
              <a:buNone/>
            </a:pPr>
            <a:r>
              <a:rPr lang="en-US" sz="2000" b="1" dirty="0">
                <a:solidFill>
                  <a:srgbClr val="0B4A9E"/>
                </a:solidFill>
                <a:latin typeface="Arial" panose="020B0704020202020204" pitchFamily="34" charset="0"/>
                <a:ea typeface="Arial" panose="020B0704020202020204" pitchFamily="34" charset="-122"/>
                <a:cs typeface="Arial" panose="020B0704020202020204" pitchFamily="34" charset="-120"/>
              </a:rPr>
              <a:t>Limitations → recommendations</a:t>
            </a:r>
            <a:endParaRPr lang="en-US" sz="2000" dirty="0"/>
          </a:p>
        </p:txBody>
      </p:sp>
      <p:sp>
        <p:nvSpPr>
          <p:cNvPr id="15" name="Shape 13"/>
          <p:cNvSpPr/>
          <p:nvPr/>
        </p:nvSpPr>
        <p:spPr>
          <a:xfrm>
            <a:off x="6492240" y="1920240"/>
            <a:ext cx="5120640" cy="1005840"/>
          </a:xfrm>
          <a:prstGeom prst="roundRect">
            <a:avLst>
              <a:gd name="adj" fmla="val 7273"/>
            </a:avLst>
          </a:prstGeom>
          <a:solidFill>
            <a:srgbClr val="EEF3FA"/>
          </a:solidFill>
          <a:ln w="12700">
            <a:solidFill>
              <a:srgbClr val="EEF3FA"/>
            </a:solidFill>
            <a:prstDash val="solid"/>
          </a:ln>
        </p:spPr>
      </p:sp>
      <p:sp>
        <p:nvSpPr>
          <p:cNvPr id="16" name="Text 14"/>
          <p:cNvSpPr txBox="1"/>
          <p:nvPr/>
        </p:nvSpPr>
        <p:spPr>
          <a:xfrm>
            <a:off x="6720840" y="2029968"/>
            <a:ext cx="4663440" cy="457200"/>
          </a:xfrm>
          <a:prstGeom prst="rect">
            <a:avLst/>
          </a:prstGeom>
          <a:noFill/>
        </p:spPr>
        <p:txBody>
          <a:bodyPr wrap="square" lIns="0" tIns="0" rIns="0" bIns="0" rtlCol="0" anchor="t"/>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Depth depends on the velocity: 2-layer model vs 0.095 m/ns shifts depths by ~20 %.</a:t>
            </a:r>
            <a:endParaRPr lang="en-US" sz="1400" dirty="0"/>
          </a:p>
        </p:txBody>
      </p:sp>
      <p:sp>
        <p:nvSpPr>
          <p:cNvPr id="17" name="Text 15"/>
          <p:cNvSpPr txBox="1"/>
          <p:nvPr/>
        </p:nvSpPr>
        <p:spPr>
          <a:xfrm>
            <a:off x="6720840" y="2551176"/>
            <a:ext cx="4663440" cy="274320"/>
          </a:xfrm>
          <a:prstGeom prst="rect">
            <a:avLst/>
          </a:prstGeom>
          <a:noFill/>
        </p:spPr>
        <p:txBody>
          <a:bodyPr wrap="square" lIns="0" tIns="0" rIns="0" bIns="0" rtlCol="0" anchor="t"/>
          <a:lstStyle/>
          <a:p>
            <a:pPr marL="0" indent="0">
              <a:buNone/>
            </a:pPr>
            <a:r>
              <a:rPr lang="en-US" sz="1400" b="1" dirty="0">
                <a:solidFill>
                  <a:srgbClr val="C9A227"/>
                </a:solidFill>
                <a:latin typeface="Arial" panose="020B0704020202020204" pitchFamily="34" charset="0"/>
                <a:ea typeface="Arial" panose="020B0704020202020204" pitchFamily="34" charset="-122"/>
                <a:cs typeface="Arial" panose="020B0704020202020204" pitchFamily="34" charset="-120"/>
              </a:rPr>
              <a:t>→ </a:t>
            </a: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Calibrate with the RD7000 or one small test pit.</a:t>
            </a:r>
            <a:endParaRPr lang="en-US" sz="1400" dirty="0"/>
          </a:p>
        </p:txBody>
      </p:sp>
      <p:sp>
        <p:nvSpPr>
          <p:cNvPr id="18" name="Shape 16"/>
          <p:cNvSpPr/>
          <p:nvPr/>
        </p:nvSpPr>
        <p:spPr>
          <a:xfrm>
            <a:off x="6492240" y="3035808"/>
            <a:ext cx="5120640" cy="1005840"/>
          </a:xfrm>
          <a:prstGeom prst="roundRect">
            <a:avLst>
              <a:gd name="adj" fmla="val 7273"/>
            </a:avLst>
          </a:prstGeom>
          <a:solidFill>
            <a:srgbClr val="EEF3FA"/>
          </a:solidFill>
          <a:ln w="12700">
            <a:solidFill>
              <a:srgbClr val="EEF3FA"/>
            </a:solidFill>
            <a:prstDash val="solid"/>
          </a:ln>
        </p:spPr>
      </p:sp>
      <p:sp>
        <p:nvSpPr>
          <p:cNvPr id="19" name="Text 17"/>
          <p:cNvSpPr txBox="1"/>
          <p:nvPr/>
        </p:nvSpPr>
        <p:spPr>
          <a:xfrm>
            <a:off x="6720840" y="3145536"/>
            <a:ext cx="4663440" cy="457200"/>
          </a:xfrm>
          <a:prstGeom prst="rect">
            <a:avLst/>
          </a:prstGeom>
          <a:noFill/>
        </p:spPr>
        <p:txBody>
          <a:bodyPr wrap="square" lIns="0" tIns="0" rIns="0" bIns="0" rtlCol="0" anchor="t"/>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Line positions were paced, not surveyed; reversed lines were placed from field marks.</a:t>
            </a:r>
            <a:endParaRPr lang="en-US" sz="1400" dirty="0"/>
          </a:p>
        </p:txBody>
      </p:sp>
      <p:sp>
        <p:nvSpPr>
          <p:cNvPr id="20" name="Text 18"/>
          <p:cNvSpPr txBox="1"/>
          <p:nvPr/>
        </p:nvSpPr>
        <p:spPr>
          <a:xfrm>
            <a:off x="6720840" y="3666744"/>
            <a:ext cx="4663440" cy="274320"/>
          </a:xfrm>
          <a:prstGeom prst="rect">
            <a:avLst/>
          </a:prstGeom>
          <a:noFill/>
        </p:spPr>
        <p:txBody>
          <a:bodyPr wrap="square" lIns="0" tIns="0" rIns="0" bIns="0" rtlCol="0" anchor="t"/>
          <a:lstStyle/>
          <a:p>
            <a:pPr marL="0" indent="0">
              <a:buNone/>
            </a:pPr>
            <a:r>
              <a:rPr lang="en-US" sz="1400" b="1" dirty="0">
                <a:solidFill>
                  <a:srgbClr val="C9A227"/>
                </a:solidFill>
                <a:latin typeface="Arial" panose="020B0704020202020204" pitchFamily="34" charset="0"/>
                <a:ea typeface="Arial" panose="020B0704020202020204" pitchFamily="34" charset="-122"/>
                <a:cs typeface="Arial" panose="020B0704020202020204" pitchFamily="34" charset="-120"/>
              </a:rPr>
              <a:t>→ </a:t>
            </a: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Fix line positions with GPS or a total station.</a:t>
            </a:r>
            <a:endParaRPr lang="en-US" sz="1400" dirty="0"/>
          </a:p>
        </p:txBody>
      </p:sp>
      <p:sp>
        <p:nvSpPr>
          <p:cNvPr id="21" name="Shape 19"/>
          <p:cNvSpPr/>
          <p:nvPr/>
        </p:nvSpPr>
        <p:spPr>
          <a:xfrm>
            <a:off x="6492240" y="4151376"/>
            <a:ext cx="5120640" cy="1005840"/>
          </a:xfrm>
          <a:prstGeom prst="roundRect">
            <a:avLst>
              <a:gd name="adj" fmla="val 7273"/>
            </a:avLst>
          </a:prstGeom>
          <a:solidFill>
            <a:srgbClr val="EEF3FA"/>
          </a:solidFill>
          <a:ln w="12700">
            <a:solidFill>
              <a:srgbClr val="EEF3FA"/>
            </a:solidFill>
            <a:prstDash val="solid"/>
          </a:ln>
        </p:spPr>
      </p:sp>
      <p:sp>
        <p:nvSpPr>
          <p:cNvPr id="22" name="Text 20"/>
          <p:cNvSpPr txBox="1"/>
          <p:nvPr/>
        </p:nvSpPr>
        <p:spPr>
          <a:xfrm>
            <a:off x="6720840" y="4261104"/>
            <a:ext cx="4663440" cy="457200"/>
          </a:xfrm>
          <a:prstGeom prst="rect">
            <a:avLst/>
          </a:prstGeom>
          <a:noFill/>
        </p:spPr>
        <p:txBody>
          <a:bodyPr wrap="square" lIns="0" tIns="0" rIns="0" bIns="0" rtlCol="0" anchor="t"/>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Pipe diameter not determined: its hyperbola does not focus; sizes seen are resolution-limited.</a:t>
            </a:r>
            <a:endParaRPr lang="en-US" sz="1400" dirty="0"/>
          </a:p>
        </p:txBody>
      </p:sp>
      <p:sp>
        <p:nvSpPr>
          <p:cNvPr id="23" name="Text 21"/>
          <p:cNvSpPr txBox="1"/>
          <p:nvPr/>
        </p:nvSpPr>
        <p:spPr>
          <a:xfrm>
            <a:off x="6720840" y="4782312"/>
            <a:ext cx="4663440" cy="274320"/>
          </a:xfrm>
          <a:prstGeom prst="rect">
            <a:avLst/>
          </a:prstGeom>
          <a:noFill/>
        </p:spPr>
        <p:txBody>
          <a:bodyPr wrap="square" lIns="0" tIns="0" rIns="0" bIns="0" rtlCol="0" anchor="t"/>
          <a:lstStyle/>
          <a:p>
            <a:pPr marL="0" indent="0">
              <a:buNone/>
            </a:pPr>
            <a:r>
              <a:rPr lang="en-US" sz="1400" b="1" dirty="0">
                <a:solidFill>
                  <a:srgbClr val="C9A227"/>
                </a:solidFill>
                <a:latin typeface="Arial" panose="020B0704020202020204" pitchFamily="34" charset="0"/>
                <a:ea typeface="Arial" panose="020B0704020202020204" pitchFamily="34" charset="-122"/>
                <a:cs typeface="Arial" panose="020B0704020202020204" pitchFamily="34" charset="-120"/>
              </a:rPr>
              <a:t>→ </a:t>
            </a: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Fit the pipe radius on 700 MHz hyperbolas.</a:t>
            </a:r>
            <a:endParaRPr lang="en-US" sz="1400" dirty="0"/>
          </a:p>
        </p:txBody>
      </p:sp>
      <p:sp>
        <p:nvSpPr>
          <p:cNvPr id="24" name="Text 22"/>
          <p:cNvSpPr txBox="1"/>
          <p:nvPr/>
        </p:nvSpPr>
        <p:spPr>
          <a:xfrm>
            <a:off x="548640" y="5532120"/>
            <a:ext cx="11064240" cy="548640"/>
          </a:xfrm>
          <a:prstGeom prst="rect">
            <a:avLst/>
          </a:prstGeom>
          <a:noFill/>
        </p:spPr>
        <p:txBody>
          <a:bodyPr wrap="square" lIns="0" tIns="0" rIns="0" bIns="0" rtlCol="0" anchor="t"/>
          <a:lstStyle/>
          <a:p>
            <a:pPr marL="0" indent="0">
              <a:buNone/>
            </a:pPr>
            <a:r>
              <a:rPr lang="en-US" sz="1700" b="1" i="1" dirty="0">
                <a:solidFill>
                  <a:srgbClr val="0B4A9E"/>
                </a:solidFill>
                <a:latin typeface="Arial" panose="020B0704020202020204" pitchFamily="34" charset="0"/>
                <a:ea typeface="Arial" panose="020B0704020202020204" pitchFamily="34" charset="-122"/>
                <a:cs typeface="Arial" panose="020B0704020202020204" pitchFamily="34" charset="-120"/>
              </a:rPr>
              <a:t>28 %</a:t>
            </a:r>
            <a:r>
              <a:rPr lang="en-US" sz="1700" i="1" dirty="0">
                <a:solidFill>
                  <a:srgbClr val="1B1B1D"/>
                </a:solidFill>
                <a:latin typeface="Arial" panose="020B0704020202020204" pitchFamily="34" charset="0"/>
                <a:ea typeface="Arial" panose="020B0704020202020204" pitchFamily="34" charset="-122"/>
                <a:cs typeface="Arial" panose="020B0704020202020204" pitchFamily="34" charset="-120"/>
              </a:rPr>
              <a:t> of utility strikes in the US are traced to locating errors (CGA, 2019). Locating well is exactly what GPR is for.</a:t>
            </a:r>
            <a:endParaRPr lang="en-US" sz="17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0B4A9E"/>
          </a:solidFill>
          <a:ln w="12700">
            <a:solidFill>
              <a:srgbClr val="0B4A9E"/>
            </a:solidFill>
            <a:prstDash val="solid"/>
          </a:ln>
        </p:spPr>
      </p:sp>
      <p:pic>
        <p:nvPicPr>
          <p:cNvPr id="3" name="Image 0" descr="HCMUS logo"/>
          <p:cNvPicPr>
            <a:picLocks noChangeAspect="1"/>
          </p:cNvPicPr>
          <p:nvPr/>
        </p:nvPicPr>
        <p:blipFill>
          <a:blip r:embed="rId1"/>
          <a:stretch>
            <a:fillRect/>
          </a:stretch>
        </p:blipFill>
        <p:spPr>
          <a:xfrm>
            <a:off x="640080" y="411480"/>
            <a:ext cx="667512" cy="548640"/>
          </a:xfrm>
          <a:prstGeom prst="rect">
            <a:avLst/>
          </a:prstGeom>
        </p:spPr>
      </p:pic>
      <p:sp>
        <p:nvSpPr>
          <p:cNvPr id="4" name="Text 1"/>
          <p:cNvSpPr txBox="1"/>
          <p:nvPr/>
        </p:nvSpPr>
        <p:spPr>
          <a:xfrm>
            <a:off x="640080" y="1188720"/>
            <a:ext cx="4114800" cy="411480"/>
          </a:xfrm>
          <a:prstGeom prst="rect">
            <a:avLst/>
          </a:prstGeom>
          <a:noFill/>
        </p:spPr>
        <p:txBody>
          <a:bodyPr wrap="square" lIns="0" tIns="0" rIns="0" bIns="0" rtlCol="0" anchor="t"/>
          <a:lstStyle/>
          <a:p>
            <a:pPr marL="0" indent="0">
              <a:buNone/>
            </a:pPr>
            <a:r>
              <a:rPr lang="en-US" sz="2000" dirty="0">
                <a:solidFill>
                  <a:srgbClr val="D6E2F3"/>
                </a:solidFill>
                <a:latin typeface="Arial" panose="020B0704020202020204" pitchFamily="34" charset="0"/>
                <a:ea typeface="Arial" panose="020B0704020202020204" pitchFamily="34" charset="-122"/>
                <a:cs typeface="Arial" panose="020B0704020202020204" pitchFamily="34" charset="-120"/>
              </a:rPr>
              <a:t>What is under our feet?</a:t>
            </a:r>
            <a:endParaRPr lang="en-US" sz="2000" dirty="0"/>
          </a:p>
        </p:txBody>
      </p:sp>
      <p:sp>
        <p:nvSpPr>
          <p:cNvPr id="5" name="Text 2"/>
          <p:cNvSpPr txBox="1"/>
          <p:nvPr/>
        </p:nvSpPr>
        <p:spPr>
          <a:xfrm>
            <a:off x="640080" y="1600200"/>
            <a:ext cx="4114800" cy="822960"/>
          </a:xfrm>
          <a:prstGeom prst="rect">
            <a:avLst/>
          </a:prstGeom>
          <a:noFill/>
        </p:spPr>
        <p:txBody>
          <a:bodyPr wrap="square" lIns="0" tIns="0" rIns="0" bIns="0" rtlCol="0" anchor="t"/>
          <a:lstStyle/>
          <a:p>
            <a:pPr marL="0" indent="0">
              <a:buNone/>
            </a:pPr>
            <a:r>
              <a:rPr lang="en-US" sz="4400" b="1" dirty="0">
                <a:solidFill>
                  <a:srgbClr val="FFFFFF"/>
                </a:solidFill>
                <a:latin typeface="Arial" panose="020B0704020202020204" pitchFamily="34" charset="0"/>
                <a:ea typeface="Arial" panose="020B0704020202020204" pitchFamily="34" charset="-122"/>
                <a:cs typeface="Arial" panose="020B0704020202020204" pitchFamily="34" charset="-120"/>
              </a:rPr>
              <a:t>Now we know.</a:t>
            </a:r>
            <a:endParaRPr lang="en-US" sz="4400" dirty="0"/>
          </a:p>
        </p:txBody>
      </p:sp>
      <p:sp>
        <p:nvSpPr>
          <p:cNvPr id="6" name="Text 3"/>
          <p:cNvSpPr txBox="1"/>
          <p:nvPr/>
        </p:nvSpPr>
        <p:spPr>
          <a:xfrm>
            <a:off x="640080" y="2468880"/>
            <a:ext cx="4114800" cy="548640"/>
          </a:xfrm>
          <a:prstGeom prst="rect">
            <a:avLst/>
          </a:prstGeom>
          <a:noFill/>
        </p:spPr>
        <p:txBody>
          <a:bodyPr wrap="square" lIns="0" tIns="0" rIns="0" bIns="0" rtlCol="0" anchor="t"/>
          <a:lstStyle/>
          <a:p>
            <a:pPr marL="0" indent="0">
              <a:buNone/>
            </a:pPr>
            <a:r>
              <a:rPr lang="en-US" sz="2600" b="1" dirty="0">
                <a:solidFill>
                  <a:srgbClr val="F2C94C"/>
                </a:solidFill>
                <a:latin typeface="Arial" panose="020B0704020202020204" pitchFamily="34" charset="0"/>
                <a:ea typeface="Arial" panose="020B0704020202020204" pitchFamily="34" charset="-122"/>
                <a:cs typeface="Arial" panose="020B0704020202020204" pitchFamily="34" charset="-120"/>
              </a:rPr>
              <a:t>Thank you — Questions?</a:t>
            </a:r>
            <a:endParaRPr lang="en-US" sz="2600" dirty="0"/>
          </a:p>
        </p:txBody>
      </p:sp>
      <p:pic>
        <p:nvPicPr>
          <p:cNvPr id="7" name="Image 1" descr="Our team with the GPR on site"/>
          <p:cNvPicPr>
            <a:picLocks noChangeAspect="1"/>
          </p:cNvPicPr>
          <p:nvPr/>
        </p:nvPicPr>
        <p:blipFill>
          <a:blip r:embed="rId2"/>
          <a:stretch>
            <a:fillRect/>
          </a:stretch>
        </p:blipFill>
        <p:spPr>
          <a:xfrm>
            <a:off x="640080" y="3383280"/>
            <a:ext cx="2194560" cy="1645920"/>
          </a:xfrm>
          <a:prstGeom prst="rect">
            <a:avLst/>
          </a:prstGeom>
        </p:spPr>
      </p:pic>
      <p:sp>
        <p:nvSpPr>
          <p:cNvPr id="8" name="Text 4"/>
          <p:cNvSpPr txBox="1"/>
          <p:nvPr/>
        </p:nvSpPr>
        <p:spPr>
          <a:xfrm>
            <a:off x="3017520" y="3383280"/>
            <a:ext cx="1920240" cy="1645920"/>
          </a:xfrm>
          <a:prstGeom prst="rect">
            <a:avLst/>
          </a:prstGeom>
          <a:noFill/>
        </p:spPr>
        <p:txBody>
          <a:bodyPr wrap="square" lIns="0" tIns="0" rIns="0" bIns="0" rtlCol="0" anchor="t"/>
          <a:lstStyle/>
          <a:p>
            <a:pPr marL="0" indent="0">
              <a:buNone/>
            </a:pPr>
            <a:r>
              <a:rPr lang="en-US" sz="1400" b="1" dirty="0">
                <a:solidFill>
                  <a:srgbClr val="F2C94C"/>
                </a:solidFill>
                <a:latin typeface="Arial" panose="020B0704020202020204" pitchFamily="34" charset="0"/>
                <a:ea typeface="Arial" panose="020B0704020202020204" pitchFamily="34" charset="-122"/>
                <a:cs typeface="Arial" panose="020B0704020202020204" pitchFamily="34" charset="-120"/>
              </a:rPr>
              <a:t>Our team</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Quốc Long</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Quốc Tài</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Thành Trung</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Đăng Khoa</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Đăng Quang</a:t>
            </a:r>
            <a:endParaRPr lang="en-US" sz="1400" dirty="0"/>
          </a:p>
        </p:txBody>
      </p:sp>
      <p:sp>
        <p:nvSpPr>
          <p:cNvPr id="9" name="Text 5"/>
          <p:cNvSpPr txBox="1"/>
          <p:nvPr/>
        </p:nvSpPr>
        <p:spPr>
          <a:xfrm>
            <a:off x="640080" y="5257800"/>
            <a:ext cx="4114800" cy="274320"/>
          </a:xfrm>
          <a:prstGeom prst="rect">
            <a:avLst/>
          </a:prstGeom>
          <a:noFill/>
        </p:spPr>
        <p:txBody>
          <a:bodyPr wrap="square" lIns="0" tIns="0" rIns="0" bIns="0" rtlCol="0" anchor="t"/>
          <a:lstStyle/>
          <a:p>
            <a:pPr marL="0" indent="0">
              <a:buNone/>
            </a:pPr>
            <a:r>
              <a:rPr lang="en-US" sz="1200" dirty="0">
                <a:solidFill>
                  <a:srgbClr val="D6E2F3"/>
                </a:solidFill>
                <a:latin typeface="Arial" panose="020B0704020202020204" pitchFamily="34" charset="0"/>
                <a:ea typeface="Arial" panose="020B0704020202020204" pitchFamily="34" charset="-122"/>
                <a:cs typeface="Arial" panose="020B0704020202020204" pitchFamily="34" charset="-120"/>
              </a:rPr>
              <a:t>Group 1 · Supervisor: MSc. Nguyễn Văn Thuận</a:t>
            </a:r>
            <a:endParaRPr lang="en-US" sz="1200" dirty="0"/>
          </a:p>
        </p:txBody>
      </p:sp>
      <p:sp>
        <p:nvSpPr>
          <p:cNvPr id="10" name="Text 6"/>
          <p:cNvSpPr txBox="1"/>
          <p:nvPr/>
        </p:nvSpPr>
        <p:spPr>
          <a:xfrm>
            <a:off x="640080" y="5577840"/>
            <a:ext cx="4114800" cy="274320"/>
          </a:xfrm>
          <a:prstGeom prst="rect">
            <a:avLst/>
          </a:prstGeom>
          <a:noFill/>
        </p:spPr>
        <p:txBody>
          <a:bodyPr wrap="square" lIns="0" tIns="0" rIns="0" bIns="0" rtlCol="0" anchor="t"/>
          <a:lstStyle/>
          <a:p>
            <a:pPr marL="0" indent="0">
              <a:buNone/>
            </a:pPr>
            <a:r>
              <a:rPr lang="en-US" sz="1200" dirty="0">
                <a:solidFill>
                  <a:srgbClr val="D6E2F3"/>
                </a:solidFill>
                <a:latin typeface="Arial" panose="020B0704020202020204" pitchFamily="34" charset="0"/>
                <a:ea typeface="Arial" panose="020B0704020202020204" pitchFamily="34" charset="-122"/>
                <a:cs typeface="Arial" panose="020B0704020202020204" pitchFamily="34" charset="-120"/>
              </a:rPr>
              <a:t>Non-Destructive Testing Methods · HCMUS</a:t>
            </a:r>
            <a:endParaRPr lang="en-US" sz="1200" dirty="0"/>
          </a:p>
        </p:txBody>
      </p:sp>
      <p:sp>
        <p:nvSpPr>
          <p:cNvPr id="11" name="Text 7"/>
          <p:cNvSpPr txBox="1"/>
          <p:nvPr/>
        </p:nvSpPr>
        <p:spPr>
          <a:xfrm>
            <a:off x="5577840" y="502920"/>
            <a:ext cx="6035040" cy="548640"/>
          </a:xfrm>
          <a:prstGeom prst="rect">
            <a:avLst/>
          </a:prstGeom>
          <a:noFill/>
        </p:spPr>
        <p:txBody>
          <a:bodyPr wrap="square" lIns="0" tIns="0" rIns="0" bIns="0" rtlCol="0" anchor="t"/>
          <a:lstStyle/>
          <a:p>
            <a:pPr marL="0" indent="0">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References</a:t>
            </a:r>
            <a:endParaRPr lang="en-US" sz="2600" dirty="0"/>
          </a:p>
        </p:txBody>
      </p:sp>
      <p:sp>
        <p:nvSpPr>
          <p:cNvPr id="12" name="Text 8"/>
          <p:cNvSpPr txBox="1"/>
          <p:nvPr/>
        </p:nvSpPr>
        <p:spPr>
          <a:xfrm>
            <a:off x="5577840" y="1234440"/>
            <a:ext cx="6035040" cy="4937760"/>
          </a:xfrm>
          <a:prstGeom prst="rect">
            <a:avLst/>
          </a:prstGeom>
          <a:noFill/>
        </p:spPr>
        <p:txBody>
          <a:bodyPr wrap="square" lIns="0" tIns="0" rIns="0" bIns="0" rtlCol="0" anchor="t"/>
          <a:lstStyle/>
          <a:p>
            <a:pPr marL="0" indent="0">
              <a:spcAft>
                <a:spcPts val="700"/>
              </a:spcAft>
              <a:buNone/>
            </a:pPr>
            <a:r>
              <a:rPr lang="en-US" sz="1200" b="1" dirty="0">
                <a:solidFill>
                  <a:srgbClr val="0B4A9E"/>
                </a:solidFill>
                <a:latin typeface="Arial" panose="020B0704020202020204" pitchFamily="34" charset="0"/>
                <a:ea typeface="Arial" panose="020B0704020202020204" pitchFamily="34" charset="-122"/>
                <a:cs typeface="Arial" panose="020B0704020202020204" pitchFamily="34" charset="-120"/>
              </a:rPr>
              <a:t>[1]  </a:t>
            </a: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Daniels, D. J. (2004). Ground Penetrating Radar, 2nd ed. IET.</a:t>
            </a:r>
            <a:endParaRPr lang="en-US" sz="1200" dirty="0"/>
          </a:p>
          <a:p>
            <a:pPr marL="0" indent="0">
              <a:spcAft>
                <a:spcPts val="700"/>
              </a:spcAft>
              <a:buNone/>
            </a:pPr>
            <a:r>
              <a:rPr lang="en-US" sz="1200" b="1" dirty="0">
                <a:solidFill>
                  <a:srgbClr val="0B4A9E"/>
                </a:solidFill>
                <a:latin typeface="Arial" panose="020B0704020202020204" pitchFamily="34" charset="0"/>
                <a:ea typeface="Arial" panose="020B0704020202020204" pitchFamily="34" charset="-122"/>
                <a:cs typeface="Arial" panose="020B0704020202020204" pitchFamily="34" charset="-120"/>
              </a:rPr>
              <a:t>[2]  </a:t>
            </a: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Jol, H. M. (2009). Ground Penetrating Radar: Theory and Applications. Elsevier.</a:t>
            </a:r>
            <a:endParaRPr lang="en-US" sz="1200" dirty="0"/>
          </a:p>
          <a:p>
            <a:pPr marL="0" indent="0">
              <a:spcAft>
                <a:spcPts val="700"/>
              </a:spcAft>
              <a:buNone/>
            </a:pPr>
            <a:r>
              <a:rPr lang="en-US" sz="1200" b="1" dirty="0">
                <a:solidFill>
                  <a:srgbClr val="0B4A9E"/>
                </a:solidFill>
                <a:latin typeface="Arial" panose="020B0704020202020204" pitchFamily="34" charset="0"/>
                <a:ea typeface="Arial" panose="020B0704020202020204" pitchFamily="34" charset="-122"/>
                <a:cs typeface="Arial" panose="020B0704020202020204" pitchFamily="34" charset="-120"/>
              </a:rPr>
              <a:t>[3]  </a:t>
            </a: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Metje, N. et al. (2007). Mapping the Underworld – state-of-the-art review. Tunn. Undergr. Space Technol. 22, 568–586.</a:t>
            </a:r>
            <a:endParaRPr lang="en-US" sz="1200" dirty="0"/>
          </a:p>
          <a:p>
            <a:pPr marL="0" indent="0">
              <a:spcAft>
                <a:spcPts val="700"/>
              </a:spcAft>
              <a:buNone/>
            </a:pPr>
            <a:r>
              <a:rPr lang="en-US" sz="1200" b="1" dirty="0">
                <a:solidFill>
                  <a:srgbClr val="0B4A9E"/>
                </a:solidFill>
                <a:latin typeface="Arial" panose="020B0704020202020204" pitchFamily="34" charset="0"/>
                <a:ea typeface="Arial" panose="020B0704020202020204" pitchFamily="34" charset="-122"/>
                <a:cs typeface="Arial" panose="020B0704020202020204" pitchFamily="34" charset="-120"/>
              </a:rPr>
              <a:t>[4]  </a:t>
            </a: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Royal, A. C. D. et al. (2011). Site assessment of multiple-sensor approaches for buried utility detection. Int. J. Geophys.</a:t>
            </a:r>
            <a:endParaRPr lang="en-US" sz="1200" dirty="0"/>
          </a:p>
          <a:p>
            <a:pPr marL="0" indent="0">
              <a:spcAft>
                <a:spcPts val="700"/>
              </a:spcAft>
              <a:buNone/>
            </a:pPr>
            <a:r>
              <a:rPr lang="en-US" sz="1200" b="1" dirty="0">
                <a:solidFill>
                  <a:srgbClr val="0B4A9E"/>
                </a:solidFill>
                <a:latin typeface="Arial" panose="020B0704020202020204" pitchFamily="34" charset="0"/>
                <a:ea typeface="Arial" panose="020B0704020202020204" pitchFamily="34" charset="-122"/>
                <a:cs typeface="Arial" panose="020B0704020202020204" pitchFamily="34" charset="-120"/>
              </a:rPr>
              <a:t>[5]  </a:t>
            </a: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Lai, W. W.-L., Dérobert, X., Annan, P. (2018). A review of GPR application in civil engineering. NDT &amp; E Int. 96, 58–78.</a:t>
            </a:r>
            <a:endParaRPr lang="en-US" sz="1200" dirty="0"/>
          </a:p>
          <a:p>
            <a:pPr marL="0" indent="0">
              <a:spcAft>
                <a:spcPts val="700"/>
              </a:spcAft>
              <a:buNone/>
            </a:pPr>
            <a:r>
              <a:rPr lang="en-US" sz="1200" b="1" dirty="0">
                <a:solidFill>
                  <a:srgbClr val="0B4A9E"/>
                </a:solidFill>
                <a:latin typeface="Arial" panose="020B0704020202020204" pitchFamily="34" charset="0"/>
                <a:ea typeface="Arial" panose="020B0704020202020204" pitchFamily="34" charset="-122"/>
                <a:cs typeface="Arial" panose="020B0704020202020204" pitchFamily="34" charset="-120"/>
              </a:rPr>
              <a:t>[6]  </a:t>
            </a: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Nguyễn Thành Vấn et al. (2018). GPRTVN – processing GPR data software. Sci. Technol. Dev. J. – Nat. Sci. 2(5), 97–104.</a:t>
            </a:r>
            <a:endParaRPr lang="en-US" sz="1200" dirty="0"/>
          </a:p>
          <a:p>
            <a:pPr marL="0" indent="0">
              <a:spcAft>
                <a:spcPts val="700"/>
              </a:spcAft>
              <a:buNone/>
            </a:pPr>
            <a:r>
              <a:rPr lang="en-US" sz="1200" b="1" dirty="0">
                <a:solidFill>
                  <a:srgbClr val="0B4A9E"/>
                </a:solidFill>
                <a:latin typeface="Arial" panose="020B0704020202020204" pitchFamily="34" charset="0"/>
                <a:ea typeface="Arial" panose="020B0704020202020204" pitchFamily="34" charset="-122"/>
                <a:cs typeface="Arial" panose="020B0704020202020204" pitchFamily="34" charset="-120"/>
              </a:rPr>
              <a:t>[7]  </a:t>
            </a: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Đặng Hoàng Duy et al. (2020). Data analysis of 2D GPR profiles in 3D space. Sci. Technol. Dev. J. – Nat. Sci. 3(3), 169–179.</a:t>
            </a:r>
            <a:endParaRPr lang="en-US" sz="1200" dirty="0"/>
          </a:p>
          <a:p>
            <a:pPr marL="0" indent="0">
              <a:spcAft>
                <a:spcPts val="700"/>
              </a:spcAft>
              <a:buNone/>
            </a:pPr>
            <a:r>
              <a:rPr lang="en-US" sz="1200" b="1" dirty="0">
                <a:solidFill>
                  <a:srgbClr val="0B4A9E"/>
                </a:solidFill>
                <a:latin typeface="Arial" panose="020B0704020202020204" pitchFamily="34" charset="0"/>
                <a:ea typeface="Arial" panose="020B0704020202020204" pitchFamily="34" charset="-122"/>
                <a:cs typeface="Arial" panose="020B0704020202020204" pitchFamily="34" charset="-120"/>
              </a:rPr>
              <a:t>[8]  </a:t>
            </a:r>
            <a:r>
              <a:rPr lang="en-US" sz="1200" dirty="0">
                <a:solidFill>
                  <a:srgbClr val="1B1B1D"/>
                </a:solidFill>
                <a:latin typeface="Arial" panose="020B0704020202020204" pitchFamily="34" charset="0"/>
                <a:ea typeface="Arial" panose="020B0704020202020204" pitchFamily="34" charset="-122"/>
                <a:cs typeface="Arial" panose="020B0704020202020204" pitchFamily="34" charset="-120"/>
              </a:rPr>
              <a:t>Common Ground Alliance (2020). DIRT Report 2019. · ASTM D6432-19. · PAS 128:2022.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Project repository: data, code and slides</a:t>
            </a:r>
            <a:endParaRPr lang="en-US" sz="2600" dirty="0"/>
          </a:p>
        </p:txBody>
      </p:sp>
      <p:sp>
        <p:nvSpPr>
          <p:cNvPr id="3" name="Shape 1"/>
          <p:cNvSpPr/>
          <p:nvPr/>
        </p:nvSpPr>
        <p:spPr>
          <a:xfrm>
            <a:off x="548640" y="1325880"/>
            <a:ext cx="3931920" cy="4663440"/>
          </a:xfrm>
          <a:prstGeom prst="roundRect">
            <a:avLst>
              <a:gd name="adj" fmla="val 1860"/>
            </a:avLst>
          </a:prstGeom>
          <a:solidFill>
            <a:srgbClr val="EEF3FA"/>
          </a:solidFill>
          <a:ln w="12700">
            <a:solidFill>
              <a:srgbClr val="EEF3FA"/>
            </a:solidFill>
            <a:prstDash val="solid"/>
          </a:ln>
        </p:spPr>
      </p:sp>
      <p:pic>
        <p:nvPicPr>
          <p:cNvPr id="4" name="Image 0" descr="QR code linking to https://github.com/LongDallas/NDT-GPR-Nhom1"/>
          <p:cNvPicPr>
            <a:picLocks noChangeAspect="1"/>
          </p:cNvPicPr>
          <p:nvPr/>
        </p:nvPicPr>
        <p:blipFill>
          <a:blip r:embed="rId1"/>
          <a:stretch>
            <a:fillRect/>
          </a:stretch>
        </p:blipFill>
        <p:spPr>
          <a:xfrm>
            <a:off x="822960" y="1554480"/>
            <a:ext cx="3383280" cy="3383280"/>
          </a:xfrm>
          <a:prstGeom prst="rect">
            <a:avLst/>
          </a:prstGeom>
        </p:spPr>
      </p:pic>
      <p:sp>
        <p:nvSpPr>
          <p:cNvPr id="5" name="Text 2"/>
          <p:cNvSpPr txBox="1"/>
          <p:nvPr/>
        </p:nvSpPr>
        <p:spPr>
          <a:xfrm>
            <a:off x="822960" y="5074920"/>
            <a:ext cx="3383280" cy="320040"/>
          </a:xfrm>
          <a:prstGeom prst="rect">
            <a:avLst/>
          </a:prstGeom>
          <a:noFill/>
        </p:spPr>
        <p:txBody>
          <a:bodyPr wrap="square" lIns="0" tIns="0" rIns="0" bIns="0" rtlCol="0" anchor="t"/>
          <a:lstStyle/>
          <a:p>
            <a:pPr marL="0" indent="0" algn="ctr">
              <a:buNone/>
            </a:pPr>
            <a:r>
              <a:rPr lang="en-US" sz="1600" b="1" dirty="0">
                <a:solidFill>
                  <a:srgbClr val="0B4A9E"/>
                </a:solidFill>
                <a:latin typeface="Arial" panose="020B0704020202020204" pitchFamily="34" charset="0"/>
                <a:ea typeface="Arial" panose="020B0704020202020204" pitchFamily="34" charset="-122"/>
                <a:cs typeface="Arial" panose="020B0704020202020204" pitchFamily="34" charset="-120"/>
              </a:rPr>
              <a:t>Scan to open</a:t>
            </a:r>
            <a:endParaRPr lang="en-US" sz="1600" dirty="0"/>
          </a:p>
        </p:txBody>
      </p:sp>
      <p:sp>
        <p:nvSpPr>
          <p:cNvPr id="6" name="Text 3"/>
          <p:cNvSpPr txBox="1"/>
          <p:nvPr/>
        </p:nvSpPr>
        <p:spPr>
          <a:xfrm>
            <a:off x="685800" y="5440680"/>
            <a:ext cx="3657600" cy="320040"/>
          </a:xfrm>
          <a:prstGeom prst="rect">
            <a:avLst/>
          </a:prstGeom>
          <a:noFill/>
        </p:spPr>
        <p:txBody>
          <a:bodyPr wrap="square" lIns="0" tIns="0" rIns="0" bIns="0" rtlCol="0" anchor="t"/>
          <a:lstStyle/>
          <a:p>
            <a:pPr marL="0" indent="0" algn="ctr">
              <a:buNone/>
            </a:pPr>
            <a:r>
              <a:rPr lang="en-US" sz="1300" dirty="0">
                <a:solidFill>
                  <a:srgbClr val="1B1B1D"/>
                </a:solidFill>
                <a:latin typeface="Arial" panose="020B0704020202020204" pitchFamily="34" charset="0"/>
                <a:ea typeface="Arial" panose="020B0704020202020204" pitchFamily="34" charset="-122"/>
                <a:cs typeface="Arial" panose="020B0704020202020204" pitchFamily="34" charset="-120"/>
              </a:rPr>
              <a:t>github.com/LongDallas/NDT-GPR-Nhom1</a:t>
            </a:r>
            <a:endParaRPr lang="en-US" sz="1300" dirty="0"/>
          </a:p>
        </p:txBody>
      </p:sp>
      <p:sp>
        <p:nvSpPr>
          <p:cNvPr id="7" name="Text 4"/>
          <p:cNvSpPr txBox="1"/>
          <p:nvPr/>
        </p:nvSpPr>
        <p:spPr>
          <a:xfrm>
            <a:off x="4937760" y="1325880"/>
            <a:ext cx="6675120" cy="411480"/>
          </a:xfrm>
          <a:prstGeom prst="rect">
            <a:avLst/>
          </a:prstGeom>
          <a:noFill/>
        </p:spPr>
        <p:txBody>
          <a:bodyPr wrap="square" lIns="0" tIns="0" rIns="0" bIns="0" rtlCol="0" anchor="t"/>
          <a:lstStyle/>
          <a:p>
            <a:pPr marL="0" indent="0">
              <a:buNone/>
            </a:pPr>
            <a:r>
              <a:rPr lang="en-US" sz="2000" b="1" dirty="0">
                <a:solidFill>
                  <a:srgbClr val="0B4A9E"/>
                </a:solidFill>
                <a:latin typeface="Arial" panose="020B0704020202020204" pitchFamily="34" charset="0"/>
                <a:ea typeface="Arial" panose="020B0704020202020204" pitchFamily="34" charset="-122"/>
                <a:cs typeface="Arial" panose="020B0704020202020204" pitchFamily="34" charset="-120"/>
              </a:rPr>
              <a:t>How to use it</a:t>
            </a:r>
            <a:endParaRPr lang="en-US" sz="2000" dirty="0"/>
          </a:p>
        </p:txBody>
      </p:sp>
      <p:sp>
        <p:nvSpPr>
          <p:cNvPr id="8" name="Shape 5"/>
          <p:cNvSpPr/>
          <p:nvPr/>
        </p:nvSpPr>
        <p:spPr>
          <a:xfrm>
            <a:off x="4937760" y="1965960"/>
            <a:ext cx="457200" cy="457200"/>
          </a:xfrm>
          <a:prstGeom prst="ellipse">
            <a:avLst/>
          </a:prstGeom>
          <a:solidFill>
            <a:srgbClr val="0B4A9E"/>
          </a:solidFill>
          <a:ln w="12700">
            <a:solidFill>
              <a:srgbClr val="0B4A9E"/>
            </a:solidFill>
            <a:prstDash val="solid"/>
          </a:ln>
        </p:spPr>
      </p:sp>
      <p:sp>
        <p:nvSpPr>
          <p:cNvPr id="9" name="Text 6"/>
          <p:cNvSpPr txBox="1"/>
          <p:nvPr/>
        </p:nvSpPr>
        <p:spPr>
          <a:xfrm>
            <a:off x="4937760" y="1965960"/>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704020202020204" pitchFamily="34" charset="0"/>
                <a:ea typeface="Arial" panose="020B0704020202020204" pitchFamily="34" charset="-122"/>
                <a:cs typeface="Arial" panose="020B0704020202020204" pitchFamily="34" charset="-120"/>
              </a:rPr>
              <a:t>1</a:t>
            </a:r>
            <a:endParaRPr lang="en-US" sz="1800" dirty="0"/>
          </a:p>
        </p:txBody>
      </p:sp>
      <p:sp>
        <p:nvSpPr>
          <p:cNvPr id="10" name="Text 7"/>
          <p:cNvSpPr txBox="1"/>
          <p:nvPr/>
        </p:nvSpPr>
        <p:spPr>
          <a:xfrm>
            <a:off x="5623560" y="1920240"/>
            <a:ext cx="5989320" cy="320040"/>
          </a:xfrm>
          <a:prstGeom prst="rect">
            <a:avLst/>
          </a:prstGeom>
          <a:noFill/>
        </p:spPr>
        <p:txBody>
          <a:bodyPr wrap="square" lIns="0" tIns="0" rIns="0" bIns="0" rtlCol="0" anchor="t"/>
          <a:lstStyle/>
          <a:p>
            <a:pPr marL="0" indent="0">
              <a:buNone/>
            </a:pPr>
            <a:r>
              <a:rPr lang="en-US" sz="1600" b="1" dirty="0">
                <a:solidFill>
                  <a:srgbClr val="1B1B1D"/>
                </a:solidFill>
                <a:latin typeface="Arial" panose="020B0704020202020204" pitchFamily="34" charset="0"/>
                <a:ea typeface="Arial" panose="020B0704020202020204" pitchFamily="34" charset="-122"/>
                <a:cs typeface="Arial" panose="020B0704020202020204" pitchFamily="34" charset="-120"/>
              </a:rPr>
              <a:t>Open</a:t>
            </a:r>
            <a:endParaRPr lang="en-US" sz="1600" dirty="0"/>
          </a:p>
        </p:txBody>
      </p:sp>
      <p:sp>
        <p:nvSpPr>
          <p:cNvPr id="11" name="Text 8"/>
          <p:cNvSpPr txBox="1"/>
          <p:nvPr/>
        </p:nvSpPr>
        <p:spPr>
          <a:xfrm>
            <a:off x="5623560" y="2267712"/>
            <a:ext cx="598932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Scan the QR code or type the address. The repository is public — no account needed.</a:t>
            </a:r>
            <a:endParaRPr lang="en-US" sz="1300" dirty="0"/>
          </a:p>
        </p:txBody>
      </p:sp>
      <p:sp>
        <p:nvSpPr>
          <p:cNvPr id="12" name="Shape 9"/>
          <p:cNvSpPr/>
          <p:nvPr/>
        </p:nvSpPr>
        <p:spPr>
          <a:xfrm>
            <a:off x="4937760" y="2990088"/>
            <a:ext cx="457200" cy="457200"/>
          </a:xfrm>
          <a:prstGeom prst="ellipse">
            <a:avLst/>
          </a:prstGeom>
          <a:solidFill>
            <a:srgbClr val="0B4A9E"/>
          </a:solidFill>
          <a:ln w="12700">
            <a:solidFill>
              <a:srgbClr val="0B4A9E"/>
            </a:solidFill>
            <a:prstDash val="solid"/>
          </a:ln>
        </p:spPr>
      </p:sp>
      <p:sp>
        <p:nvSpPr>
          <p:cNvPr id="13" name="Text 10"/>
          <p:cNvSpPr txBox="1"/>
          <p:nvPr/>
        </p:nvSpPr>
        <p:spPr>
          <a:xfrm>
            <a:off x="4937760" y="2990088"/>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704020202020204" pitchFamily="34" charset="0"/>
                <a:ea typeface="Arial" panose="020B0704020202020204" pitchFamily="34" charset="-122"/>
                <a:cs typeface="Arial" panose="020B0704020202020204" pitchFamily="34" charset="-120"/>
              </a:rPr>
              <a:t>2</a:t>
            </a:r>
            <a:endParaRPr lang="en-US" sz="1800" dirty="0"/>
          </a:p>
        </p:txBody>
      </p:sp>
      <p:sp>
        <p:nvSpPr>
          <p:cNvPr id="14" name="Text 11"/>
          <p:cNvSpPr txBox="1"/>
          <p:nvPr/>
        </p:nvSpPr>
        <p:spPr>
          <a:xfrm>
            <a:off x="5623560" y="2944368"/>
            <a:ext cx="5989320" cy="320040"/>
          </a:xfrm>
          <a:prstGeom prst="rect">
            <a:avLst/>
          </a:prstGeom>
          <a:noFill/>
        </p:spPr>
        <p:txBody>
          <a:bodyPr wrap="square" lIns="0" tIns="0" rIns="0" bIns="0" rtlCol="0" anchor="t"/>
          <a:lstStyle/>
          <a:p>
            <a:pPr marL="0" indent="0">
              <a:buNone/>
            </a:pPr>
            <a:r>
              <a:rPr lang="en-US" sz="1600" b="1" dirty="0">
                <a:solidFill>
                  <a:srgbClr val="1B1B1D"/>
                </a:solidFill>
                <a:latin typeface="Arial" panose="020B0704020202020204" pitchFamily="34" charset="0"/>
                <a:ea typeface="Arial" panose="020B0704020202020204" pitchFamily="34" charset="-122"/>
                <a:cs typeface="Arial" panose="020B0704020202020204" pitchFamily="34" charset="-120"/>
              </a:rPr>
              <a:t>Download</a:t>
            </a:r>
            <a:endParaRPr lang="en-US" sz="1600" dirty="0"/>
          </a:p>
        </p:txBody>
      </p:sp>
      <p:sp>
        <p:nvSpPr>
          <p:cNvPr id="15" name="Text 12"/>
          <p:cNvSpPr txBox="1"/>
          <p:nvPr/>
        </p:nvSpPr>
        <p:spPr>
          <a:xfrm>
            <a:off x="5623560" y="3291840"/>
            <a:ext cx="598932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Code → Download ZIP, or </a:t>
            </a:r>
            <a:r>
              <a:rPr lang="en-US" sz="1300" dirty="0">
                <a:solidFill>
                  <a:srgbClr val="1B1B1D"/>
                </a:solidFill>
                <a:latin typeface="Courier New" panose="02070609020205020404" pitchFamily="34" charset="0"/>
                <a:ea typeface="Courier New" panose="02070609020205020404" pitchFamily="34" charset="-122"/>
                <a:cs typeface="Courier New" panose="02070609020205020404" pitchFamily="34" charset="-120"/>
              </a:rPr>
              <a:t>git clone https://github.com/LongDallas/NDT-GPR-Nhom1</a:t>
            </a:r>
            <a:endParaRPr lang="en-US" sz="1300" dirty="0"/>
          </a:p>
        </p:txBody>
      </p:sp>
      <p:sp>
        <p:nvSpPr>
          <p:cNvPr id="16" name="Shape 13"/>
          <p:cNvSpPr/>
          <p:nvPr/>
        </p:nvSpPr>
        <p:spPr>
          <a:xfrm>
            <a:off x="4937760" y="4014216"/>
            <a:ext cx="457200" cy="457200"/>
          </a:xfrm>
          <a:prstGeom prst="ellipse">
            <a:avLst/>
          </a:prstGeom>
          <a:solidFill>
            <a:srgbClr val="0B4A9E"/>
          </a:solidFill>
          <a:ln w="12700">
            <a:solidFill>
              <a:srgbClr val="0B4A9E"/>
            </a:solidFill>
            <a:prstDash val="solid"/>
          </a:ln>
        </p:spPr>
      </p:sp>
      <p:sp>
        <p:nvSpPr>
          <p:cNvPr id="17" name="Text 14"/>
          <p:cNvSpPr txBox="1"/>
          <p:nvPr/>
        </p:nvSpPr>
        <p:spPr>
          <a:xfrm>
            <a:off x="4937760" y="4014216"/>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704020202020204" pitchFamily="34" charset="0"/>
                <a:ea typeface="Arial" panose="020B0704020202020204" pitchFamily="34" charset="-122"/>
                <a:cs typeface="Arial" panose="020B0704020202020204" pitchFamily="34" charset="-120"/>
              </a:rPr>
              <a:t>3</a:t>
            </a:r>
            <a:endParaRPr lang="en-US" sz="1800" dirty="0"/>
          </a:p>
        </p:txBody>
      </p:sp>
      <p:sp>
        <p:nvSpPr>
          <p:cNvPr id="18" name="Text 15"/>
          <p:cNvSpPr txBox="1"/>
          <p:nvPr/>
        </p:nvSpPr>
        <p:spPr>
          <a:xfrm>
            <a:off x="5623560" y="3968496"/>
            <a:ext cx="5989320" cy="320040"/>
          </a:xfrm>
          <a:prstGeom prst="rect">
            <a:avLst/>
          </a:prstGeom>
          <a:noFill/>
        </p:spPr>
        <p:txBody>
          <a:bodyPr wrap="square" lIns="0" tIns="0" rIns="0" bIns="0" rtlCol="0" anchor="t"/>
          <a:lstStyle/>
          <a:p>
            <a:pPr marL="0" indent="0">
              <a:buNone/>
            </a:pPr>
            <a:r>
              <a:rPr lang="en-US" sz="1600" b="1" dirty="0">
                <a:solidFill>
                  <a:srgbClr val="1B1B1D"/>
                </a:solidFill>
                <a:latin typeface="Arial" panose="020B0704020202020204" pitchFamily="34" charset="0"/>
                <a:ea typeface="Arial" panose="020B0704020202020204" pitchFamily="34" charset="-122"/>
                <a:cs typeface="Arial" panose="020B0704020202020204" pitchFamily="34" charset="-120"/>
              </a:rPr>
              <a:t>Read</a:t>
            </a:r>
            <a:endParaRPr lang="en-US" sz="1600" dirty="0"/>
          </a:p>
        </p:txBody>
      </p:sp>
      <p:sp>
        <p:nvSpPr>
          <p:cNvPr id="19" name="Text 16"/>
          <p:cNvSpPr txBox="1"/>
          <p:nvPr/>
        </p:nvSpPr>
        <p:spPr>
          <a:xfrm>
            <a:off x="5623560" y="4315968"/>
            <a:ext cx="598932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Slides </a:t>
            </a:r>
            <a:r>
              <a:rPr lang="en-US" sz="1300" dirty="0">
                <a:solidFill>
                  <a:srgbClr val="1B1B1D"/>
                </a:solidFill>
                <a:latin typeface="Courier New" panose="02070609020205020404" pitchFamily="34" charset="0"/>
                <a:ea typeface="Courier New" panose="02070609020205020404" pitchFamily="34" charset="-122"/>
                <a:cs typeface="Courier New" panose="02070609020205020404" pitchFamily="34" charset="-120"/>
              </a:rPr>
              <a:t>01_Slide/</a:t>
            </a: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 · report </a:t>
            </a:r>
            <a:r>
              <a:rPr lang="en-US" sz="1300" dirty="0">
                <a:solidFill>
                  <a:srgbClr val="1B1B1D"/>
                </a:solidFill>
                <a:latin typeface="Courier New" panose="02070609020205020404" pitchFamily="34" charset="0"/>
                <a:ea typeface="Courier New" panose="02070609020205020404" pitchFamily="34" charset="-122"/>
                <a:cs typeface="Courier New" panose="02070609020205020404" pitchFamily="34" charset="-120"/>
              </a:rPr>
              <a:t>06_BaoCao/</a:t>
            </a: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 · step-by-step guide </a:t>
            </a:r>
            <a:r>
              <a:rPr lang="en-US" sz="1300" dirty="0">
                <a:solidFill>
                  <a:srgbClr val="1B1B1D"/>
                </a:solidFill>
                <a:latin typeface="Courier New" panose="02070609020205020404" pitchFamily="34" charset="0"/>
                <a:ea typeface="Courier New" panose="02070609020205020404" pitchFamily="34" charset="-122"/>
                <a:cs typeface="Courier New" panose="02070609020205020404" pitchFamily="34" charset="-120"/>
              </a:rPr>
              <a:t>README.md</a:t>
            </a:r>
            <a:endParaRPr lang="en-US" sz="1300" dirty="0"/>
          </a:p>
        </p:txBody>
      </p:sp>
      <p:sp>
        <p:nvSpPr>
          <p:cNvPr id="20" name="Shape 17"/>
          <p:cNvSpPr/>
          <p:nvPr/>
        </p:nvSpPr>
        <p:spPr>
          <a:xfrm>
            <a:off x="4937760" y="5038344"/>
            <a:ext cx="457200" cy="457200"/>
          </a:xfrm>
          <a:prstGeom prst="ellipse">
            <a:avLst/>
          </a:prstGeom>
          <a:solidFill>
            <a:srgbClr val="0B4A9E"/>
          </a:solidFill>
          <a:ln w="12700">
            <a:solidFill>
              <a:srgbClr val="0B4A9E"/>
            </a:solidFill>
            <a:prstDash val="solid"/>
          </a:ln>
        </p:spPr>
      </p:sp>
      <p:sp>
        <p:nvSpPr>
          <p:cNvPr id="21" name="Text 18"/>
          <p:cNvSpPr txBox="1"/>
          <p:nvPr/>
        </p:nvSpPr>
        <p:spPr>
          <a:xfrm>
            <a:off x="4937760" y="5038344"/>
            <a:ext cx="457200" cy="457200"/>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704020202020204" pitchFamily="34" charset="0"/>
                <a:ea typeface="Arial" panose="020B0704020202020204" pitchFamily="34" charset="-122"/>
                <a:cs typeface="Arial" panose="020B0704020202020204" pitchFamily="34" charset="-120"/>
              </a:rPr>
              <a:t>4</a:t>
            </a:r>
            <a:endParaRPr lang="en-US" sz="1800" dirty="0"/>
          </a:p>
        </p:txBody>
      </p:sp>
      <p:sp>
        <p:nvSpPr>
          <p:cNvPr id="22" name="Text 19"/>
          <p:cNvSpPr txBox="1"/>
          <p:nvPr/>
        </p:nvSpPr>
        <p:spPr>
          <a:xfrm>
            <a:off x="5623560" y="4992624"/>
            <a:ext cx="5989320" cy="320040"/>
          </a:xfrm>
          <a:prstGeom prst="rect">
            <a:avLst/>
          </a:prstGeom>
          <a:noFill/>
        </p:spPr>
        <p:txBody>
          <a:bodyPr wrap="square" lIns="0" tIns="0" rIns="0" bIns="0" rtlCol="0" anchor="t"/>
          <a:lstStyle/>
          <a:p>
            <a:pPr marL="0" indent="0">
              <a:buNone/>
            </a:pPr>
            <a:r>
              <a:rPr lang="en-US" sz="1600" b="1" dirty="0">
                <a:solidFill>
                  <a:srgbClr val="1B1B1D"/>
                </a:solidFill>
                <a:latin typeface="Arial" panose="020B0704020202020204" pitchFamily="34" charset="0"/>
                <a:ea typeface="Arial" panose="020B0704020202020204" pitchFamily="34" charset="-122"/>
                <a:cs typeface="Arial" panose="020B0704020202020204" pitchFamily="34" charset="-120"/>
              </a:rPr>
              <a:t>Reproduce</a:t>
            </a:r>
            <a:endParaRPr lang="en-US" sz="1600" dirty="0"/>
          </a:p>
        </p:txBody>
      </p:sp>
      <p:sp>
        <p:nvSpPr>
          <p:cNvPr id="23" name="Text 20"/>
          <p:cNvSpPr txBox="1"/>
          <p:nvPr/>
        </p:nvSpPr>
        <p:spPr>
          <a:xfrm>
            <a:off x="5623560" y="5340096"/>
            <a:ext cx="5989320" cy="566928"/>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Raw lines </a:t>
            </a:r>
            <a:r>
              <a:rPr lang="en-US" sz="1300" dirty="0">
                <a:solidFill>
                  <a:srgbClr val="1B1B1D"/>
                </a:solidFill>
                <a:latin typeface="Courier New" panose="02070609020205020404" pitchFamily="34" charset="0"/>
                <a:ea typeface="Courier New" panose="02070609020205020404" pitchFamily="34" charset="-122"/>
                <a:cs typeface="Courier New" panose="02070609020205020404" pitchFamily="34" charset="-120"/>
              </a:rPr>
              <a:t>03_DuLieuHienTruong/</a:t>
            </a: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 → ReflexW → </a:t>
            </a:r>
            <a:r>
              <a:rPr lang="en-US" sz="1300" dirty="0">
                <a:solidFill>
                  <a:srgbClr val="1B1B1D"/>
                </a:solidFill>
                <a:latin typeface="Courier New" panose="02070609020205020404" pitchFamily="34" charset="0"/>
                <a:ea typeface="Courier New" panose="02070609020205020404" pitchFamily="34" charset="-122"/>
                <a:cs typeface="Courier New" panose="02070609020205020404" pitchFamily="34" charset="-120"/>
              </a:rPr>
              <a:t>python3 dung_ban_do_3d.py</a:t>
            </a: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 → maps and 3D scene</a:t>
            </a:r>
            <a:endParaRPr lang="en-US" sz="1300" dirty="0"/>
          </a:p>
        </p:txBody>
      </p:sp>
      <p:sp>
        <p:nvSpPr>
          <p:cNvPr id="24" name="Text 21"/>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Raw GPR data, processing scripts, figures, slides and report of Group 1 · guide in Vietnamese (README.md)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Backup · Plan view: every target with its depth</a:t>
            </a:r>
            <a:endParaRPr lang="en-US" sz="2600" dirty="0"/>
          </a:p>
        </p:txBody>
      </p:sp>
      <p:pic>
        <p:nvPicPr>
          <p:cNvPr id="3" name="Image 0" descr="Plan view map of the water pipe and power cable with depth labels"/>
          <p:cNvPicPr>
            <a:picLocks noChangeAspect="1"/>
          </p:cNvPicPr>
          <p:nvPr/>
        </p:nvPicPr>
        <p:blipFill>
          <a:blip r:embed="rId1"/>
          <a:stretch>
            <a:fillRect/>
          </a:stretch>
        </p:blipFill>
        <p:spPr>
          <a:xfrm>
            <a:off x="548640" y="1463040"/>
            <a:ext cx="11064240" cy="429768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Backup · GPR sections over the cable: lines C1 and C3</a:t>
            </a:r>
            <a:endParaRPr lang="en-US" sz="2600" dirty="0"/>
          </a:p>
        </p:txBody>
      </p:sp>
      <p:pic>
        <p:nvPicPr>
          <p:cNvPr id="3" name="Image 0" descr="GPR sections over the cable: line C1 with anomaly P1 and anomalies O1–O3, line C3 with P1 and O5, line C1 after migration, apparent size of the target"/>
          <p:cNvPicPr>
            <a:picLocks noChangeAspect="1"/>
          </p:cNvPicPr>
          <p:nvPr/>
        </p:nvPicPr>
        <p:blipFill>
          <a:blip r:embed="rId1"/>
          <a:stretch>
            <a:fillRect/>
          </a:stretch>
        </p:blipFill>
        <p:spPr>
          <a:xfrm>
            <a:off x="1709928" y="1325880"/>
            <a:ext cx="8778240" cy="493776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0241280" cy="685800"/>
          </a:xfrm>
          <a:prstGeom prst="rect">
            <a:avLst/>
          </a:prstGeom>
          <a:noFill/>
        </p:spPr>
        <p:txBody>
          <a:bodyPr wrap="square" lIns="0" tIns="0" rIns="0" bIns="0" rtlCol="0" anchor="ctr"/>
          <a:lstStyle/>
          <a:p>
            <a:pPr marL="0" indent="0" algn="l">
              <a:buNone/>
            </a:pPr>
            <a:r>
              <a:rPr lang="en-US" sz="2600" b="1" dirty="0">
                <a:solidFill>
                  <a:srgbClr val="0B4A9E"/>
                </a:solidFill>
                <a:latin typeface="Arial" panose="020B0704020202020204" pitchFamily="34" charset="0"/>
                <a:ea typeface="Arial" panose="020B0704020202020204" pitchFamily="34" charset="-122"/>
                <a:cs typeface="Arial" panose="020B0704020202020204" pitchFamily="34" charset="-120"/>
              </a:rPr>
              <a:t>Backup · What migration does: line C1 before and after</a:t>
            </a:r>
            <a:endParaRPr lang="en-US" sz="2600" dirty="0"/>
          </a:p>
        </p:txBody>
      </p:sp>
      <p:pic>
        <p:nvPicPr>
          <p:cNvPr id="3" name="Image 0" descr="Line C1 before and after Kirchhoff migration with a zoom on the cable signal"/>
          <p:cNvPicPr>
            <a:picLocks noChangeAspect="1"/>
          </p:cNvPicPr>
          <p:nvPr/>
        </p:nvPicPr>
        <p:blipFill>
          <a:blip r:embed="rId1"/>
          <a:stretch>
            <a:fillRect/>
          </a:stretch>
        </p:blipFill>
        <p:spPr>
          <a:xfrm>
            <a:off x="1709928" y="1325880"/>
            <a:ext cx="8778240" cy="493776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11861</Words>
  <Application>WPS Presentation</Application>
  <PresentationFormat>On-screen Show (16:9)</PresentationFormat>
  <Paragraphs>604</Paragraphs>
  <Slides>20</Slides>
  <Notes>21</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20</vt:i4>
      </vt:variant>
    </vt:vector>
  </HeadingPairs>
  <TitlesOfParts>
    <vt:vector size="43" baseType="lpstr">
      <vt:lpstr>Arial</vt:lpstr>
      <vt:lpstr>SimSun</vt:lpstr>
      <vt:lpstr>Wingdings</vt:lpstr>
      <vt:lpstr>Arial</vt:lpstr>
      <vt:lpstr>Arial</vt:lpstr>
      <vt:lpstr>Arial</vt:lpstr>
      <vt:lpstr>PingFang TC</vt:lpstr>
      <vt:lpstr>苹方-简</vt:lpstr>
      <vt:lpstr>PingFang TC</vt:lpstr>
      <vt:lpstr>PingFang TC</vt:lpstr>
      <vt:lpstr>Cambria</vt:lpstr>
      <vt:lpstr>Cambria</vt:lpstr>
      <vt:lpstr>Cambria</vt:lpstr>
      <vt:lpstr>宋体-简</vt:lpstr>
      <vt:lpstr>Microsoft YaHei</vt:lpstr>
      <vt:lpstr>汉仪旗黑</vt:lpstr>
      <vt:lpstr>Arial Unicode MS</vt:lpstr>
      <vt:lpstr>Courier New</vt:lpstr>
      <vt:lpstr>Courier New</vt:lpstr>
      <vt:lpstr>Courier New</vt:lpstr>
      <vt:lpstr>Calibri</vt:lpstr>
      <vt:lpstr>Helvetica Neue</vt:lpstr>
      <vt:lpstr>Office Theme</vt:lpstr>
      <vt:lpstr>PowerPoint 演示文稿</vt:lpstr>
      <vt:lpstr>PowerPoint 演示文稿</vt:lpstr>
      <vt:lpstr>1  Introduction: problem, objectives and approach</vt:lpstr>
      <vt:lpstr>2.1  Previous work: abroad and in Vietnam</vt:lpstr>
      <vt:lpstr>2.2  NDT methods for buried utilities, and our scope</vt:lpstr>
      <vt:lpstr>3.1  Principle of ground-penetrating radar</vt:lpstr>
      <vt:lpstr>3.2  Principle of the electromagnetic locator (RD7000)</vt:lpstr>
      <vt:lpstr>3.3  Field survey: a 10 m × 3.5 m grid of 9 lines</vt:lpstr>
      <vt:lpstr>3.4  Data processing: from raw traces to depth</vt:lpstr>
      <vt:lpstr>4.1  Model results: the model matches the field hyperbolas</vt:lpstr>
      <vt:lpstr>4.2  Field results: four aligned anomalies trace one power cable</vt:lpstr>
      <vt:lpstr>4.3  Field results: the water pipe on lines N1–N5</vt:lpstr>
      <vt:lpstr>PowerPoint 演示文稿</vt:lpstr>
      <vt:lpstr>4.5  Results summary and evaluation</vt:lpstr>
      <vt:lpstr>5  Conclusions and recommendations</vt:lpstr>
      <vt:lpstr>PowerPoint 演示文稿</vt:lpstr>
      <vt:lpstr>Project repository: data, code and slides</vt:lpstr>
      <vt:lpstr>Backup · Plan view: every target with its depth</vt:lpstr>
      <vt:lpstr>Backup · GPR sections over the cable: lines C1 and C3</vt:lpstr>
      <vt:lpstr>Backup · What migration does: line C1 before and after</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of GPR in Surveying Underground Cables and Utilities</dc:title>
  <dc:creator>PptxGenJS</dc:creator>
  <dc:subject>PptxGenJS Presentation</dc:subject>
  <cp:lastModifiedBy>Long Lê Quốc</cp:lastModifiedBy>
  <cp:revision>2</cp:revision>
  <dcterms:created xsi:type="dcterms:W3CDTF">2026-10-19T04:51:59Z</dcterms:created>
  <dcterms:modified xsi:type="dcterms:W3CDTF">2026-10-19T04:51:59Z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D8BF65B20B0D7943EFA1D56A81F5FAB5_42</vt:lpwstr>
  </property>
  <property fmtid="{D5CDD505-2E9C-101B-9397-08002B2CF9AE}" pid="3" name="KSOProductBuildVer">
    <vt:lpwstr>1033-12.1.28496.28496</vt:lpwstr>
  </property>
</Properties>
</file>