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10 min)" id="{bc9635b7-186d-39e6-5897-c60f7ed2d4ca}">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 name="Backup" id="{0f0fcb5b-677d-2f96-1600-197241d965d2}">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[Black screen. Stand still, look at the audience, 2 seconds of silence.]
July 31st, 2014. Kaohsiung, Taiwan.
Late in the evening, people on the street begin to smell gas.
Firefighters arrive. They search for the leak — for almost three hours.
They cannot find it. [pause 1 s]
[CLICK 1] Just before midnight, the street explodes.
Thirty-two people dead. Three hundred and twenty-one injured.
The cause? A leaking pipe — buried right under their feet — that nobody could see.
[CLICK 2] And this is not rare. In the US alone, buried utilities are hit more than half a million times a year.
Here in Ho Chi Minh City, newspapers put it simply: dig up any street, and you hit a spider web.
[CLICK 3] Now look at this. Our own campus. We walk across it every day.
Under this asphalt there is a water pipe and a power cable — and no drawing of where they are.
If someone digs here tomorrow… where is it safe?
Today, we will answer that — without digging a single hole.
[One sentence: "We are Quốc Long, Quốc Tài, Thành Trung, Đăng Khoa and Đăng Quang — and this is our seminar on GPR for underground cables and utilities."]
CHECK BEFORE PRESENTING: confirm the timeline (~20:46 gas reports, explosions ~23:57) on Wikipedia "2014 Kaohsiung gas explosions".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[1:00–1:15] Our talk has five parts: the problem and what we set out to do; what others have done; the physics and how we measured; what we found;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Problem: under this courtyard there is a water pipe and a power cable, but no drawing of where they are. Digging blind is how strikes happen — more than a quarter of utility damage in the US starts with a locating error.
Our objectives: locate both lines without digging, estimate how deep they are, and draw a map.
Approach: ground-penetrating radar is the main method; an electromagnetic locator, the RD7000, is the complementary method for metal lines. We processed the data in ReflexW and built the maps in Python.
What we expected: each utility should appear as a hyperbola on every line that crosses it; joining the apexes gives its path and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Abroad, the UK "Mapping the Underworld" project reviewed every locating method and concluded that no single sensor finds every utility — so radar and electromagnetic locators are used together. A 2018 review shows thirty years of GPR moving from locating objects to imaging and diagnosis.
In Vietnam, the Geophysics group at our own university has used the same radar — the IDS Detector Duo — to find water pipes and cables in Ho Chi Minh City, and to build 3D pictures from 2D lines.
We apply the same chain end to end on a site with no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[2:40–3:10] Five NDT methods are used for buried utilities. Only GPR sees both metal and plastic without touching anything; the EM locator is fast but sees metal only. So our scope: shallow utilities, under one metre, in one courtyard — with GPR as the main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[3:10–4:05] GPR is the pulse-echo method from this course — but with radio waves instead of ultrasound, so it needs no contact with the ground.
(1) The wave speed depends on the relative permittivity of the ground. (2) Depth is speed times the two-way time, divided by two.
(3) Energy reflects wherever the permittivity changes. The sign matters: metal reflects with R = −1, an air-filled pipe with a positive R — so metal and an empty pipe have opposite polarity. (A water-filled pipe reflects with the same sign as metal, only weaker.)
(4) As we push the antenna across a small target, the echo arrives earliest right above it — the target draws a hyperbola, and the apex gives its position and depth.
Resolution is about a quarter wavelength: 10 cm at 250 MHz, under 4 cm at 700 MHz. Lower frequency sees deeper, higher is sharper — our radar records both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[4:05–4:35] The second method is electromagnetic induction. An alternating current in a metal cable creates a magnetic field around it, falling off as one over r.
The receiver has coils: the horizontal coil gives a maximum — the peak — right above the cable, the vertical coil a zero — the null. When peak and null agree, the field is clean; two coils give the depth.
It is fast, but it only sees metal: a plastic water pipe is invisible. In our project it is the planned cross-check for the cable depth — we have not measured with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[4:35–5:25] This is how we measured, on the courtyard you saw.
We planned a grid, 10 metres by 3.5. A target gives the clearest hyperbola when we cross it at a right angle. The cable runs across the road, so four lines go along the road — C1 to C4, one metre apart. The water pipe runs along the road, so five lines cross it — N1 to N5.
[photos] We marked the lines, set up the IDS Detector Duo with its two antennas — 250 and 700 megahertz — pushed it along every line, and checked each radargram on the laptop before moving on.
[table] One trace every 2.78 cm, ten scans including a repeat of N5 to check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[5:25–6:05] Each processing step removes one problem. We move the start time to the ground surface; DC removal and dewow remove the slow drift; background removal deletes the bands that repeat on every trace; gain boosts the weak, deeper echoes.
[figure] Left: raw line N5 — the bands hide almost everything. Right: after processing, the water-pipe hyperbola is clear.
Migration with 0.095 m/ns collapses each hyperbola to its apex. For depths we use a two-layer model: 0.12 m/ns in the concrete, 0.10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[6:05–6:40] Before trusting the field data, we built a simple model: soil with v = 0.095 m/ns, a metal cable and an air-filled PVC pipe, both 0.45 m deep, a 250 MHz pulse.
The model predicts a hyperbola with its apex at about 9.5 ns — and on the real lines C1 and N5 the measured hyperbolas follow the same curve, the dashed gold line.
It also shows the opposite polarity of metal and an air-filled pipe, from equation (3). This is a ray model; a gprMax input file is prepared for a full-wave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[6:40–7:20] One hyperbola alone could be anything — a stone, a pocket of fill. So we look for the same echo on neighbouring lines.
[left] Lines C1 to C4 run parallel, one metre apart, drawn on the same position axis. On every line we find the same anomaly, P1 — a strong hyperbola with a long ringing tail, typical of metal.
[dashed line] The four apexes sit in one column, at 2.5 m: the cable crosses the road at a right angle. That is also what we saw on site — the marks we made lined up straight across the road.
[cards] Depth to the top is about 0.45 m on C2 to C4, and 0.65 m on C1.
(If asked: C2 and C4 were walked in the opposite direction; we flipped them and placed their start so that P1 sits on the cable we marked. C1 and C3 agree at 2.50 m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[7:20–7:50] Same idea for the water pipe, on the lines across the road.
(a) N2: a clear hyperbola, A1; its top is about 0.43 m deep. We see the same pipe on N4 and N5 — about one metre from the bench-side edge of the road.
(b) N1: no clear hyperbola — only flat reflections from the pavement layers. We say so rather than guess.
(c) After migration this hyperbola does not focus well, so we do not claim a pipe size — (d) only zooms in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[7:50–8:10] (4.4 – the video starts by itself, 19 s; the scanning part runs at 3× speed. Talk over it.)
This is our survey in 3D, built from the real data: the ground is our own top-view photo.
The radar cart scans each line — every C line, then every N line — and under each line its radargram appears.
At the end, the hyperbola apexes are joined: the orange cable straight across the road, the blue water pipe along it.
(Live version for questions: open 02_SoDoTuyen_BanDo/ket_qua/Canh3D_HienTruong.html in a browser and click the pipe or 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[8:10–8:55] So, what is under our feet?
[table] A power cable crosses the road at a right angle, about 0.45 m to its top — seen on all four lines: high confidence.
A water pipe runs along the road, about a metre from the bench-side edge, 0.43 to 0.59 m deep — seen on three of five lines: medium confidence.
Five other reflectors appear on one line only — we do not claim what they are.
[bottom left] The main uncertainty is the wave speed: two velocity models give depths about 20 % apart.
In Kaohsiung, nobody could see the pipe. Here, we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[8:55–9:40] Three conclusions.
One: with nine lines on a small grid, GPR found a cable and a water pipe under asphalt — no digging. The key was finding the same echo on neighbouring lines.
Two: geometry matters — crossing the target at a right angle is what makes the hyperbola appear.
Three: the two antennas complement each other — 700 MHz is sharper, 250 MHz goes deeper.
Two limits. Our depths depend on the wave speed — next time we calibrate with the RD7000 or one small test pit. And our line positions were set by hand — a GPS or a total station would make the map more accurate.
More than a quarter of utility strikes start with a locating mistake. Locating well is exactly what GPR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[9:40–10:00] At the start we asked: what is under our feet? Now we know — a cable crossing the road and a water pipe along it, about half a metre down.
Thank you for listening. We are happy to take your questions.
(Backup slides follow: plan-view map, depth slices, cable sections C1/C3, migration on line 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where exactly each point was measured, or about the dashed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at which depth the targets appear. Amplitude between lines is interpolated; cells far from any line are left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to see the raw sections: (a) C1 and (b) C3 with P1 in red, other anomalies in orange; (c) C1 after Kirchhoff migration; (d) apparent size ~31 × 14 cm, limited by the ~10 cm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what migration does: (a) filtered line C1 with the cable region boxed, (b) after Kirchhoff migration, (c) zoom on the signal of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A0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MINA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241280" cy="685800"/>
          </a:xfrm>
          <a:prstGeom prst="rect">
            <a:avLst/>
          </a:prstGeom>
          <a:noFill/>
          <a:ln/>
        </p:spPr>
        <p:txBody>
          <a:bodyPr wrap="square" rtlCol="0"/>
          <a:lstStyle>
            <a:lvl1pPr algn="l" indent="0" marL="0">
              <a:buNone/>
              <a:defRPr lang="en-US" sz="2600" b="1" dirty="0">
                <a:solidFill>
                  <a:srgbClr val="0B4A9E"/>
                </a:solidFill>
                <a:latin typeface="Arial" pitchFamily="34" charset="0"/>
                <a:ea typeface="Arial" pitchFamily="34" charset="-122"/>
                <a:cs typeface="Arial" pitchFamily="34" charset="-120"/>
              </a:defRPr>
            </a:lvl1pPr>
          </a:lstStyle>
          <a:p>
            <a:pPr algn="l" indent="0" marL="0">
              <a:buNone/>
            </a:pPr>
            <a:endParaRPr lang="en-US" sz="2600" dirty="0"/>
          </a:p>
        </p:txBody>
      </p:sp>
      <p:pic>
        <p:nvPicPr>
          <p:cNvPr id="3" name="Image 0" descr="/Users/leequoclong/Documents/Kỳ 1 - 26 27/Các Phương Pháp NDT/01_Slide/HinhAnh/Logo_HCMUS.png">    </p:cNvPr>
          <p:cNvPicPr>
            <a:picLocks noChangeAspect="1"/>
          </p:cNvPicPr>
          <p:nvPr/>
        </p:nvPicPr>
        <p:blipFill>
          <a:blip r:embed="rId1"/>
          <a:stretch>
            <a:fillRect/>
          </a:stretch>
        </p:blipFill>
        <p:spPr>
          <a:xfrm>
            <a:off x="11018520" y="274320"/>
            <a:ext cx="667512" cy="548640"/>
          </a:xfrm>
          <a:prstGeom prst="rect">
            <a:avLst/>
          </a:prstGeom>
        </p:spPr>
      </p:pic>
      <p:sp>
        <p:nvSpPr>
          <p:cNvPr id="4" name="Text 0"/>
          <p:cNvSpPr/>
          <p:nvPr/>
        </p:nvSpPr>
        <p:spPr>
          <a:xfrm>
            <a:off x="548640" y="6419088"/>
            <a:ext cx="8229600" cy="256032"/>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Group [ ] · GPR for underground cables and utilities · Non-Destructive Testing Methods – HCMUS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0_date"/>
          <p:cNvSpPr txBox="1"/>
          <p:nvPr/>
        </p:nvSpPr>
        <p:spPr>
          <a:xfrm>
            <a:off x="822960" y="2331720"/>
            <a:ext cx="10515600" cy="1097280"/>
          </a:xfrm>
          <a:prstGeom prst="rect">
            <a:avLst/>
          </a:prstGeom>
          <a:noFill/>
          <a:ln/>
        </p:spPr>
        <p:txBody>
          <a:bodyPr wrap="square" lIns="0" tIns="0" rIns="0" bIns="0" rtlCol="0" anchor="t"/>
          <a:lstStyle/>
          <a:p>
            <a:pPr indent="0" marL="0">
              <a:buNone/>
            </a:pPr>
            <a:r>
              <a:rPr lang="en-US" sz="6600" b="1" spc="600" kern="0" dirty="0">
                <a:solidFill>
                  <a:srgbClr val="F4F1EC"/>
                </a:solidFill>
                <a:latin typeface="Arial" pitchFamily="34" charset="0"/>
                <a:ea typeface="Arial" pitchFamily="34" charset="-122"/>
                <a:cs typeface="Arial" pitchFamily="34" charset="-120"/>
              </a:rPr>
              <a:t>31 JULY 2014</a:t>
            </a:r>
            <a:endParaRPr lang="en-US" sz="6600" dirty="0"/>
          </a:p>
        </p:txBody>
      </p:sp>
      <p:sp>
        <p:nvSpPr>
          <p:cNvPr id="3" name="L0_place"/>
          <p:cNvSpPr txBox="1"/>
          <p:nvPr/>
        </p:nvSpPr>
        <p:spPr>
          <a:xfrm>
            <a:off x="822960" y="3474720"/>
            <a:ext cx="10515600" cy="640080"/>
          </a:xfrm>
          <a:prstGeom prst="rect">
            <a:avLst/>
          </a:prstGeom>
          <a:noFill/>
          <a:ln/>
        </p:spPr>
        <p:txBody>
          <a:bodyPr wrap="square" lIns="0" tIns="0" rIns="0" bIns="0" rtlCol="0" anchor="t"/>
          <a:lstStyle/>
          <a:p>
            <a:pPr indent="0" marL="0">
              <a:buNone/>
            </a:pPr>
            <a:r>
              <a:rPr lang="en-US" sz="2800" dirty="0">
                <a:solidFill>
                  <a:srgbClr val="9A9A9A"/>
                </a:solidFill>
                <a:latin typeface="Arial" pitchFamily="34" charset="0"/>
                <a:ea typeface="Arial" pitchFamily="34" charset="-122"/>
                <a:cs typeface="Arial" pitchFamily="34" charset="-120"/>
              </a:rPr>
              <a:t>Kaohsiung, Taiwan</a:t>
            </a:r>
            <a:endParaRPr lang="en-US" sz="2800" dirty="0"/>
          </a:p>
        </p:txBody>
      </p:sp>
      <p:pic>
        <p:nvPicPr>
          <p:cNvPr id="4" name="L1_photo" descr="Sanduo 1st Road in Kaohsiung torn open after the 2014 gas explosions, with exposed pipes">    </p:cNvPr>
          <p:cNvPicPr>
            <a:picLocks noChangeAspect="1"/>
          </p:cNvPicPr>
          <p:nvPr/>
        </p:nvPicPr>
        <p:blipFill>
          <a:blip r:embed="rId1"/>
          <a:stretch>
            <a:fillRect/>
          </a:stretch>
        </p:blipFill>
        <p:spPr>
          <a:xfrm>
            <a:off x="0" y="0"/>
            <a:ext cx="12191695" cy="6858000"/>
          </a:xfrm>
          <a:prstGeom prst="rect">
            <a:avLst/>
          </a:prstGeom>
        </p:spPr>
      </p:pic>
      <p:pic>
        <p:nvPicPr>
          <p:cNvPr id="5" name="L1_shade" descr="/Users/leequoclong/Documents/Kỳ 1 - 26 27/Các Phương Pháp NDT/01_Slide/_build/grad_left.png">    </p:cNvPr>
          <p:cNvPicPr>
            <a:picLocks noChangeAspect="1"/>
          </p:cNvPicPr>
          <p:nvPr/>
        </p:nvPicPr>
        <p:blipFill>
          <a:blip r:embed="rId2"/>
          <a:stretch>
            <a:fillRect/>
          </a:stretch>
        </p:blipFill>
        <p:spPr>
          <a:xfrm>
            <a:off x="0" y="0"/>
            <a:ext cx="12191695" cy="6858000"/>
          </a:xfrm>
          <a:prstGeom prst="rect">
            <a:avLst/>
          </a:prstGeom>
        </p:spPr>
      </p:pic>
      <p:sp>
        <p:nvSpPr>
          <p:cNvPr id="6" name="L1_dead"/>
          <p:cNvSpPr txBox="1"/>
          <p:nvPr/>
        </p:nvSpPr>
        <p:spPr>
          <a:xfrm>
            <a:off x="731520" y="1554480"/>
            <a:ext cx="5943600" cy="1371600"/>
          </a:xfrm>
          <a:prstGeom prst="rect">
            <a:avLst/>
          </a:prstGeom>
          <a:noFill/>
          <a:ln/>
        </p:spPr>
        <p:txBody>
          <a:bodyPr wrap="square" lIns="0" tIns="0" rIns="0" bIns="0" rtlCol="0" anchor="t"/>
          <a:lstStyle/>
          <a:p>
            <a:pPr indent="0" marL="0">
              <a:buNone/>
            </a:pPr>
            <a:r>
              <a:rPr lang="en-US" sz="9600" b="1" dirty="0">
                <a:solidFill>
                  <a:srgbClr val="E5482D"/>
                </a:solidFill>
                <a:latin typeface="Arial" pitchFamily="34" charset="0"/>
                <a:ea typeface="Arial" pitchFamily="34" charset="-122"/>
                <a:cs typeface="Arial" pitchFamily="34" charset="-120"/>
              </a:rPr>
              <a:t>32 dead</a:t>
            </a:r>
            <a:endParaRPr lang="en-US" sz="9600" dirty="0"/>
          </a:p>
        </p:txBody>
      </p:sp>
      <p:sp>
        <p:nvSpPr>
          <p:cNvPr id="7" name="L1_injured"/>
          <p:cNvSpPr txBox="1"/>
          <p:nvPr/>
        </p:nvSpPr>
        <p:spPr>
          <a:xfrm>
            <a:off x="731520" y="2971800"/>
            <a:ext cx="5943600" cy="822960"/>
          </a:xfrm>
          <a:prstGeom prst="rect">
            <a:avLst/>
          </a:prstGeom>
          <a:noFill/>
          <a:ln/>
        </p:spPr>
        <p:txBody>
          <a:bodyPr wrap="square" lIns="0" tIns="0" rIns="0" bIns="0" rtlCol="0" anchor="t"/>
          <a:lstStyle/>
          <a:p>
            <a:pPr indent="0" marL="0">
              <a:buNone/>
            </a:pPr>
            <a:r>
              <a:rPr lang="en-US" sz="4400" b="1" dirty="0">
                <a:solidFill>
                  <a:srgbClr val="F4F1EC"/>
                </a:solidFill>
                <a:latin typeface="Arial" pitchFamily="34" charset="0"/>
                <a:ea typeface="Arial" pitchFamily="34" charset="-122"/>
                <a:cs typeface="Arial" pitchFamily="34" charset="-120"/>
              </a:rPr>
              <a:t>321 injured</a:t>
            </a:r>
            <a:endParaRPr lang="en-US" sz="4400" dirty="0"/>
          </a:p>
        </p:txBody>
      </p:sp>
      <p:sp>
        <p:nvSpPr>
          <p:cNvPr id="8" name="L1_cause"/>
          <p:cNvSpPr txBox="1"/>
          <p:nvPr/>
        </p:nvSpPr>
        <p:spPr>
          <a:xfrm>
            <a:off x="731520" y="4069080"/>
            <a:ext cx="5486400" cy="914400"/>
          </a:xfrm>
          <a:prstGeom prst="rect">
            <a:avLst/>
          </a:prstGeom>
          <a:noFill/>
          <a:ln/>
        </p:spPr>
        <p:txBody>
          <a:bodyPr wrap="square" lIns="0" tIns="0" rIns="0" bIns="0" rtlCol="0" anchor="t"/>
          <a:lstStyle/>
          <a:p>
            <a:pPr indent="0" marL="0">
              <a:buNone/>
            </a:pPr>
            <a:r>
              <a:rPr lang="en-US" sz="2200" i="1" dirty="0">
                <a:solidFill>
                  <a:srgbClr val="F4F1EC"/>
                </a:solidFill>
                <a:latin typeface="Arial" pitchFamily="34" charset="0"/>
                <a:ea typeface="Arial" pitchFamily="34" charset="-122"/>
                <a:cs typeface="Arial" pitchFamily="34" charset="-120"/>
              </a:rPr>
              <a:t>A leaking pipe under the street.</a:t>
            </a:r>
            <a:endParaRPr lang="en-US" sz="2200" dirty="0"/>
          </a:p>
          <a:p>
            <a:pPr indent="0" marL="0">
              <a:buNone/>
            </a:pPr>
            <a:r>
              <a:rPr lang="en-US" sz="2200" i="1" dirty="0">
                <a:solidFill>
                  <a:srgbClr val="F4F1EC"/>
                </a:solidFill>
                <a:latin typeface="Arial" pitchFamily="34" charset="0"/>
                <a:ea typeface="Arial" pitchFamily="34" charset="-122"/>
                <a:cs typeface="Arial" pitchFamily="34" charset="-120"/>
              </a:rPr>
              <a:t>Nobody could see it.</a:t>
            </a:r>
            <a:endParaRPr lang="en-US" sz="2200" dirty="0"/>
          </a:p>
        </p:txBody>
      </p:sp>
      <p:sp>
        <p:nvSpPr>
          <p:cNvPr id="9" name="L1_credit"/>
          <p:cNvSpPr txBox="1"/>
          <p:nvPr/>
        </p:nvSpPr>
        <p:spPr>
          <a:xfrm>
            <a:off x="5303520" y="6446520"/>
            <a:ext cx="6583680" cy="274320"/>
          </a:xfrm>
          <a:prstGeom prst="rect">
            <a:avLst/>
          </a:prstGeom>
          <a:noFill/>
          <a:ln/>
        </p:spPr>
        <p:txBody>
          <a:bodyPr wrap="square" lIns="0" tIns="0" rIns="0" bIns="0" rtlCol="0" anchor="t"/>
          <a:lstStyle/>
          <a:p>
            <a:pPr algn="r" indent="0" marL="0">
              <a:buNone/>
            </a:pPr>
            <a:r>
              <a:rPr lang="en-US" sz="1000" dirty="0">
                <a:solidFill>
                  <a:srgbClr val="D0D0D0"/>
                </a:solidFill>
                <a:latin typeface="Arial" pitchFamily="34" charset="0"/>
                <a:ea typeface="Arial" pitchFamily="34" charset="-122"/>
                <a:cs typeface="Arial" pitchFamily="34" charset="-120"/>
              </a:rPr>
              <a:t>Sanduo 1st Rd, Kaohsiung, 11 Aug 2014 · Photo: </a:t>
            </a:r>
            <a:pPr algn="r" indent="0" marL="0">
              <a:buNone/>
            </a:pPr>
            <a:r>
              <a:rPr lang="en-US" sz="1000" dirty="0">
                <a:solidFill>
                  <a:srgbClr val="D0D0D0"/>
                </a:solidFill>
                <a:latin typeface="PingFang TC" pitchFamily="34" charset="0"/>
                <a:ea typeface="PingFang TC" pitchFamily="34" charset="-122"/>
                <a:cs typeface="PingFang TC" pitchFamily="34" charset="-120"/>
              </a:rPr>
              <a:t>玄史生</a:t>
            </a:r>
            <a:pPr algn="r" indent="0" marL="0">
              <a:buNone/>
            </a:pPr>
            <a:r>
              <a:rPr lang="en-US" sz="1000" dirty="0">
                <a:solidFill>
                  <a:srgbClr val="D0D0D0"/>
                </a:solidFill>
                <a:latin typeface="Arial" pitchFamily="34" charset="0"/>
                <a:ea typeface="Arial" pitchFamily="34" charset="-122"/>
                <a:cs typeface="Arial" pitchFamily="34" charset="-120"/>
              </a:rPr>
              <a:t> / Wikimedia Commons · CC BY-SA 4.0</a:t>
            </a:r>
            <a:endParaRPr lang="en-US" sz="1000" dirty="0"/>
          </a:p>
        </p:txBody>
      </p:sp>
      <p:sp>
        <p:nvSpPr>
          <p:cNvPr id="10" name="L2_bg"/>
          <p:cNvSpPr/>
          <p:nvPr/>
        </p:nvSpPr>
        <p:spPr>
          <a:xfrm>
            <a:off x="0" y="0"/>
            <a:ext cx="12191695" cy="6858000"/>
          </a:xfrm>
          <a:prstGeom prst="rect">
            <a:avLst/>
          </a:prstGeom>
          <a:solidFill>
            <a:srgbClr val="0A0A0B"/>
          </a:solidFill>
          <a:ln w="12700">
            <a:solidFill>
              <a:srgbClr val="0A0A0B"/>
            </a:solidFill>
            <a:prstDash val="solid"/>
          </a:ln>
        </p:spPr>
      </p:sp>
      <p:sp>
        <p:nvSpPr>
          <p:cNvPr id="11" name="L2_lead"/>
          <p:cNvSpPr txBox="1"/>
          <p:nvPr/>
        </p:nvSpPr>
        <p:spPr>
          <a:xfrm>
            <a:off x="822960" y="685800"/>
            <a:ext cx="10515600" cy="457200"/>
          </a:xfrm>
          <a:prstGeom prst="rect">
            <a:avLst/>
          </a:prstGeom>
          <a:noFill/>
          <a:ln/>
        </p:spPr>
        <p:txBody>
          <a:bodyPr wrap="square" lIns="0" tIns="0" rIns="0" bIns="0" rtlCol="0" anchor="t"/>
          <a:lstStyle/>
          <a:p>
            <a:pPr indent="0" marL="0">
              <a:buNone/>
            </a:pPr>
            <a:r>
              <a:rPr lang="en-US" sz="2200" dirty="0">
                <a:solidFill>
                  <a:srgbClr val="9A9A9A"/>
                </a:solidFill>
                <a:latin typeface="Arial" pitchFamily="34" charset="0"/>
                <a:ea typeface="Arial" pitchFamily="34" charset="-122"/>
                <a:cs typeface="Arial" pitchFamily="34" charset="-120"/>
              </a:rPr>
              <a:t>And this is not rare.</a:t>
            </a:r>
            <a:endParaRPr lang="en-US" sz="2200" dirty="0"/>
          </a:p>
        </p:txBody>
      </p:sp>
      <p:sp>
        <p:nvSpPr>
          <p:cNvPr id="12" name="L2_n1"/>
          <p:cNvSpPr txBox="1"/>
          <p:nvPr/>
        </p:nvSpPr>
        <p:spPr>
          <a:xfrm>
            <a:off x="822960" y="1325880"/>
            <a:ext cx="5486400" cy="1280160"/>
          </a:xfrm>
          <a:prstGeom prst="rect">
            <a:avLst/>
          </a:prstGeom>
          <a:noFill/>
          <a:ln/>
        </p:spPr>
        <p:txBody>
          <a:bodyPr wrap="square" lIns="0" tIns="0" rIns="0" bIns="0" rtlCol="0" anchor="t"/>
          <a:lstStyle/>
          <a:p>
            <a:pPr indent="0" marL="0">
              <a:buNone/>
            </a:pPr>
            <a:r>
              <a:rPr lang="en-US" sz="8000" b="1" dirty="0">
                <a:solidFill>
                  <a:srgbClr val="F4F1EC"/>
                </a:solidFill>
                <a:latin typeface="Arial" pitchFamily="34" charset="0"/>
                <a:ea typeface="Arial" pitchFamily="34" charset="-122"/>
                <a:cs typeface="Arial" pitchFamily="34" charset="-120"/>
              </a:rPr>
              <a:t>500,000+</a:t>
            </a:r>
            <a:endParaRPr lang="en-US" sz="8000" dirty="0"/>
          </a:p>
        </p:txBody>
      </p:sp>
      <p:sp>
        <p:nvSpPr>
          <p:cNvPr id="13" name="L2_n1lab"/>
          <p:cNvSpPr txBox="1"/>
          <p:nvPr/>
        </p:nvSpPr>
        <p:spPr>
          <a:xfrm>
            <a:off x="822960" y="2651760"/>
            <a:ext cx="5120640" cy="731520"/>
          </a:xfrm>
          <a:prstGeom prst="rect">
            <a:avLst/>
          </a:prstGeom>
          <a:noFill/>
          <a:ln/>
        </p:spPr>
        <p:txBody>
          <a:bodyPr wrap="square" lIns="0" tIns="0" rIns="0" bIns="0" rtlCol="0" anchor="t"/>
          <a:lstStyle/>
          <a:p>
            <a:pPr indent="0" marL="0">
              <a:buNone/>
            </a:pPr>
            <a:r>
              <a:rPr lang="en-US" sz="1800" dirty="0">
                <a:solidFill>
                  <a:srgbClr val="9A9A9A"/>
                </a:solidFill>
                <a:latin typeface="Arial" pitchFamily="34" charset="0"/>
                <a:ea typeface="Arial" pitchFamily="34" charset="-122"/>
                <a:cs typeface="Arial" pitchFamily="34" charset="-120"/>
              </a:rPr>
              <a:t>buried utilities hit by digging each year (US)</a:t>
            </a:r>
            <a:endParaRPr lang="en-US" sz="1800" dirty="0"/>
          </a:p>
        </p:txBody>
      </p:sp>
      <p:sp>
        <p:nvSpPr>
          <p:cNvPr id="14" name="L2_n2"/>
          <p:cNvSpPr txBox="1"/>
          <p:nvPr/>
        </p:nvSpPr>
        <p:spPr>
          <a:xfrm>
            <a:off x="6675120" y="1325880"/>
            <a:ext cx="4754880" cy="1280160"/>
          </a:xfrm>
          <a:prstGeom prst="rect">
            <a:avLst/>
          </a:prstGeom>
          <a:noFill/>
          <a:ln/>
        </p:spPr>
        <p:txBody>
          <a:bodyPr wrap="square" lIns="0" tIns="0" rIns="0" bIns="0" rtlCol="0" anchor="t"/>
          <a:lstStyle/>
          <a:p>
            <a:pPr indent="0" marL="0">
              <a:buNone/>
            </a:pPr>
            <a:r>
              <a:rPr lang="en-US" sz="8000" b="1" dirty="0">
                <a:solidFill>
                  <a:srgbClr val="F2C94C"/>
                </a:solidFill>
                <a:latin typeface="Arial" pitchFamily="34" charset="0"/>
                <a:ea typeface="Arial" pitchFamily="34" charset="-122"/>
                <a:cs typeface="Arial" pitchFamily="34" charset="-120"/>
              </a:rPr>
              <a:t>$30B</a:t>
            </a:r>
            <a:endParaRPr lang="en-US" sz="8000" dirty="0"/>
          </a:p>
        </p:txBody>
      </p:sp>
      <p:sp>
        <p:nvSpPr>
          <p:cNvPr id="15" name="L2_n2lab"/>
          <p:cNvSpPr txBox="1"/>
          <p:nvPr/>
        </p:nvSpPr>
        <p:spPr>
          <a:xfrm>
            <a:off x="6675120" y="2651760"/>
            <a:ext cx="4754880" cy="731520"/>
          </a:xfrm>
          <a:prstGeom prst="rect">
            <a:avLst/>
          </a:prstGeom>
          <a:noFill/>
          <a:ln/>
        </p:spPr>
        <p:txBody>
          <a:bodyPr wrap="square" lIns="0" tIns="0" rIns="0" bIns="0" rtlCol="0" anchor="t"/>
          <a:lstStyle/>
          <a:p>
            <a:pPr indent="0" marL="0">
              <a:buNone/>
            </a:pPr>
            <a:r>
              <a:rPr lang="en-US" sz="1800" dirty="0">
                <a:solidFill>
                  <a:srgbClr val="9A9A9A"/>
                </a:solidFill>
                <a:latin typeface="Arial" pitchFamily="34" charset="0"/>
                <a:ea typeface="Arial" pitchFamily="34" charset="-122"/>
                <a:cs typeface="Arial" pitchFamily="34" charset="-120"/>
              </a:rPr>
              <a:t>in damage, every year</a:t>
            </a:r>
            <a:endParaRPr lang="en-US" sz="1800" dirty="0"/>
          </a:p>
        </p:txBody>
      </p:sp>
      <p:sp>
        <p:nvSpPr>
          <p:cNvPr id="16" name="L2_quote"/>
          <p:cNvSpPr txBox="1"/>
          <p:nvPr/>
        </p:nvSpPr>
        <p:spPr>
          <a:xfrm>
            <a:off x="822960" y="3977640"/>
            <a:ext cx="10607040" cy="822960"/>
          </a:xfrm>
          <a:prstGeom prst="rect">
            <a:avLst/>
          </a:prstGeom>
          <a:noFill/>
          <a:ln/>
        </p:spPr>
        <p:txBody>
          <a:bodyPr wrap="square" lIns="0" tIns="0" rIns="0" bIns="0" rtlCol="0" anchor="t"/>
          <a:lstStyle/>
          <a:p>
            <a:pPr indent="0" marL="0">
              <a:buNone/>
            </a:pPr>
            <a:r>
              <a:rPr lang="en-US" sz="3400" i="1" dirty="0">
                <a:solidFill>
                  <a:srgbClr val="F4F1EC"/>
                </a:solidFill>
                <a:latin typeface="Arial" pitchFamily="34" charset="0"/>
                <a:ea typeface="Arial" pitchFamily="34" charset="-122"/>
                <a:cs typeface="Arial" pitchFamily="34" charset="-120"/>
              </a:rPr>
              <a:t>“Dig up any street, and you hit a spider web.”</a:t>
            </a:r>
            <a:endParaRPr lang="en-US" sz="3400" dirty="0"/>
          </a:p>
        </p:txBody>
      </p:sp>
      <p:sp>
        <p:nvSpPr>
          <p:cNvPr id="17" name="L2_quoteby"/>
          <p:cNvSpPr txBox="1"/>
          <p:nvPr/>
        </p:nvSpPr>
        <p:spPr>
          <a:xfrm>
            <a:off x="822960" y="4846320"/>
            <a:ext cx="10607040" cy="457200"/>
          </a:xfrm>
          <a:prstGeom prst="rect">
            <a:avLst/>
          </a:prstGeom>
          <a:noFill/>
          <a:ln/>
        </p:spPr>
        <p:txBody>
          <a:bodyPr wrap="square" lIns="0" tIns="0" rIns="0" bIns="0" rtlCol="0" anchor="t"/>
          <a:lstStyle/>
          <a:p>
            <a:pPr indent="0" marL="0">
              <a:buNone/>
            </a:pPr>
            <a:r>
              <a:rPr lang="en-US" sz="1600" dirty="0">
                <a:solidFill>
                  <a:srgbClr val="9A9A9A"/>
                </a:solidFill>
                <a:latin typeface="Arial" pitchFamily="34" charset="0"/>
                <a:ea typeface="Arial" pitchFamily="34" charset="-122"/>
                <a:cs typeface="Arial" pitchFamily="34" charset="-120"/>
              </a:rPr>
              <a:t>— headline, Người Lao Động newspaper, Ho Chi Minh City (translated)</a:t>
            </a:r>
            <a:endParaRPr lang="en-US" sz="1600" dirty="0"/>
          </a:p>
        </p:txBody>
      </p:sp>
      <p:sp>
        <p:nvSpPr>
          <p:cNvPr id="18" name="L2_src"/>
          <p:cNvSpPr txBox="1"/>
          <p:nvPr/>
        </p:nvSpPr>
        <p:spPr>
          <a:xfrm>
            <a:off x="822960" y="6355080"/>
            <a:ext cx="10607040" cy="274320"/>
          </a:xfrm>
          <a:prstGeom prst="rect">
            <a:avLst/>
          </a:prstGeom>
          <a:noFill/>
          <a:ln/>
        </p:spPr>
        <p:txBody>
          <a:bodyPr wrap="square" lIns="0" tIns="0" rIns="0" bIns="0" rtlCol="0" anchor="t"/>
          <a:lstStyle/>
          <a:p>
            <a:pPr indent="0" marL="0">
              <a:buNone/>
            </a:pPr>
            <a:r>
              <a:rPr lang="en-US" sz="1000" dirty="0">
                <a:solidFill>
                  <a:srgbClr val="6E6E6E"/>
                </a:solidFill>
                <a:latin typeface="Arial" pitchFamily="34" charset="0"/>
                <a:ea typeface="Arial" pitchFamily="34" charset="-122"/>
                <a:cs typeface="Arial" pitchFamily="34" charset="-120"/>
              </a:rPr>
              <a:t>Sources: Common Ground Alliance, DIRT Report 2019 · nld.com.vn</a:t>
            </a:r>
            <a:endParaRPr lang="en-US" sz="1000" dirty="0"/>
          </a:p>
        </p:txBody>
      </p:sp>
      <p:pic>
        <p:nvPicPr>
          <p:cNvPr id="19" name="L3_photo" descr="Asphalt courtyard and stone benches on the HCMUS campus">    </p:cNvPr>
          <p:cNvPicPr>
            <a:picLocks noChangeAspect="1"/>
          </p:cNvPicPr>
          <p:nvPr/>
        </p:nvPicPr>
        <p:blipFill>
          <a:blip r:embed="rId3"/>
          <a:stretch>
            <a:fillRect/>
          </a:stretch>
        </p:blipFill>
        <p:spPr>
          <a:xfrm>
            <a:off x="0" y="0"/>
            <a:ext cx="12191695" cy="6858000"/>
          </a:xfrm>
          <a:prstGeom prst="rect">
            <a:avLst/>
          </a:prstGeom>
        </p:spPr>
      </p:pic>
      <p:pic>
        <p:nvPicPr>
          <p:cNvPr id="20" name="L3_shade" descr="/Users/leequoclong/Documents/Kỳ 1 - 26 27/Các Phương Pháp NDT/01_Slide/_build/grad_bottom.png">    </p:cNvPr>
          <p:cNvPicPr>
            <a:picLocks noChangeAspect="1"/>
          </p:cNvPicPr>
          <p:nvPr/>
        </p:nvPicPr>
        <p:blipFill>
          <a:blip r:embed="rId4"/>
          <a:stretch>
            <a:fillRect/>
          </a:stretch>
        </p:blipFill>
        <p:spPr>
          <a:xfrm>
            <a:off x="0" y="0"/>
            <a:ext cx="12191695" cy="6858000"/>
          </a:xfrm>
          <a:prstGeom prst="rect">
            <a:avLst/>
          </a:prstGeom>
        </p:spPr>
      </p:pic>
      <p:sp>
        <p:nvSpPr>
          <p:cNvPr id="21" name="L3_tag"/>
          <p:cNvSpPr txBox="1"/>
          <p:nvPr/>
        </p:nvSpPr>
        <p:spPr>
          <a:xfrm>
            <a:off x="731520" y="457200"/>
            <a:ext cx="3383280" cy="411480"/>
          </a:xfrm>
          <a:prstGeom prst="roundRect">
            <a:avLst>
              <a:gd name="adj" fmla="val 22222"/>
            </a:avLst>
          </a:prstGeom>
          <a:solidFill>
            <a:srgbClr val="000000">
              <a:alpha val="65000"/>
            </a:srgbClr>
          </a:solid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This courtyard · HCMUS campus</a:t>
            </a:r>
            <a:endParaRPr lang="en-US" sz="1400" dirty="0"/>
          </a:p>
        </p:txBody>
      </p:sp>
      <p:pic>
        <p:nvPicPr>
          <p:cNvPr id="22" name="L3_logo" descr="HCMUS logo">    </p:cNvPr>
          <p:cNvPicPr>
            <a:picLocks noChangeAspect="1"/>
          </p:cNvPicPr>
          <p:nvPr/>
        </p:nvPicPr>
        <p:blipFill>
          <a:blip r:embed="rId5"/>
          <a:stretch>
            <a:fillRect/>
          </a:stretch>
        </p:blipFill>
        <p:spPr>
          <a:xfrm>
            <a:off x="10744200" y="365760"/>
            <a:ext cx="914400" cy="749808"/>
          </a:xfrm>
          <a:prstGeom prst="rect">
            <a:avLst/>
          </a:prstGeom>
        </p:spPr>
      </p:pic>
      <p:sp>
        <p:nvSpPr>
          <p:cNvPr id="23" name="L3_q"/>
          <p:cNvSpPr txBox="1"/>
          <p:nvPr/>
        </p:nvSpPr>
        <p:spPr>
          <a:xfrm>
            <a:off x="731520" y="3611880"/>
            <a:ext cx="10789920" cy="1005840"/>
          </a:xfrm>
          <a:prstGeom prst="rect">
            <a:avLst/>
          </a:prstGeom>
          <a:noFill/>
          <a:ln/>
        </p:spPr>
        <p:txBody>
          <a:bodyPr wrap="square" lIns="0" tIns="0" rIns="0" bIns="0" rtlCol="0" anchor="t"/>
          <a:lstStyle/>
          <a:p>
            <a:pPr indent="0" marL="0">
              <a:buNone/>
            </a:pPr>
            <a:r>
              <a:rPr lang="en-US" sz="5800" b="1" dirty="0">
                <a:solidFill>
                  <a:srgbClr val="FFFFFF"/>
                </a:solidFill>
                <a:latin typeface="Arial" pitchFamily="34" charset="0"/>
                <a:ea typeface="Arial" pitchFamily="34" charset="-122"/>
                <a:cs typeface="Arial" pitchFamily="34" charset="-120"/>
              </a:rPr>
              <a:t>What is under our feet?</a:t>
            </a:r>
            <a:endParaRPr lang="en-US" sz="5800" dirty="0"/>
          </a:p>
        </p:txBody>
      </p:sp>
      <p:sp>
        <p:nvSpPr>
          <p:cNvPr id="24" name="L3_title"/>
          <p:cNvSpPr txBox="1"/>
          <p:nvPr/>
        </p:nvSpPr>
        <p:spPr>
          <a:xfrm>
            <a:off x="731520" y="4709160"/>
            <a:ext cx="10789920" cy="457200"/>
          </a:xfrm>
          <a:prstGeom prst="rect">
            <a:avLst/>
          </a:prstGeom>
          <a:noFill/>
          <a:ln/>
        </p:spPr>
        <p:txBody>
          <a:bodyPr wrap="square" lIns="0" tIns="0" rIns="0" bIns="0" rtlCol="0" anchor="t"/>
          <a:lstStyle/>
          <a:p>
            <a:pPr indent="0" marL="0">
              <a:buNone/>
            </a:pPr>
            <a:r>
              <a:rPr lang="en-US" sz="2400" b="1" dirty="0">
                <a:solidFill>
                  <a:srgbClr val="F2C94C"/>
                </a:solidFill>
                <a:latin typeface="Arial" pitchFamily="34" charset="0"/>
                <a:ea typeface="Arial" pitchFamily="34" charset="-122"/>
                <a:cs typeface="Arial" pitchFamily="34" charset="-120"/>
              </a:rPr>
              <a:t>Application of GPR in Surveying Underground Cables and Utilities</a:t>
            </a:r>
            <a:endParaRPr lang="en-US" sz="2400" dirty="0"/>
          </a:p>
        </p:txBody>
      </p:sp>
      <p:sp>
        <p:nvSpPr>
          <p:cNvPr id="25" name="L3_team"/>
          <p:cNvSpPr txBox="1"/>
          <p:nvPr/>
        </p:nvSpPr>
        <p:spPr>
          <a:xfrm>
            <a:off x="731520" y="5303520"/>
            <a:ext cx="1078992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Quốc Long  ·  Quốc Tài  ·  Thành Trung  ·  Đăng Khoa  ·  Đăng Quang</a:t>
            </a:r>
            <a:endParaRPr lang="en-US" sz="1600" dirty="0"/>
          </a:p>
        </p:txBody>
      </p:sp>
      <p:sp>
        <p:nvSpPr>
          <p:cNvPr id="26" name="L3_info"/>
          <p:cNvSpPr txBox="1"/>
          <p:nvPr/>
        </p:nvSpPr>
        <p:spPr>
          <a:xfrm>
            <a:off x="731520" y="5760720"/>
            <a:ext cx="10789920" cy="365760"/>
          </a:xfrm>
          <a:prstGeom prst="rect">
            <a:avLst/>
          </a:prstGeom>
          <a:noFill/>
          <a:ln/>
        </p:spPr>
        <p:txBody>
          <a:bodyPr wrap="square" lIns="0" tIns="0" rIns="0" bIns="0" rtlCol="0" anchor="t"/>
          <a:lstStyle/>
          <a:p>
            <a:pPr indent="0" marL="0">
              <a:buNone/>
            </a:pPr>
            <a:r>
              <a:rPr lang="en-US" sz="1300" dirty="0">
                <a:solidFill>
                  <a:srgbClr val="D8D8D8"/>
                </a:solidFill>
                <a:latin typeface="Arial" pitchFamily="34" charset="0"/>
                <a:ea typeface="Arial" pitchFamily="34" charset="-122"/>
                <a:cs typeface="Arial" pitchFamily="34" charset="-120"/>
              </a:rPr>
              <a:t>Group [ ]   ·   Supervisor: [ ]   ·   Non-Destructive Testing Methods   ·   Faculty of Physics &amp; Engineering Physics – HCMUS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9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9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9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9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9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9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9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9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9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9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9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9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9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9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9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9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9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9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9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9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9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9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1" grpId="0" animBg="1"/>
      <p:bldP spid="23" grpId="0" animBg="1"/>
      <p:bldP spid="24" grpId="0" animBg="1"/>
      <p:bldP spid="25" grpId="0" animBg="1"/>
      <p:bldP spid="2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B4A9E"/>
          </a:solidFill>
          <a:ln w="12700">
            <a:solidFill>
              <a:srgbClr val="0B4A9E"/>
            </a:solidFill>
            <a:prstDash val="solid"/>
          </a:ln>
        </p:spPr>
      </p:sp>
      <p:pic>
        <p:nvPicPr>
          <p:cNvPr id="3" name="Image 0" descr="HCMUS logo">    </p:cNvPr>
          <p:cNvPicPr>
            <a:picLocks noChangeAspect="1"/>
          </p:cNvPicPr>
          <p:nvPr/>
        </p:nvPicPr>
        <p:blipFill>
          <a:blip r:embed="rId1"/>
          <a:stretch>
            <a:fillRect/>
          </a:stretch>
        </p:blipFill>
        <p:spPr>
          <a:xfrm>
            <a:off x="640080" y="548640"/>
            <a:ext cx="777240" cy="640080"/>
          </a:xfrm>
          <a:prstGeom prst="rect">
            <a:avLst/>
          </a:prstGeom>
        </p:spPr>
      </p:pic>
      <p:sp>
        <p:nvSpPr>
          <p:cNvPr id="4" name="Text 1"/>
          <p:cNvSpPr txBox="1"/>
          <p:nvPr/>
        </p:nvSpPr>
        <p:spPr>
          <a:xfrm>
            <a:off x="640080" y="2377440"/>
            <a:ext cx="301752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Outline</a:t>
            </a:r>
            <a:endParaRPr lang="en-US" sz="4400" dirty="0"/>
          </a:p>
        </p:txBody>
      </p:sp>
      <p:sp>
        <p:nvSpPr>
          <p:cNvPr id="5" name="Text 2"/>
          <p:cNvSpPr txBox="1"/>
          <p:nvPr/>
        </p:nvSpPr>
        <p:spPr>
          <a:xfrm>
            <a:off x="640080" y="3291840"/>
            <a:ext cx="3017520" cy="1097280"/>
          </a:xfrm>
          <a:prstGeom prst="rect">
            <a:avLst/>
          </a:prstGeom>
          <a:noFill/>
          <a:ln/>
        </p:spPr>
        <p:txBody>
          <a:bodyPr wrap="square" lIns="0" tIns="0" rIns="0" bIns="0" rtlCol="0" anchor="t"/>
          <a:lstStyle/>
          <a:p>
            <a:pPr indent="0" marL="0">
              <a:buNone/>
            </a:pPr>
            <a:r>
              <a:rPr lang="en-US" sz="1600" dirty="0">
                <a:solidFill>
                  <a:srgbClr val="D6E2F3"/>
                </a:solidFill>
                <a:latin typeface="Arial" pitchFamily="34" charset="0"/>
                <a:ea typeface="Arial" pitchFamily="34" charset="-122"/>
                <a:cs typeface="Arial" pitchFamily="34" charset="-120"/>
              </a:rPr>
              <a:t>Application of GPR in Surveying Underground Cables and Utilities</a:t>
            </a:r>
            <a:endParaRPr lang="en-US" sz="1600" dirty="0"/>
          </a:p>
        </p:txBody>
      </p:sp>
      <p:sp>
        <p:nvSpPr>
          <p:cNvPr id="6" name="Text 3"/>
          <p:cNvSpPr txBox="1"/>
          <p:nvPr/>
        </p:nvSpPr>
        <p:spPr>
          <a:xfrm>
            <a:off x="640080" y="5989320"/>
            <a:ext cx="3017520" cy="274320"/>
          </a:xfrm>
          <a:prstGeom prst="rect">
            <a:avLst/>
          </a:prstGeom>
          <a:noFill/>
          <a:ln/>
        </p:spPr>
        <p:txBody>
          <a:bodyPr wrap="square" lIns="0" tIns="0" rIns="0" bIns="0" rtlCol="0" anchor="t"/>
          <a:lstStyle/>
          <a:p>
            <a:pPr indent="0" marL="0">
              <a:buNone/>
            </a:pPr>
            <a:r>
              <a:rPr lang="en-US" sz="1200" dirty="0">
                <a:solidFill>
                  <a:srgbClr val="D6E2F3"/>
                </a:solidFill>
                <a:latin typeface="Arial" pitchFamily="34" charset="0"/>
                <a:ea typeface="Arial" pitchFamily="34" charset="-122"/>
                <a:cs typeface="Arial" pitchFamily="34" charset="-120"/>
              </a:rPr>
              <a:t>Seminar · Non-Destructive Testing Methods</a:t>
            </a:r>
            <a:endParaRPr lang="en-US" sz="1200" dirty="0"/>
          </a:p>
        </p:txBody>
      </p:sp>
      <p:sp>
        <p:nvSpPr>
          <p:cNvPr id="7" name="Shape 4"/>
          <p:cNvSpPr/>
          <p:nvPr/>
        </p:nvSpPr>
        <p:spPr>
          <a:xfrm>
            <a:off x="4663440" y="822960"/>
            <a:ext cx="640080" cy="640080"/>
          </a:xfrm>
          <a:prstGeom prst="ellipse">
            <a:avLst/>
          </a:prstGeom>
          <a:solidFill>
            <a:srgbClr val="0B4A9E"/>
          </a:solidFill>
          <a:ln w="12700">
            <a:solidFill>
              <a:srgbClr val="0B4A9E"/>
            </a:solidFill>
            <a:prstDash val="solid"/>
          </a:ln>
        </p:spPr>
      </p:sp>
      <p:sp>
        <p:nvSpPr>
          <p:cNvPr id="8" name="Text 5"/>
          <p:cNvSpPr txBox="1"/>
          <p:nvPr/>
        </p:nvSpPr>
        <p:spPr>
          <a:xfrm>
            <a:off x="4663440" y="822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6"/>
          <p:cNvSpPr txBox="1"/>
          <p:nvPr/>
        </p:nvSpPr>
        <p:spPr>
          <a:xfrm>
            <a:off x="5577840" y="777240"/>
            <a:ext cx="6035040" cy="411480"/>
          </a:xfrm>
          <a:prstGeom prst="rect">
            <a:avLst/>
          </a:prstGeom>
          <a:noFill/>
          <a:ln/>
        </p:spPr>
        <p:txBody>
          <a:bodyPr wrap="square" lIns="0" tIns="0" rIns="0" bIns="0" rtlCol="0" anchor="t"/>
          <a:lstStyle/>
          <a:p>
            <a:pPr indent="0" marL="0">
              <a:buNone/>
            </a:pPr>
            <a:r>
              <a:rPr lang="en-US" sz="2200" b="1" dirty="0">
                <a:solidFill>
                  <a:srgbClr val="1B1B1D"/>
                </a:solidFill>
                <a:latin typeface="Arial" pitchFamily="34" charset="0"/>
                <a:ea typeface="Arial" pitchFamily="34" charset="-122"/>
                <a:cs typeface="Arial" pitchFamily="34" charset="-120"/>
              </a:rPr>
              <a:t>Introduction</a:t>
            </a:r>
            <a:endParaRPr lang="en-US" sz="2200" dirty="0"/>
          </a:p>
        </p:txBody>
      </p:sp>
      <p:sp>
        <p:nvSpPr>
          <p:cNvPr id="10" name="Text 7"/>
          <p:cNvSpPr txBox="1"/>
          <p:nvPr/>
        </p:nvSpPr>
        <p:spPr>
          <a:xfrm>
            <a:off x="5577840" y="1234440"/>
            <a:ext cx="6035040" cy="3657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Problem, objectives and approach</a:t>
            </a:r>
            <a:endParaRPr lang="en-US" sz="1400" dirty="0"/>
          </a:p>
        </p:txBody>
      </p:sp>
      <p:sp>
        <p:nvSpPr>
          <p:cNvPr id="11" name="Shape 8"/>
          <p:cNvSpPr/>
          <p:nvPr/>
        </p:nvSpPr>
        <p:spPr>
          <a:xfrm>
            <a:off x="4663440" y="1938528"/>
            <a:ext cx="640080" cy="640080"/>
          </a:xfrm>
          <a:prstGeom prst="ellipse">
            <a:avLst/>
          </a:prstGeom>
          <a:solidFill>
            <a:srgbClr val="0B4A9E"/>
          </a:solidFill>
          <a:ln w="12700">
            <a:solidFill>
              <a:srgbClr val="0B4A9E"/>
            </a:solidFill>
            <a:prstDash val="solid"/>
          </a:ln>
        </p:spPr>
      </p:sp>
      <p:sp>
        <p:nvSpPr>
          <p:cNvPr id="12" name="Text 9"/>
          <p:cNvSpPr txBox="1"/>
          <p:nvPr/>
        </p:nvSpPr>
        <p:spPr>
          <a:xfrm>
            <a:off x="4663440" y="193852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0"/>
          <p:cNvSpPr txBox="1"/>
          <p:nvPr/>
        </p:nvSpPr>
        <p:spPr>
          <a:xfrm>
            <a:off x="5577840" y="1892808"/>
            <a:ext cx="6035040" cy="411480"/>
          </a:xfrm>
          <a:prstGeom prst="rect">
            <a:avLst/>
          </a:prstGeom>
          <a:noFill/>
          <a:ln/>
        </p:spPr>
        <p:txBody>
          <a:bodyPr wrap="square" lIns="0" tIns="0" rIns="0" bIns="0" rtlCol="0" anchor="t"/>
          <a:lstStyle/>
          <a:p>
            <a:pPr indent="0" marL="0">
              <a:buNone/>
            </a:pPr>
            <a:r>
              <a:rPr lang="en-US" sz="2200" b="1" dirty="0">
                <a:solidFill>
                  <a:srgbClr val="1B1B1D"/>
                </a:solidFill>
                <a:latin typeface="Arial" pitchFamily="34" charset="0"/>
                <a:ea typeface="Arial" pitchFamily="34" charset="-122"/>
                <a:cs typeface="Arial" pitchFamily="34" charset="-120"/>
              </a:rPr>
              <a:t>Overview</a:t>
            </a:r>
            <a:endParaRPr lang="en-US" sz="2200" dirty="0"/>
          </a:p>
        </p:txBody>
      </p:sp>
      <p:sp>
        <p:nvSpPr>
          <p:cNvPr id="14" name="Text 11"/>
          <p:cNvSpPr txBox="1"/>
          <p:nvPr/>
        </p:nvSpPr>
        <p:spPr>
          <a:xfrm>
            <a:off x="5577840" y="2350008"/>
            <a:ext cx="6035040" cy="3657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Previous work abroad and in Vietnam · NDT methods for buried utilities</a:t>
            </a:r>
            <a:endParaRPr lang="en-US" sz="1400" dirty="0"/>
          </a:p>
        </p:txBody>
      </p:sp>
      <p:sp>
        <p:nvSpPr>
          <p:cNvPr id="15" name="Shape 12"/>
          <p:cNvSpPr/>
          <p:nvPr/>
        </p:nvSpPr>
        <p:spPr>
          <a:xfrm>
            <a:off x="4663440" y="3054096"/>
            <a:ext cx="640080" cy="640080"/>
          </a:xfrm>
          <a:prstGeom prst="ellipse">
            <a:avLst/>
          </a:prstGeom>
          <a:solidFill>
            <a:srgbClr val="0B4A9E"/>
          </a:solidFill>
          <a:ln w="12700">
            <a:solidFill>
              <a:srgbClr val="0B4A9E"/>
            </a:solidFill>
            <a:prstDash val="solid"/>
          </a:ln>
        </p:spPr>
      </p:sp>
      <p:sp>
        <p:nvSpPr>
          <p:cNvPr id="16" name="Text 13"/>
          <p:cNvSpPr txBox="1"/>
          <p:nvPr/>
        </p:nvSpPr>
        <p:spPr>
          <a:xfrm>
            <a:off x="4663440" y="3054096"/>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Text 14"/>
          <p:cNvSpPr txBox="1"/>
          <p:nvPr/>
        </p:nvSpPr>
        <p:spPr>
          <a:xfrm>
            <a:off x="5577840" y="3008376"/>
            <a:ext cx="6035040" cy="411480"/>
          </a:xfrm>
          <a:prstGeom prst="rect">
            <a:avLst/>
          </a:prstGeom>
          <a:noFill/>
          <a:ln/>
        </p:spPr>
        <p:txBody>
          <a:bodyPr wrap="square" lIns="0" tIns="0" rIns="0" bIns="0" rtlCol="0" anchor="t"/>
          <a:lstStyle/>
          <a:p>
            <a:pPr indent="0" marL="0">
              <a:buNone/>
            </a:pPr>
            <a:r>
              <a:rPr lang="en-US" sz="2200" b="1" dirty="0">
                <a:solidFill>
                  <a:srgbClr val="1B1B1D"/>
                </a:solidFill>
                <a:latin typeface="Arial" pitchFamily="34" charset="0"/>
                <a:ea typeface="Arial" pitchFamily="34" charset="-122"/>
                <a:cs typeface="Arial" pitchFamily="34" charset="-120"/>
              </a:rPr>
              <a:t>Methods</a:t>
            </a:r>
            <a:endParaRPr lang="en-US" sz="2200" dirty="0"/>
          </a:p>
        </p:txBody>
      </p:sp>
      <p:sp>
        <p:nvSpPr>
          <p:cNvPr id="18" name="Text 15"/>
          <p:cNvSpPr txBox="1"/>
          <p:nvPr/>
        </p:nvSpPr>
        <p:spPr>
          <a:xfrm>
            <a:off x="5577840" y="3465576"/>
            <a:ext cx="6035040" cy="3657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GPR and electromagnetic-induction principles · field survey · data processing</a:t>
            </a:r>
            <a:endParaRPr lang="en-US" sz="1400" dirty="0"/>
          </a:p>
        </p:txBody>
      </p:sp>
      <p:sp>
        <p:nvSpPr>
          <p:cNvPr id="19" name="Shape 16"/>
          <p:cNvSpPr/>
          <p:nvPr/>
        </p:nvSpPr>
        <p:spPr>
          <a:xfrm>
            <a:off x="4663440" y="4169664"/>
            <a:ext cx="640080" cy="640080"/>
          </a:xfrm>
          <a:prstGeom prst="ellipse">
            <a:avLst/>
          </a:prstGeom>
          <a:solidFill>
            <a:srgbClr val="0B4A9E"/>
          </a:solidFill>
          <a:ln w="12700">
            <a:solidFill>
              <a:srgbClr val="0B4A9E"/>
            </a:solidFill>
            <a:prstDash val="solid"/>
          </a:ln>
        </p:spPr>
      </p:sp>
      <p:sp>
        <p:nvSpPr>
          <p:cNvPr id="20" name="Text 17"/>
          <p:cNvSpPr txBox="1"/>
          <p:nvPr/>
        </p:nvSpPr>
        <p:spPr>
          <a:xfrm>
            <a:off x="4663440" y="4169664"/>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1" name="Text 18"/>
          <p:cNvSpPr txBox="1"/>
          <p:nvPr/>
        </p:nvSpPr>
        <p:spPr>
          <a:xfrm>
            <a:off x="5577840" y="4123944"/>
            <a:ext cx="6035040" cy="411480"/>
          </a:xfrm>
          <a:prstGeom prst="rect">
            <a:avLst/>
          </a:prstGeom>
          <a:noFill/>
          <a:ln/>
        </p:spPr>
        <p:txBody>
          <a:bodyPr wrap="square" lIns="0" tIns="0" rIns="0" bIns="0" rtlCol="0" anchor="t"/>
          <a:lstStyle/>
          <a:p>
            <a:pPr indent="0" marL="0">
              <a:buNone/>
            </a:pPr>
            <a:r>
              <a:rPr lang="en-US" sz="2200" b="1" dirty="0">
                <a:solidFill>
                  <a:srgbClr val="1B1B1D"/>
                </a:solidFill>
                <a:latin typeface="Arial" pitchFamily="34" charset="0"/>
                <a:ea typeface="Arial" pitchFamily="34" charset="-122"/>
                <a:cs typeface="Arial" pitchFamily="34" charset="-120"/>
              </a:rPr>
              <a:t>Results</a:t>
            </a:r>
            <a:endParaRPr lang="en-US" sz="2200" dirty="0"/>
          </a:p>
        </p:txBody>
      </p:sp>
      <p:sp>
        <p:nvSpPr>
          <p:cNvPr id="22" name="Text 19"/>
          <p:cNvSpPr txBox="1"/>
          <p:nvPr/>
        </p:nvSpPr>
        <p:spPr>
          <a:xfrm>
            <a:off x="5577840" y="4581144"/>
            <a:ext cx="6035040" cy="3657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Model · cable and pipe sections · utility map and evaluation</a:t>
            </a:r>
            <a:endParaRPr lang="en-US" sz="1400" dirty="0"/>
          </a:p>
        </p:txBody>
      </p:sp>
      <p:sp>
        <p:nvSpPr>
          <p:cNvPr id="23" name="Shape 20"/>
          <p:cNvSpPr/>
          <p:nvPr/>
        </p:nvSpPr>
        <p:spPr>
          <a:xfrm>
            <a:off x="4663440" y="5285232"/>
            <a:ext cx="640080" cy="640080"/>
          </a:xfrm>
          <a:prstGeom prst="ellipse">
            <a:avLst/>
          </a:prstGeom>
          <a:solidFill>
            <a:srgbClr val="0B4A9E"/>
          </a:solidFill>
          <a:ln w="12700">
            <a:solidFill>
              <a:srgbClr val="0B4A9E"/>
            </a:solidFill>
            <a:prstDash val="solid"/>
          </a:ln>
        </p:spPr>
      </p:sp>
      <p:sp>
        <p:nvSpPr>
          <p:cNvPr id="24" name="Text 21"/>
          <p:cNvSpPr txBox="1"/>
          <p:nvPr/>
        </p:nvSpPr>
        <p:spPr>
          <a:xfrm>
            <a:off x="4663440" y="528523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5" name="Text 22"/>
          <p:cNvSpPr txBox="1"/>
          <p:nvPr/>
        </p:nvSpPr>
        <p:spPr>
          <a:xfrm>
            <a:off x="5577840" y="5239512"/>
            <a:ext cx="6035040" cy="411480"/>
          </a:xfrm>
          <a:prstGeom prst="rect">
            <a:avLst/>
          </a:prstGeom>
          <a:noFill/>
          <a:ln/>
        </p:spPr>
        <p:txBody>
          <a:bodyPr wrap="square" lIns="0" tIns="0" rIns="0" bIns="0" rtlCol="0" anchor="t"/>
          <a:lstStyle/>
          <a:p>
            <a:pPr indent="0" marL="0">
              <a:buNone/>
            </a:pPr>
            <a:r>
              <a:rPr lang="en-US" sz="2200" b="1" dirty="0">
                <a:solidFill>
                  <a:srgbClr val="1B1B1D"/>
                </a:solidFill>
                <a:latin typeface="Arial" pitchFamily="34" charset="0"/>
                <a:ea typeface="Arial" pitchFamily="34" charset="-122"/>
                <a:cs typeface="Arial" pitchFamily="34" charset="-120"/>
              </a:rPr>
              <a:t>Conclusions</a:t>
            </a:r>
            <a:endParaRPr lang="en-US" sz="2200" dirty="0"/>
          </a:p>
        </p:txBody>
      </p:sp>
      <p:sp>
        <p:nvSpPr>
          <p:cNvPr id="26" name="Text 23"/>
          <p:cNvSpPr txBox="1"/>
          <p:nvPr/>
        </p:nvSpPr>
        <p:spPr>
          <a:xfrm>
            <a:off x="5577840" y="5696712"/>
            <a:ext cx="6035040" cy="3657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Conclusions, limitations and recommendations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b="1" dirty="0">
                <a:solidFill>
                  <a:srgbClr val="0B4A9E"/>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1  Introduction: problem, objectives and approach</a:t>
            </a:r>
            <a:endParaRPr lang="en-US" sz="2600" dirty="0"/>
          </a:p>
        </p:txBody>
      </p:sp>
      <p:pic>
        <p:nvPicPr>
          <p:cNvPr id="4" name="Image 0" descr="The asphalt courtyard on the HCMUS campus where the survey was made">    </p:cNvPr>
          <p:cNvPicPr>
            <a:picLocks noChangeAspect="1"/>
          </p:cNvPicPr>
          <p:nvPr/>
        </p:nvPicPr>
        <p:blipFill>
          <a:blip r:embed="rId1"/>
          <a:srcRect l="0" r="0" t="0" b="0"/>
          <a:stretch/>
        </p:blipFill>
        <p:spPr>
          <a:xfrm>
            <a:off x="548640" y="1325880"/>
            <a:ext cx="3383280" cy="4343400"/>
          </a:xfrm>
          <a:prstGeom prst="rect">
            <a:avLst/>
          </a:prstGeom>
        </p:spPr>
      </p:pic>
      <p:sp>
        <p:nvSpPr>
          <p:cNvPr id="5" name="Text 2"/>
          <p:cNvSpPr txBox="1"/>
          <p:nvPr/>
        </p:nvSpPr>
        <p:spPr>
          <a:xfrm>
            <a:off x="548640" y="5742432"/>
            <a:ext cx="3383280" cy="274320"/>
          </a:xfrm>
          <a:prstGeom prst="rect">
            <a:avLst/>
          </a:prstGeom>
          <a:noFill/>
          <a:ln/>
        </p:spPr>
        <p:txBody>
          <a:bodyPr wrap="square" lIns="0" tIns="0" rIns="0" bIns="0" rtlCol="0" anchor="t"/>
          <a:lstStyle/>
          <a:p>
            <a:pPr indent="0" marL="0">
              <a:buNone/>
            </a:pPr>
            <a:r>
              <a:rPr lang="en-US" sz="1100" i="1" dirty="0">
                <a:solidFill>
                  <a:srgbClr val="5F6368"/>
                </a:solidFill>
                <a:latin typeface="Arial" pitchFamily="34" charset="0"/>
                <a:ea typeface="Arial" pitchFamily="34" charset="-122"/>
                <a:cs typeface="Arial" pitchFamily="34" charset="-120"/>
              </a:rPr>
              <a:t>Survey site: asphalt courtyard, HCMUS campus</a:t>
            </a:r>
            <a:endParaRPr lang="en-US" sz="1100" dirty="0"/>
          </a:p>
        </p:txBody>
      </p:sp>
      <p:sp>
        <p:nvSpPr>
          <p:cNvPr id="6" name="Shape 3"/>
          <p:cNvSpPr/>
          <p:nvPr/>
        </p:nvSpPr>
        <p:spPr>
          <a:xfrm>
            <a:off x="4297680" y="1325880"/>
            <a:ext cx="3584448" cy="2286000"/>
          </a:xfrm>
          <a:prstGeom prst="roundRect">
            <a:avLst>
              <a:gd name="adj" fmla="val 3200"/>
            </a:avLst>
          </a:prstGeom>
          <a:solidFill>
            <a:srgbClr val="EEF3FA"/>
          </a:solidFill>
          <a:ln w="12700">
            <a:solidFill>
              <a:srgbClr val="EEF3FA"/>
            </a:solidFill>
            <a:prstDash val="solid"/>
          </a:ln>
        </p:spPr>
      </p:sp>
      <p:sp>
        <p:nvSpPr>
          <p:cNvPr id="7" name="Text 4"/>
          <p:cNvSpPr txBox="1"/>
          <p:nvPr/>
        </p:nvSpPr>
        <p:spPr>
          <a:xfrm>
            <a:off x="4526280" y="1508760"/>
            <a:ext cx="3127248" cy="365760"/>
          </a:xfrm>
          <a:prstGeom prst="rect">
            <a:avLst/>
          </a:prstGeom>
          <a:noFill/>
          <a:ln/>
        </p:spPr>
        <p:txBody>
          <a:bodyPr wrap="square" lIns="0" tIns="0" rIns="0" bIns="0" rtlCol="0" anchor="t"/>
          <a:lstStyle/>
          <a:p>
            <a:pPr indent="0" marL="0">
              <a:buNone/>
            </a:pPr>
            <a:r>
              <a:rPr lang="en-US" sz="1800" b="1" dirty="0">
                <a:solidFill>
                  <a:srgbClr val="0B4A9E"/>
                </a:solidFill>
                <a:latin typeface="Arial" pitchFamily="34" charset="0"/>
                <a:ea typeface="Arial" pitchFamily="34" charset="-122"/>
                <a:cs typeface="Arial" pitchFamily="34" charset="-120"/>
              </a:rPr>
              <a:t>Problem</a:t>
            </a:r>
            <a:endParaRPr lang="en-US" sz="1800" dirty="0"/>
          </a:p>
        </p:txBody>
      </p:sp>
      <p:sp>
        <p:nvSpPr>
          <p:cNvPr id="8" name="Text 5"/>
          <p:cNvSpPr txBox="1"/>
          <p:nvPr/>
        </p:nvSpPr>
        <p:spPr>
          <a:xfrm>
            <a:off x="4526280" y="1965960"/>
            <a:ext cx="3127248" cy="15087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A water pipe and a power cable lie under the courtyard, but there is no as-built drawing.</a:t>
            </a:r>
            <a:endParaRPr lang="en-US" sz="1400" dirty="0"/>
          </a:p>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Digging blind risks a strike: 28 % of US utility damage starts with a locating error (CGA, 2019).</a:t>
            </a:r>
            <a:endParaRPr lang="en-US" sz="1400" dirty="0"/>
          </a:p>
        </p:txBody>
      </p:sp>
      <p:sp>
        <p:nvSpPr>
          <p:cNvPr id="9" name="Shape 6"/>
          <p:cNvSpPr/>
          <p:nvPr/>
        </p:nvSpPr>
        <p:spPr>
          <a:xfrm>
            <a:off x="8065008" y="1325880"/>
            <a:ext cx="3584448" cy="2286000"/>
          </a:xfrm>
          <a:prstGeom prst="roundRect">
            <a:avLst>
              <a:gd name="adj" fmla="val 3200"/>
            </a:avLst>
          </a:prstGeom>
          <a:solidFill>
            <a:srgbClr val="EEF3FA"/>
          </a:solidFill>
          <a:ln w="12700">
            <a:solidFill>
              <a:srgbClr val="EEF3FA"/>
            </a:solidFill>
            <a:prstDash val="solid"/>
          </a:ln>
        </p:spPr>
      </p:sp>
      <p:sp>
        <p:nvSpPr>
          <p:cNvPr id="10" name="Text 7"/>
          <p:cNvSpPr txBox="1"/>
          <p:nvPr/>
        </p:nvSpPr>
        <p:spPr>
          <a:xfrm>
            <a:off x="8293608" y="1508760"/>
            <a:ext cx="3127248" cy="365760"/>
          </a:xfrm>
          <a:prstGeom prst="rect">
            <a:avLst/>
          </a:prstGeom>
          <a:noFill/>
          <a:ln/>
        </p:spPr>
        <p:txBody>
          <a:bodyPr wrap="square" lIns="0" tIns="0" rIns="0" bIns="0" rtlCol="0" anchor="t"/>
          <a:lstStyle/>
          <a:p>
            <a:pPr indent="0" marL="0">
              <a:buNone/>
            </a:pPr>
            <a:r>
              <a:rPr lang="en-US" sz="1800" b="1" dirty="0">
                <a:solidFill>
                  <a:srgbClr val="0B4A9E"/>
                </a:solidFill>
                <a:latin typeface="Arial" pitchFamily="34" charset="0"/>
                <a:ea typeface="Arial" pitchFamily="34" charset="-122"/>
                <a:cs typeface="Arial" pitchFamily="34" charset="-120"/>
              </a:rPr>
              <a:t>Objectives</a:t>
            </a:r>
            <a:endParaRPr lang="en-US" sz="1800" dirty="0"/>
          </a:p>
        </p:txBody>
      </p:sp>
      <p:sp>
        <p:nvSpPr>
          <p:cNvPr id="11" name="Text 8"/>
          <p:cNvSpPr txBox="1"/>
          <p:nvPr/>
        </p:nvSpPr>
        <p:spPr>
          <a:xfrm>
            <a:off x="8293608" y="1965960"/>
            <a:ext cx="3127248" cy="15087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Locate the buried cable and water pipe without digging.</a:t>
            </a:r>
            <a:endParaRPr lang="en-US" sz="1400" dirty="0"/>
          </a:p>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Estimate the depth to the top of each.</a:t>
            </a:r>
            <a:endParaRPr lang="en-US" sz="1400" dirty="0"/>
          </a:p>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Draw a 2D / 3D utility map of the site.</a:t>
            </a:r>
            <a:endParaRPr lang="en-US" sz="1400" dirty="0"/>
          </a:p>
        </p:txBody>
      </p:sp>
      <p:sp>
        <p:nvSpPr>
          <p:cNvPr id="12" name="Shape 9"/>
          <p:cNvSpPr/>
          <p:nvPr/>
        </p:nvSpPr>
        <p:spPr>
          <a:xfrm>
            <a:off x="4297680" y="3749040"/>
            <a:ext cx="3584448" cy="2286000"/>
          </a:xfrm>
          <a:prstGeom prst="roundRect">
            <a:avLst>
              <a:gd name="adj" fmla="val 3200"/>
            </a:avLst>
          </a:prstGeom>
          <a:solidFill>
            <a:srgbClr val="EEF3FA"/>
          </a:solidFill>
          <a:ln w="12700">
            <a:solidFill>
              <a:srgbClr val="EEF3FA"/>
            </a:solidFill>
            <a:prstDash val="solid"/>
          </a:ln>
        </p:spPr>
      </p:sp>
      <p:sp>
        <p:nvSpPr>
          <p:cNvPr id="13" name="Text 10"/>
          <p:cNvSpPr txBox="1"/>
          <p:nvPr/>
        </p:nvSpPr>
        <p:spPr>
          <a:xfrm>
            <a:off x="4526280" y="3931920"/>
            <a:ext cx="3127248" cy="365760"/>
          </a:xfrm>
          <a:prstGeom prst="rect">
            <a:avLst/>
          </a:prstGeom>
          <a:noFill/>
          <a:ln/>
        </p:spPr>
        <p:txBody>
          <a:bodyPr wrap="square" lIns="0" tIns="0" rIns="0" bIns="0" rtlCol="0" anchor="t"/>
          <a:lstStyle/>
          <a:p>
            <a:pPr indent="0" marL="0">
              <a:buNone/>
            </a:pPr>
            <a:r>
              <a:rPr lang="en-US" sz="1800" b="1" dirty="0">
                <a:solidFill>
                  <a:srgbClr val="0B4A9E"/>
                </a:solidFill>
                <a:latin typeface="Arial" pitchFamily="34" charset="0"/>
                <a:ea typeface="Arial" pitchFamily="34" charset="-122"/>
                <a:cs typeface="Arial" pitchFamily="34" charset="-120"/>
              </a:rPr>
              <a:t>Approach</a:t>
            </a:r>
            <a:endParaRPr lang="en-US" sz="1800" dirty="0"/>
          </a:p>
        </p:txBody>
      </p:sp>
      <p:sp>
        <p:nvSpPr>
          <p:cNvPr id="14" name="Text 11"/>
          <p:cNvSpPr txBox="1"/>
          <p:nvPr/>
        </p:nvSpPr>
        <p:spPr>
          <a:xfrm>
            <a:off x="4526280" y="4389120"/>
            <a:ext cx="3127248" cy="15087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Main: GPR, IDS Detector Duo, 250 + 700 MHz.</a:t>
            </a:r>
            <a:endParaRPr lang="en-US" sz="1400" dirty="0"/>
          </a:p>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Complementary: RD7000 EM locator (metal lines).</a:t>
            </a:r>
            <a:endParaRPr lang="en-US" sz="1400" dirty="0"/>
          </a:p>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ReflexW processing; Python maps.</a:t>
            </a:r>
            <a:endParaRPr lang="en-US" sz="1400" dirty="0"/>
          </a:p>
        </p:txBody>
      </p:sp>
      <p:sp>
        <p:nvSpPr>
          <p:cNvPr id="15" name="Shape 12"/>
          <p:cNvSpPr/>
          <p:nvPr/>
        </p:nvSpPr>
        <p:spPr>
          <a:xfrm>
            <a:off x="8065008" y="3749040"/>
            <a:ext cx="3584448" cy="2286000"/>
          </a:xfrm>
          <a:prstGeom prst="roundRect">
            <a:avLst>
              <a:gd name="adj" fmla="val 3200"/>
            </a:avLst>
          </a:prstGeom>
          <a:solidFill>
            <a:srgbClr val="EEF3FA"/>
          </a:solidFill>
          <a:ln w="12700">
            <a:solidFill>
              <a:srgbClr val="EEF3FA"/>
            </a:solidFill>
            <a:prstDash val="solid"/>
          </a:ln>
        </p:spPr>
      </p:sp>
      <p:sp>
        <p:nvSpPr>
          <p:cNvPr id="16" name="Text 13"/>
          <p:cNvSpPr txBox="1"/>
          <p:nvPr/>
        </p:nvSpPr>
        <p:spPr>
          <a:xfrm>
            <a:off x="8293608" y="3931920"/>
            <a:ext cx="3127248" cy="365760"/>
          </a:xfrm>
          <a:prstGeom prst="rect">
            <a:avLst/>
          </a:prstGeom>
          <a:noFill/>
          <a:ln/>
        </p:spPr>
        <p:txBody>
          <a:bodyPr wrap="square" lIns="0" tIns="0" rIns="0" bIns="0" rtlCol="0" anchor="t"/>
          <a:lstStyle/>
          <a:p>
            <a:pPr indent="0" marL="0">
              <a:buNone/>
            </a:pPr>
            <a:r>
              <a:rPr lang="en-US" sz="1800" b="1" dirty="0">
                <a:solidFill>
                  <a:srgbClr val="0B4A9E"/>
                </a:solidFill>
                <a:latin typeface="Arial" pitchFamily="34" charset="0"/>
                <a:ea typeface="Arial" pitchFamily="34" charset="-122"/>
                <a:cs typeface="Arial" pitchFamily="34" charset="-120"/>
              </a:rPr>
              <a:t>Expected results</a:t>
            </a:r>
            <a:endParaRPr lang="en-US" sz="1800" dirty="0"/>
          </a:p>
        </p:txBody>
      </p:sp>
      <p:sp>
        <p:nvSpPr>
          <p:cNvPr id="17" name="Text 14"/>
          <p:cNvSpPr txBox="1"/>
          <p:nvPr/>
        </p:nvSpPr>
        <p:spPr>
          <a:xfrm>
            <a:off x="8293608" y="4389120"/>
            <a:ext cx="3127248" cy="15087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Each utility shows as a hyperbola on every line that crosses it.</a:t>
            </a:r>
            <a:endParaRPr lang="en-US" sz="1400" dirty="0"/>
          </a:p>
          <a:p>
            <a:pPr marL="177800" indent="-177800">
              <a:spcAft>
                <a:spcPts val="500"/>
              </a:spcAft>
              <a:buSzPct val="100000"/>
              <a:buChar char="•"/>
            </a:pPr>
            <a:r>
              <a:rPr lang="en-US" sz="1400" dirty="0">
                <a:solidFill>
                  <a:srgbClr val="1B1B1D"/>
                </a:solidFill>
                <a:latin typeface="Arial" pitchFamily="34" charset="0"/>
                <a:ea typeface="Arial" pitchFamily="34" charset="-122"/>
                <a:cs typeface="Arial" pitchFamily="34" charset="-120"/>
              </a:rPr>
              <a:t>Joining the hyperbola apexes across parallel lines gives its path; the apex time gives its depth.</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2.1  Previous work: abroad and in Vietnam</a:t>
            </a:r>
            <a:endParaRPr lang="en-US" sz="2600" dirty="0"/>
          </a:p>
        </p:txBody>
      </p:sp>
      <p:sp>
        <p:nvSpPr>
          <p:cNvPr id="4" name="Text 2"/>
          <p:cNvSpPr txBox="1"/>
          <p:nvPr/>
        </p:nvSpPr>
        <p:spPr>
          <a:xfrm>
            <a:off x="548640" y="1325880"/>
            <a:ext cx="5394960" cy="365760"/>
          </a:xfrm>
          <a:prstGeom prst="rect">
            <a:avLst/>
          </a:prstGeom>
          <a:noFill/>
          <a:ln/>
        </p:spPr>
        <p:txBody>
          <a:bodyPr wrap="square" lIns="0" tIns="0" rIns="0" bIns="0" rtlCol="0" anchor="t"/>
          <a:lstStyle/>
          <a:p>
            <a:pPr indent="0" marL="0">
              <a:buNone/>
            </a:pPr>
            <a:r>
              <a:rPr lang="en-US" sz="1800" b="1" dirty="0">
                <a:solidFill>
                  <a:srgbClr val="0B4A9E"/>
                </a:solidFill>
                <a:latin typeface="Arial" pitchFamily="34" charset="0"/>
                <a:ea typeface="Arial" pitchFamily="34" charset="-122"/>
                <a:cs typeface="Arial" pitchFamily="34" charset="-120"/>
              </a:rPr>
              <a:t>International</a:t>
            </a:r>
            <a:endParaRPr lang="en-US" sz="1800" dirty="0"/>
          </a:p>
        </p:txBody>
      </p:sp>
      <p:sp>
        <p:nvSpPr>
          <p:cNvPr id="5" name="Shape 3"/>
          <p:cNvSpPr/>
          <p:nvPr/>
        </p:nvSpPr>
        <p:spPr>
          <a:xfrm>
            <a:off x="548640" y="1828800"/>
            <a:ext cx="5394960" cy="1060704"/>
          </a:xfrm>
          <a:prstGeom prst="roundRect">
            <a:avLst>
              <a:gd name="adj" fmla="val 6897"/>
            </a:avLst>
          </a:prstGeom>
          <a:solidFill>
            <a:srgbClr val="EEF3FA"/>
          </a:solidFill>
          <a:ln w="12700">
            <a:solidFill>
              <a:srgbClr val="EEF3FA"/>
            </a:solidFill>
            <a:prstDash val="solid"/>
          </a:ln>
        </p:spPr>
      </p:sp>
      <p:sp>
        <p:nvSpPr>
          <p:cNvPr id="6" name="Text 4"/>
          <p:cNvSpPr txBox="1"/>
          <p:nvPr/>
        </p:nvSpPr>
        <p:spPr>
          <a:xfrm>
            <a:off x="731520" y="1947672"/>
            <a:ext cx="5029200" cy="292608"/>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Metje et al. (2007) · UK, Mapping the Underworld</a:t>
            </a:r>
            <a:endParaRPr lang="en-US" sz="1400" dirty="0"/>
          </a:p>
        </p:txBody>
      </p:sp>
      <p:sp>
        <p:nvSpPr>
          <p:cNvPr id="7" name="Text 5"/>
          <p:cNvSpPr txBox="1"/>
          <p:nvPr/>
        </p:nvSpPr>
        <p:spPr>
          <a:xfrm>
            <a:off x="731520" y="2258568"/>
            <a:ext cx="5029200" cy="59436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Review of utility-locating methods: no single sensor finds every utility, so GPR and EM locators are combined.</a:t>
            </a:r>
            <a:endParaRPr lang="en-US" sz="1300" dirty="0"/>
          </a:p>
        </p:txBody>
      </p:sp>
      <p:sp>
        <p:nvSpPr>
          <p:cNvPr id="8" name="Shape 6"/>
          <p:cNvSpPr/>
          <p:nvPr/>
        </p:nvSpPr>
        <p:spPr>
          <a:xfrm>
            <a:off x="548640" y="3017520"/>
            <a:ext cx="5394960" cy="1060704"/>
          </a:xfrm>
          <a:prstGeom prst="roundRect">
            <a:avLst>
              <a:gd name="adj" fmla="val 6897"/>
            </a:avLst>
          </a:prstGeom>
          <a:solidFill>
            <a:srgbClr val="EEF3FA"/>
          </a:solidFill>
          <a:ln w="12700">
            <a:solidFill>
              <a:srgbClr val="EEF3FA"/>
            </a:solidFill>
            <a:prstDash val="solid"/>
          </a:ln>
        </p:spPr>
      </p:sp>
      <p:sp>
        <p:nvSpPr>
          <p:cNvPr id="9" name="Text 7"/>
          <p:cNvSpPr txBox="1"/>
          <p:nvPr/>
        </p:nvSpPr>
        <p:spPr>
          <a:xfrm>
            <a:off x="731520" y="3136392"/>
            <a:ext cx="5029200" cy="292608"/>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Royal et al. (2011) · UK</a:t>
            </a:r>
            <a:endParaRPr lang="en-US" sz="1400" dirty="0"/>
          </a:p>
        </p:txBody>
      </p:sp>
      <p:sp>
        <p:nvSpPr>
          <p:cNvPr id="10" name="Text 8"/>
          <p:cNvSpPr txBox="1"/>
          <p:nvPr/>
        </p:nvSpPr>
        <p:spPr>
          <a:xfrm>
            <a:off x="731520" y="3447288"/>
            <a:ext cx="5029200" cy="59436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Site trials of multi-sensor approaches for buried utility detection.</a:t>
            </a:r>
            <a:endParaRPr lang="en-US" sz="1300" dirty="0"/>
          </a:p>
        </p:txBody>
      </p:sp>
      <p:sp>
        <p:nvSpPr>
          <p:cNvPr id="11" name="Shape 9"/>
          <p:cNvSpPr/>
          <p:nvPr/>
        </p:nvSpPr>
        <p:spPr>
          <a:xfrm>
            <a:off x="548640" y="4206240"/>
            <a:ext cx="5394960" cy="1060704"/>
          </a:xfrm>
          <a:prstGeom prst="roundRect">
            <a:avLst>
              <a:gd name="adj" fmla="val 6897"/>
            </a:avLst>
          </a:prstGeom>
          <a:solidFill>
            <a:srgbClr val="EEF3FA"/>
          </a:solidFill>
          <a:ln w="12700">
            <a:solidFill>
              <a:srgbClr val="EEF3FA"/>
            </a:solidFill>
            <a:prstDash val="solid"/>
          </a:ln>
        </p:spPr>
      </p:sp>
      <p:sp>
        <p:nvSpPr>
          <p:cNvPr id="12" name="Text 10"/>
          <p:cNvSpPr txBox="1"/>
          <p:nvPr/>
        </p:nvSpPr>
        <p:spPr>
          <a:xfrm>
            <a:off x="731520" y="4325112"/>
            <a:ext cx="5029200" cy="292608"/>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Lai, Dérobert &amp; Annan (2018)</a:t>
            </a:r>
            <a:endParaRPr lang="en-US" sz="1400" dirty="0"/>
          </a:p>
        </p:txBody>
      </p:sp>
      <p:sp>
        <p:nvSpPr>
          <p:cNvPr id="13" name="Text 11"/>
          <p:cNvSpPr txBox="1"/>
          <p:nvPr/>
        </p:nvSpPr>
        <p:spPr>
          <a:xfrm>
            <a:off x="731520" y="4636008"/>
            <a:ext cx="5029200" cy="59436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30 years of GPR in civil engineering: from locating and testing to imaging and diagnosis.</a:t>
            </a:r>
            <a:endParaRPr lang="en-US" sz="1300" dirty="0"/>
          </a:p>
        </p:txBody>
      </p:sp>
      <p:sp>
        <p:nvSpPr>
          <p:cNvPr id="14" name="Text 12"/>
          <p:cNvSpPr txBox="1"/>
          <p:nvPr/>
        </p:nvSpPr>
        <p:spPr>
          <a:xfrm>
            <a:off x="6217920" y="1325880"/>
            <a:ext cx="5394960" cy="365760"/>
          </a:xfrm>
          <a:prstGeom prst="rect">
            <a:avLst/>
          </a:prstGeom>
          <a:noFill/>
          <a:ln/>
        </p:spPr>
        <p:txBody>
          <a:bodyPr wrap="square" lIns="0" tIns="0" rIns="0" bIns="0" rtlCol="0" anchor="t"/>
          <a:lstStyle/>
          <a:p>
            <a:pPr indent="0" marL="0">
              <a:buNone/>
            </a:pPr>
            <a:r>
              <a:rPr lang="en-US" sz="1800" b="1" dirty="0">
                <a:solidFill>
                  <a:srgbClr val="0B4A9E"/>
                </a:solidFill>
                <a:latin typeface="Arial" pitchFamily="34" charset="0"/>
                <a:ea typeface="Arial" pitchFamily="34" charset="-122"/>
                <a:cs typeface="Arial" pitchFamily="34" charset="-120"/>
              </a:rPr>
              <a:t>Vietnam · HCMUS Geophysics group</a:t>
            </a:r>
            <a:endParaRPr lang="en-US" sz="1800" dirty="0"/>
          </a:p>
        </p:txBody>
      </p:sp>
      <p:sp>
        <p:nvSpPr>
          <p:cNvPr id="15" name="Shape 13"/>
          <p:cNvSpPr/>
          <p:nvPr/>
        </p:nvSpPr>
        <p:spPr>
          <a:xfrm>
            <a:off x="6217920" y="1828800"/>
            <a:ext cx="5394960" cy="1060704"/>
          </a:xfrm>
          <a:prstGeom prst="roundRect">
            <a:avLst>
              <a:gd name="adj" fmla="val 6897"/>
            </a:avLst>
          </a:prstGeom>
          <a:solidFill>
            <a:srgbClr val="EEF3FA"/>
          </a:solidFill>
          <a:ln w="12700">
            <a:solidFill>
              <a:srgbClr val="EEF3FA"/>
            </a:solidFill>
            <a:prstDash val="solid"/>
          </a:ln>
        </p:spPr>
      </p:sp>
      <p:sp>
        <p:nvSpPr>
          <p:cNvPr id="16" name="Text 14"/>
          <p:cNvSpPr txBox="1"/>
          <p:nvPr/>
        </p:nvSpPr>
        <p:spPr>
          <a:xfrm>
            <a:off x="6400800" y="1947672"/>
            <a:ext cx="5029200" cy="292608"/>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Nguyễn Thành Vấn et al. (2018)</a:t>
            </a:r>
            <a:endParaRPr lang="en-US" sz="1400" dirty="0"/>
          </a:p>
        </p:txBody>
      </p:sp>
      <p:sp>
        <p:nvSpPr>
          <p:cNvPr id="17" name="Text 15"/>
          <p:cNvSpPr txBox="1"/>
          <p:nvPr/>
        </p:nvSpPr>
        <p:spPr>
          <a:xfrm>
            <a:off x="6400800" y="2258568"/>
            <a:ext cx="5029200" cy="59436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GPRTVN processing software; water pipe Φ0.2 m on Nguyễn Hồng St. with the IDS Detector Duo 250/700 MHz.</a:t>
            </a:r>
            <a:endParaRPr lang="en-US" sz="1300" dirty="0"/>
          </a:p>
        </p:txBody>
      </p:sp>
      <p:sp>
        <p:nvSpPr>
          <p:cNvPr id="18" name="Shape 16"/>
          <p:cNvSpPr/>
          <p:nvPr/>
        </p:nvSpPr>
        <p:spPr>
          <a:xfrm>
            <a:off x="6217920" y="3017520"/>
            <a:ext cx="5394960" cy="1060704"/>
          </a:xfrm>
          <a:prstGeom prst="roundRect">
            <a:avLst>
              <a:gd name="adj" fmla="val 6897"/>
            </a:avLst>
          </a:prstGeom>
          <a:solidFill>
            <a:srgbClr val="EEF3FA"/>
          </a:solidFill>
          <a:ln w="12700">
            <a:solidFill>
              <a:srgbClr val="EEF3FA"/>
            </a:solidFill>
            <a:prstDash val="solid"/>
          </a:ln>
        </p:spPr>
      </p:sp>
      <p:sp>
        <p:nvSpPr>
          <p:cNvPr id="19" name="Text 17"/>
          <p:cNvSpPr txBox="1"/>
          <p:nvPr/>
        </p:nvSpPr>
        <p:spPr>
          <a:xfrm>
            <a:off x="6400800" y="3136392"/>
            <a:ext cx="5029200" cy="292608"/>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Nguyễn Văn Thuận &amp; Lê Văn Anh Cường (2021)</a:t>
            </a:r>
            <a:endParaRPr lang="en-US" sz="1400" dirty="0"/>
          </a:p>
        </p:txBody>
      </p:sp>
      <p:sp>
        <p:nvSpPr>
          <p:cNvPr id="20" name="Text 18"/>
          <p:cNvSpPr txBox="1"/>
          <p:nvPr/>
        </p:nvSpPr>
        <p:spPr>
          <a:xfrm>
            <a:off x="6400800" y="3447288"/>
            <a:ext cx="5029200" cy="59436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Kirchhoff migration and energy analysis to find the wave velocity; power, telecom and water lines in Gò Vấp.</a:t>
            </a:r>
            <a:endParaRPr lang="en-US" sz="1300" dirty="0"/>
          </a:p>
        </p:txBody>
      </p:sp>
      <p:sp>
        <p:nvSpPr>
          <p:cNvPr id="21" name="Shape 19"/>
          <p:cNvSpPr/>
          <p:nvPr/>
        </p:nvSpPr>
        <p:spPr>
          <a:xfrm>
            <a:off x="6217920" y="4206240"/>
            <a:ext cx="5394960" cy="1060704"/>
          </a:xfrm>
          <a:prstGeom prst="roundRect">
            <a:avLst>
              <a:gd name="adj" fmla="val 6897"/>
            </a:avLst>
          </a:prstGeom>
          <a:solidFill>
            <a:srgbClr val="EEF3FA"/>
          </a:solidFill>
          <a:ln w="12700">
            <a:solidFill>
              <a:srgbClr val="EEF3FA"/>
            </a:solidFill>
            <a:prstDash val="solid"/>
          </a:ln>
        </p:spPr>
      </p:sp>
      <p:sp>
        <p:nvSpPr>
          <p:cNvPr id="22" name="Text 20"/>
          <p:cNvSpPr txBox="1"/>
          <p:nvPr/>
        </p:nvSpPr>
        <p:spPr>
          <a:xfrm>
            <a:off x="6400800" y="4325112"/>
            <a:ext cx="5029200" cy="292608"/>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Đặng Hoàng Duy et al. (2020)</a:t>
            </a:r>
            <a:endParaRPr lang="en-US" sz="1400" dirty="0"/>
          </a:p>
        </p:txBody>
      </p:sp>
      <p:sp>
        <p:nvSpPr>
          <p:cNvPr id="23" name="Text 21"/>
          <p:cNvSpPr txBox="1"/>
          <p:nvPr/>
        </p:nvSpPr>
        <p:spPr>
          <a:xfrm>
            <a:off x="6400800" y="4636008"/>
            <a:ext cx="5029200" cy="59436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2D profiles assembled in 3D: 10 objects 0.45–1 m deep, cross-checked with an EM method.</a:t>
            </a:r>
            <a:endParaRPr lang="en-US" sz="1300" dirty="0"/>
          </a:p>
        </p:txBody>
      </p:sp>
      <p:sp>
        <p:nvSpPr>
          <p:cNvPr id="24" name="Text 22"/>
          <p:cNvSpPr txBox="1"/>
          <p:nvPr/>
        </p:nvSpPr>
        <p:spPr>
          <a:xfrm>
            <a:off x="548640" y="5486400"/>
            <a:ext cx="11064240" cy="411480"/>
          </a:xfrm>
          <a:prstGeom prst="rect">
            <a:avLst/>
          </a:prstGeom>
          <a:noFill/>
          <a:ln/>
        </p:spPr>
        <p:txBody>
          <a:bodyPr wrap="square" lIns="0" tIns="0" rIns="0" bIns="0" rtlCol="0" anchor="t"/>
          <a:lstStyle/>
          <a:p>
            <a:pPr indent="0" marL="0">
              <a:buNone/>
            </a:pPr>
            <a:r>
              <a:rPr lang="en-US" sz="1600" b="1" dirty="0">
                <a:solidFill>
                  <a:srgbClr val="0B4A9E"/>
                </a:solidFill>
                <a:latin typeface="Arial" pitchFamily="34" charset="0"/>
                <a:ea typeface="Arial" pitchFamily="34" charset="-122"/>
                <a:cs typeface="Arial" pitchFamily="34" charset="-120"/>
              </a:rPr>
              <a:t>Gap we address: </a:t>
            </a:r>
            <a:pPr indent="0" marL="0">
              <a:buNone/>
            </a:pPr>
            <a:r>
              <a:rPr lang="en-US" sz="1600" dirty="0">
                <a:solidFill>
                  <a:srgbClr val="1B1B1D"/>
                </a:solidFill>
                <a:latin typeface="Arial" pitchFamily="34" charset="0"/>
                <a:ea typeface="Arial" pitchFamily="34" charset="-122"/>
                <a:cs typeface="Arial" pitchFamily="34" charset="-120"/>
              </a:rPr>
              <a:t>the same equipment, applied end to end by students on an undocumented site — from field scan to a utility map.</a:t>
            </a:r>
            <a:endParaRPr lang="en-US" sz="1600" dirty="0"/>
          </a:p>
        </p:txBody>
      </p:sp>
      <p:sp>
        <p:nvSpPr>
          <p:cNvPr id="25" name="Text 23"/>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References [3]–[7] on the last slide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2.2  NDT methods for buried utilities, and our scope</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514600"/>
                <a:gridCol w="2880360"/>
                <a:gridCol w="2103120"/>
                <a:gridCol w="1463040"/>
                <a:gridCol w="2103120"/>
              </a:tblGrid>
              <a:tr h="548640">
                <a:tc>
                  <a:txBody>
                    <a:bodyPr/>
                    <a:lstStyle/>
                    <a:p>
                      <a:pPr indent="0" marL="0">
                        <a:buNone/>
                      </a:pPr>
                      <a:r>
                        <a:rPr lang="en-US" sz="1300" b="1" dirty="0">
                          <a:solidFill>
                            <a:srgbClr val="FFFFFF"/>
                          </a:solidFill>
                          <a:latin typeface="Arial" pitchFamily="34" charset="0"/>
                          <a:ea typeface="Arial" pitchFamily="34" charset="-122"/>
                          <a:cs typeface="Arial" pitchFamily="34" charset="-120"/>
                        </a:rPr>
                        <a:t>Method</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Physical principle</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it detects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Plastic pipes?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Main limitation</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548640">
                <a:tc>
                  <a:txBody>
                    <a:bodyPr/>
                    <a:lstStyle/>
                    <a:p>
                      <a:pPr indent="0" marL="0">
                        <a:buNone/>
                      </a:pPr>
                      <a:r>
                        <a:rPr lang="en-US" sz="1300" b="1" dirty="0">
                          <a:solidFill>
                            <a:srgbClr val="1B1B1D"/>
                          </a:solidFill>
                          <a:latin typeface="Arial" pitchFamily="34" charset="0"/>
                          <a:ea typeface="Arial" pitchFamily="34" charset="-122"/>
                          <a:cs typeface="Arial" pitchFamily="34" charset="-120"/>
                        </a:rPr>
                        <a:t>Ground-penetrating radar (GPR)</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indent="0" marL="0">
                        <a:buNone/>
                      </a:pPr>
                      <a:r>
                        <a:rPr lang="en-US" sz="1300" b="1" dirty="0">
                          <a:solidFill>
                            <a:srgbClr val="1B1B1D"/>
                          </a:solidFill>
                          <a:latin typeface="Arial" pitchFamily="34" charset="0"/>
                          <a:ea typeface="Arial" pitchFamily="34" charset="-122"/>
                          <a:cs typeface="Arial" pitchFamily="34" charset="-120"/>
                        </a:rPr>
                        <a:t>EM pulse reflected at permittivity contrasts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indent="0" marL="0">
                        <a:buNone/>
                      </a:pPr>
                      <a:r>
                        <a:rPr lang="en-US" sz="1300" b="1" dirty="0">
                          <a:solidFill>
                            <a:srgbClr val="1B1B1D"/>
                          </a:solidFill>
                          <a:latin typeface="Arial" pitchFamily="34" charset="0"/>
                          <a:ea typeface="Arial" pitchFamily="34" charset="-122"/>
                          <a:cs typeface="Arial" pitchFamily="34" charset="-120"/>
                        </a:rPr>
                        <a:t>Metal, plastic, voids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indent="0" marL="0">
                        <a:buNone/>
                      </a:pPr>
                      <a:r>
                        <a:rPr lang="en-US" sz="1300" b="1" dirty="0">
                          <a:solidFill>
                            <a:srgbClr val="1B1B1D"/>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indent="0" marL="0">
                        <a:buNone/>
                      </a:pPr>
                      <a:r>
                        <a:rPr lang="en-US" sz="1300" b="1" dirty="0">
                          <a:solidFill>
                            <a:srgbClr val="1B1B1D"/>
                          </a:solidFill>
                          <a:latin typeface="Arial" pitchFamily="34" charset="0"/>
                          <a:ea typeface="Arial" pitchFamily="34" charset="-122"/>
                          <a:cs typeface="Arial" pitchFamily="34" charset="-120"/>
                        </a:rPr>
                        <a:t>Signal fades fast in wet clay</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r>
              <a:tr h="548640">
                <a:tc>
                  <a:txBody>
                    <a:bodyPr/>
                    <a:lstStyle/>
                    <a:p>
                      <a:pPr indent="0" marL="0">
                        <a:buNone/>
                      </a:pPr>
                      <a:r>
                        <a:rPr lang="en-US" sz="1300" dirty="0">
                          <a:solidFill>
                            <a:srgbClr val="1B1B1D"/>
                          </a:solidFill>
                          <a:latin typeface="Arial" pitchFamily="34" charset="0"/>
                          <a:ea typeface="Arial" pitchFamily="34" charset="-122"/>
                          <a:cs typeface="Arial" pitchFamily="34" charset="-120"/>
                        </a:rPr>
                        <a:t>EM locator (e.g. RD7000)</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Magnetic field of a current in the line</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Metallic lines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Only with a sonde</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Blind to non-metallic pipes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48640">
                <a:tc>
                  <a:txBody>
                    <a:bodyPr/>
                    <a:lstStyle/>
                    <a:p>
                      <a:pPr indent="0" marL="0">
                        <a:buNone/>
                      </a:pPr>
                      <a:r>
                        <a:rPr lang="en-US" sz="1300" dirty="0">
                          <a:solidFill>
                            <a:srgbClr val="1B1B1D"/>
                          </a:solidFill>
                          <a:latin typeface="Arial" pitchFamily="34" charset="0"/>
                          <a:ea typeface="Arial" pitchFamily="34" charset="-122"/>
                          <a:cs typeface="Arial" pitchFamily="34" charset="-120"/>
                        </a:rPr>
                        <a:t>Magnetometer</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Distortion of the Earth's magnetic field</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Ferrous objects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Disturbed by nearby metal</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48640">
                <a:tc>
                  <a:txBody>
                    <a:bodyPr/>
                    <a:lstStyle/>
                    <a:p>
                      <a:pPr indent="0" marL="0">
                        <a:buNone/>
                      </a:pPr>
                      <a:r>
                        <a:rPr lang="en-US" sz="1300" dirty="0">
                          <a:solidFill>
                            <a:srgbClr val="1B1B1D"/>
                          </a:solidFill>
                          <a:latin typeface="Arial" pitchFamily="34" charset="0"/>
                          <a:ea typeface="Arial" pitchFamily="34" charset="-122"/>
                          <a:cs typeface="Arial" pitchFamily="34" charset="-120"/>
                        </a:rPr>
                        <a:t>Electrical resistivity (ERT)</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Current injected, voltage measured</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Large resistivity contrasts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Poorly</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Low resolution for small pipes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48640">
                <a:tc>
                  <a:txBody>
                    <a:bodyPr/>
                    <a:lstStyle/>
                    <a:p>
                      <a:pPr indent="0" marL="0">
                        <a:buNone/>
                      </a:pPr>
                      <a:r>
                        <a:rPr lang="en-US" sz="1300" dirty="0">
                          <a:solidFill>
                            <a:srgbClr val="1B1B1D"/>
                          </a:solidFill>
                          <a:latin typeface="Arial" pitchFamily="34" charset="0"/>
                          <a:ea typeface="Arial" pitchFamily="34" charset="-122"/>
                          <a:cs typeface="Arial" pitchFamily="34" charset="-120"/>
                        </a:rPr>
                        <a:t>Acoustic methods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Sound / vibration travelling along the pipe</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Leaks, water-filled pipes</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Yes, if water-filled</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300" dirty="0">
                          <a:solidFill>
                            <a:srgbClr val="1B1B1D"/>
                          </a:solidFill>
                          <a:latin typeface="Arial" pitchFamily="34" charset="0"/>
                          <a:ea typeface="Arial" pitchFamily="34" charset="-122"/>
                          <a:cs typeface="Arial" pitchFamily="34" charset="-120"/>
                        </a:rPr>
                        <a:t>Needs access to the pipe</a:t>
                      </a:r>
                      <a:endParaRPr lang="en-US" sz="1300" dirty="0">
                        <a:latin typeface="Arial" charset="0"/>
                        <a:ea typeface="Arial" charset="0"/>
                        <a:cs typeface="Arial"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5" name="Shape 2"/>
          <p:cNvSpPr/>
          <p:nvPr/>
        </p:nvSpPr>
        <p:spPr>
          <a:xfrm>
            <a:off x="548640" y="4892040"/>
            <a:ext cx="11064240" cy="1051560"/>
          </a:xfrm>
          <a:prstGeom prst="roundRect">
            <a:avLst>
              <a:gd name="adj" fmla="val 6957"/>
            </a:avLst>
          </a:prstGeom>
          <a:solidFill>
            <a:srgbClr val="EEF3FA"/>
          </a:solidFill>
          <a:ln w="12700">
            <a:solidFill>
              <a:srgbClr val="EEF3FA"/>
            </a:solidFill>
            <a:prstDash val="solid"/>
          </a:ln>
        </p:spPr>
      </p:sp>
      <p:sp>
        <p:nvSpPr>
          <p:cNvPr id="6" name="Text 3"/>
          <p:cNvSpPr txBox="1"/>
          <p:nvPr/>
        </p:nvSpPr>
        <p:spPr>
          <a:xfrm>
            <a:off x="777240" y="5010912"/>
            <a:ext cx="2743200" cy="320040"/>
          </a:xfrm>
          <a:prstGeom prst="rect">
            <a:avLst/>
          </a:prstGeom>
          <a:noFill/>
          <a:ln/>
        </p:spPr>
        <p:txBody>
          <a:bodyPr wrap="square" lIns="0" tIns="0" rIns="0" bIns="0" rtlCol="0" anchor="t"/>
          <a:lstStyle/>
          <a:p>
            <a:pPr indent="0" marL="0">
              <a:buNone/>
            </a:pPr>
            <a:r>
              <a:rPr lang="en-US" sz="1600" b="1" dirty="0">
                <a:solidFill>
                  <a:srgbClr val="0B4A9E"/>
                </a:solidFill>
                <a:latin typeface="Arial" pitchFamily="34" charset="0"/>
                <a:ea typeface="Arial" pitchFamily="34" charset="-122"/>
                <a:cs typeface="Arial" pitchFamily="34" charset="-120"/>
              </a:rPr>
              <a:t>Scope of this work</a:t>
            </a:r>
            <a:endParaRPr lang="en-US" sz="1600" dirty="0"/>
          </a:p>
        </p:txBody>
      </p:sp>
      <p:sp>
        <p:nvSpPr>
          <p:cNvPr id="7" name="Text 4"/>
          <p:cNvSpPr txBox="1"/>
          <p:nvPr/>
        </p:nvSpPr>
        <p:spPr>
          <a:xfrm>
            <a:off x="777240" y="5349240"/>
            <a:ext cx="10607040" cy="54864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rgbClr val="1B1B1D"/>
                </a:solidFill>
                <a:latin typeface="Arial" pitchFamily="34" charset="0"/>
                <a:ea typeface="Arial" pitchFamily="34" charset="-122"/>
                <a:cs typeface="Arial" pitchFamily="34" charset="-120"/>
              </a:rPr>
              <a:t>Shallow utilities (&lt; 1 m) under asphalt and concrete, one 10 m × 3.5 m courtyard.</a:t>
            </a:r>
            <a:endParaRPr lang="en-US" sz="1400" dirty="0"/>
          </a:p>
          <a:p>
            <a:pPr marL="177800" indent="-177800">
              <a:spcAft>
                <a:spcPts val="200"/>
              </a:spcAft>
              <a:buSzPct val="100000"/>
              <a:buChar char="•"/>
            </a:pPr>
            <a:r>
              <a:rPr lang="en-US" sz="1400" dirty="0">
                <a:solidFill>
                  <a:srgbClr val="1B1B1D"/>
                </a:solidFill>
                <a:latin typeface="Arial" pitchFamily="34" charset="0"/>
                <a:ea typeface="Arial" pitchFamily="34" charset="-122"/>
                <a:cs typeface="Arial" pitchFamily="34" charset="-120"/>
              </a:rPr>
              <a:t>GPR as the main method — it is the only one that sees both the metal cable and a plastic water pipe.</a:t>
            </a:r>
            <a:endParaRPr lang="en-US" sz="1400" dirty="0"/>
          </a:p>
        </p:txBody>
      </p:sp>
      <p:sp>
        <p:nvSpPr>
          <p:cNvPr id="8" name="Text 5"/>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Based on Metje et al. (2007) [3] and Royal et al. (2011) [4]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3.1  Principle of ground-penetrating radar</a:t>
            </a:r>
            <a:endParaRPr lang="en-US" sz="2600" dirty="0"/>
          </a:p>
        </p:txBody>
      </p:sp>
      <p:pic>
        <p:nvPicPr>
          <p:cNvPr id="4" name="Image 0" descr="Antenna positions above a buried pipe and the resulting hyperbola in travel time">    </p:cNvPr>
          <p:cNvPicPr>
            <a:picLocks noChangeAspect="1"/>
          </p:cNvPicPr>
          <p:nvPr/>
        </p:nvPicPr>
        <p:blipFill>
          <a:blip r:embed="rId1"/>
          <a:stretch>
            <a:fillRect/>
          </a:stretch>
        </p:blipFill>
        <p:spPr>
          <a:xfrm>
            <a:off x="548640" y="1325880"/>
            <a:ext cx="4572000" cy="1975104"/>
          </a:xfrm>
          <a:prstGeom prst="rect">
            <a:avLst/>
          </a:prstGeom>
        </p:spPr>
      </p:pic>
      <p:sp>
        <p:nvSpPr>
          <p:cNvPr id="5" name="Shape 2"/>
          <p:cNvSpPr/>
          <p:nvPr/>
        </p:nvSpPr>
        <p:spPr>
          <a:xfrm>
            <a:off x="548640" y="3520440"/>
            <a:ext cx="4572000" cy="1143000"/>
          </a:xfrm>
          <a:prstGeom prst="roundRect">
            <a:avLst>
              <a:gd name="adj" fmla="val 6400"/>
            </a:avLst>
          </a:prstGeom>
          <a:solidFill>
            <a:srgbClr val="EEF3FA"/>
          </a:solidFill>
          <a:ln w="12700">
            <a:solidFill>
              <a:srgbClr val="EEF3FA"/>
            </a:solidFill>
            <a:prstDash val="solid"/>
          </a:ln>
        </p:spPr>
      </p:sp>
      <p:sp>
        <p:nvSpPr>
          <p:cNvPr id="6" name="Text 3"/>
          <p:cNvSpPr txBox="1"/>
          <p:nvPr/>
        </p:nvSpPr>
        <p:spPr>
          <a:xfrm>
            <a:off x="731520" y="3630168"/>
            <a:ext cx="4206240" cy="320040"/>
          </a:xfrm>
          <a:prstGeom prst="rect">
            <a:avLst/>
          </a:prstGeom>
          <a:noFill/>
          <a:ln/>
        </p:spPr>
        <p:txBody>
          <a:bodyPr wrap="square" lIns="0" tIns="0" rIns="0" bIns="0" rtlCol="0" anchor="t"/>
          <a:lstStyle/>
          <a:p>
            <a:pPr indent="0" marL="0">
              <a:buNone/>
            </a:pPr>
            <a:r>
              <a:rPr lang="en-US" sz="1500" b="1" dirty="0">
                <a:solidFill>
                  <a:srgbClr val="0B4A9E"/>
                </a:solidFill>
                <a:latin typeface="Arial" pitchFamily="34" charset="0"/>
                <a:ea typeface="Arial" pitchFamily="34" charset="-122"/>
                <a:cs typeface="Arial" pitchFamily="34" charset="-120"/>
              </a:rPr>
              <a:t>Pulse–echo, like ultrasound</a:t>
            </a:r>
            <a:endParaRPr lang="en-US" sz="1500" dirty="0"/>
          </a:p>
        </p:txBody>
      </p:sp>
      <p:sp>
        <p:nvSpPr>
          <p:cNvPr id="7" name="Text 4"/>
          <p:cNvSpPr txBox="1"/>
          <p:nvPr/>
        </p:nvSpPr>
        <p:spPr>
          <a:xfrm>
            <a:off x="731520" y="3977640"/>
            <a:ext cx="4206240" cy="640080"/>
          </a:xfrm>
          <a:prstGeom prst="rect">
            <a:avLst/>
          </a:prstGeom>
          <a:noFill/>
          <a:ln/>
        </p:spPr>
        <p:txBody>
          <a:bodyPr wrap="square" lIns="0" tIns="0" rIns="0" bIns="0" rtlCol="0" anchor="t"/>
          <a:lstStyle/>
          <a:p>
            <a:pPr indent="0" marL="0">
              <a:buNone/>
            </a:pPr>
            <a:r>
              <a:rPr lang="en-US" sz="1300" dirty="0">
                <a:solidFill>
                  <a:srgbClr val="1B1B1D"/>
                </a:solidFill>
                <a:latin typeface="Arial" pitchFamily="34" charset="0"/>
                <a:ea typeface="Arial" pitchFamily="34" charset="-122"/>
                <a:cs typeface="Arial" pitchFamily="34" charset="-120"/>
              </a:rPr>
              <a:t>Pulse → echo at an interface → time gives depth. The wave is electromagnetic: no contact, no couplant.</a:t>
            </a:r>
            <a:endParaRPr lang="en-US" sz="1300" dirty="0"/>
          </a:p>
        </p:txBody>
      </p:sp>
      <p:sp>
        <p:nvSpPr>
          <p:cNvPr id="8" name="Shape 5"/>
          <p:cNvSpPr/>
          <p:nvPr/>
        </p:nvSpPr>
        <p:spPr>
          <a:xfrm>
            <a:off x="548640" y="4800600"/>
            <a:ext cx="4572000" cy="1234440"/>
          </a:xfrm>
          <a:prstGeom prst="roundRect">
            <a:avLst>
              <a:gd name="adj" fmla="val 5926"/>
            </a:avLst>
          </a:prstGeom>
          <a:solidFill>
            <a:srgbClr val="EEF3FA"/>
          </a:solidFill>
          <a:ln w="12700">
            <a:solidFill>
              <a:srgbClr val="EEF3FA"/>
            </a:solidFill>
            <a:prstDash val="solid"/>
          </a:ln>
        </p:spPr>
      </p:sp>
      <p:sp>
        <p:nvSpPr>
          <p:cNvPr id="9" name="Text 6"/>
          <p:cNvSpPr txBox="1"/>
          <p:nvPr/>
        </p:nvSpPr>
        <p:spPr>
          <a:xfrm>
            <a:off x="731520" y="4892040"/>
            <a:ext cx="4206240" cy="320040"/>
          </a:xfrm>
          <a:prstGeom prst="rect">
            <a:avLst/>
          </a:prstGeom>
          <a:noFill/>
          <a:ln/>
        </p:spPr>
        <p:txBody>
          <a:bodyPr wrap="square" lIns="0" tIns="0" rIns="0" bIns="0" rtlCol="0" anchor="t"/>
          <a:lstStyle/>
          <a:p>
            <a:pPr indent="0" marL="0">
              <a:buNone/>
            </a:pPr>
            <a:r>
              <a:rPr lang="en-US" sz="1500" b="1" dirty="0">
                <a:solidFill>
                  <a:srgbClr val="0B4A9E"/>
                </a:solidFill>
                <a:latin typeface="Arial" pitchFamily="34" charset="0"/>
                <a:ea typeface="Arial" pitchFamily="34" charset="-122"/>
                <a:cs typeface="Arial" pitchFamily="34" charset="-120"/>
              </a:rPr>
              <a:t>Resolution vs. depth</a:t>
            </a:r>
            <a:endParaRPr lang="en-US" sz="1500" dirty="0"/>
          </a:p>
        </p:txBody>
      </p:sp>
      <p:pic>
        <p:nvPicPr>
          <p:cNvPr id="10" name="Image 1" descr="Delta z is approximately lambda over 4, equal to v over 4 f">    </p:cNvPr>
          <p:cNvPicPr>
            <a:picLocks noChangeAspect="1"/>
          </p:cNvPicPr>
          <p:nvPr/>
        </p:nvPicPr>
        <p:blipFill>
          <a:blip r:embed="rId2"/>
          <a:stretch>
            <a:fillRect/>
          </a:stretch>
        </p:blipFill>
        <p:spPr>
          <a:xfrm>
            <a:off x="685800" y="5330952"/>
            <a:ext cx="1261872" cy="493776"/>
          </a:xfrm>
          <a:prstGeom prst="rect">
            <a:avLst/>
          </a:prstGeom>
        </p:spPr>
      </p:pic>
      <p:sp>
        <p:nvSpPr>
          <p:cNvPr id="11" name="Text 7"/>
          <p:cNvSpPr txBox="1"/>
          <p:nvPr/>
        </p:nvSpPr>
        <p:spPr>
          <a:xfrm>
            <a:off x="2194560" y="5257800"/>
            <a:ext cx="2834640" cy="640080"/>
          </a:xfrm>
          <a:prstGeom prst="rect">
            <a:avLst/>
          </a:prstGeom>
          <a:noFill/>
          <a:ln/>
        </p:spPr>
        <p:txBody>
          <a:bodyPr wrap="square" lIns="0" tIns="0" rIns="0" bIns="0" rtlCol="0" anchor="ctr"/>
          <a:lstStyle/>
          <a:p>
            <a:pPr indent="0" marL="0">
              <a:buNone/>
            </a:pPr>
            <a:r>
              <a:rPr lang="en-US" sz="1300" b="1" dirty="0">
                <a:solidFill>
                  <a:srgbClr val="1B1B1D"/>
                </a:solidFill>
                <a:latin typeface="Arial" pitchFamily="34" charset="0"/>
                <a:ea typeface="Arial" pitchFamily="34" charset="-122"/>
                <a:cs typeface="Arial" pitchFamily="34" charset="-120"/>
              </a:rPr>
              <a:t>250 MHz ≈ 10 cm</a:t>
            </a:r>
            <a:pPr indent="0" marL="0">
              <a:buNone/>
            </a:pPr>
            <a:r>
              <a:rPr lang="en-US" sz="1300" dirty="0">
                <a:solidFill>
                  <a:srgbClr val="5F6368"/>
                </a:solidFill>
                <a:latin typeface="Arial" pitchFamily="34" charset="0"/>
                <a:ea typeface="Arial" pitchFamily="34" charset="-122"/>
                <a:cs typeface="Arial" pitchFamily="34" charset="-120"/>
              </a:rPr>
              <a:t> · deeper</a:t>
            </a:r>
            <a:endParaRPr lang="en-US" sz="1300" dirty="0"/>
          </a:p>
          <a:p>
            <a:pPr indent="0" marL="0">
              <a:buNone/>
            </a:pPr>
            <a:r>
              <a:rPr lang="en-US" sz="1300" b="1" dirty="0">
                <a:solidFill>
                  <a:srgbClr val="1B1B1D"/>
                </a:solidFill>
                <a:latin typeface="Arial" pitchFamily="34" charset="0"/>
                <a:ea typeface="Arial" pitchFamily="34" charset="-122"/>
                <a:cs typeface="Arial" pitchFamily="34" charset="-120"/>
              </a:rPr>
              <a:t>700 MHz ≈ 3.6 cm</a:t>
            </a:r>
            <a:pPr indent="0" marL="0">
              <a:buNone/>
            </a:pPr>
            <a:r>
              <a:rPr lang="en-US" sz="1300" dirty="0">
                <a:solidFill>
                  <a:srgbClr val="5F6368"/>
                </a:solidFill>
                <a:latin typeface="Arial" pitchFamily="34" charset="0"/>
                <a:ea typeface="Arial" pitchFamily="34" charset="-122"/>
                <a:cs typeface="Arial" pitchFamily="34" charset="-120"/>
              </a:rPr>
              <a:t> · sharper</a:t>
            </a:r>
            <a:endParaRPr lang="en-US" sz="1300" dirty="0"/>
          </a:p>
        </p:txBody>
      </p:sp>
      <p:sp>
        <p:nvSpPr>
          <p:cNvPr id="12" name="Shape 8"/>
          <p:cNvSpPr/>
          <p:nvPr/>
        </p:nvSpPr>
        <p:spPr>
          <a:xfrm>
            <a:off x="5440680" y="1325880"/>
            <a:ext cx="6199632" cy="1069848"/>
          </a:xfrm>
          <a:prstGeom prst="roundRect">
            <a:avLst>
              <a:gd name="adj" fmla="val 6838"/>
            </a:avLst>
          </a:prstGeom>
          <a:solidFill>
            <a:srgbClr val="EEF3FA"/>
          </a:solidFill>
          <a:ln w="12700">
            <a:solidFill>
              <a:srgbClr val="EEF3FA"/>
            </a:solidFill>
            <a:prstDash val="solid"/>
          </a:ln>
        </p:spPr>
      </p:sp>
      <p:sp>
        <p:nvSpPr>
          <p:cNvPr id="13" name="Shape 9"/>
          <p:cNvSpPr/>
          <p:nvPr/>
        </p:nvSpPr>
        <p:spPr>
          <a:xfrm>
            <a:off x="5605272" y="1696212"/>
            <a:ext cx="329184" cy="329184"/>
          </a:xfrm>
          <a:prstGeom prst="ellipse">
            <a:avLst/>
          </a:prstGeom>
          <a:solidFill>
            <a:srgbClr val="C9A227"/>
          </a:solidFill>
          <a:ln w="12700">
            <a:solidFill>
              <a:srgbClr val="C9A227"/>
            </a:solidFill>
            <a:prstDash val="solid"/>
          </a:ln>
        </p:spPr>
      </p:sp>
      <p:sp>
        <p:nvSpPr>
          <p:cNvPr id="14" name="Text 10"/>
          <p:cNvSpPr txBox="1"/>
          <p:nvPr/>
        </p:nvSpPr>
        <p:spPr>
          <a:xfrm>
            <a:off x="5605272" y="16962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pic>
        <p:nvPicPr>
          <p:cNvPr id="15" name="Image 2" descr="v equals c over the square root of epsilon r">    </p:cNvPr>
          <p:cNvPicPr>
            <a:picLocks noChangeAspect="1"/>
          </p:cNvPicPr>
          <p:nvPr/>
        </p:nvPicPr>
        <p:blipFill>
          <a:blip r:embed="rId3"/>
          <a:stretch>
            <a:fillRect/>
          </a:stretch>
        </p:blipFill>
        <p:spPr>
          <a:xfrm>
            <a:off x="6080760" y="1589776"/>
            <a:ext cx="1011692" cy="542056"/>
          </a:xfrm>
          <a:prstGeom prst="rect">
            <a:avLst/>
          </a:prstGeom>
        </p:spPr>
      </p:pic>
      <p:sp>
        <p:nvSpPr>
          <p:cNvPr id="16" name="Text 11"/>
          <p:cNvSpPr txBox="1"/>
          <p:nvPr/>
        </p:nvSpPr>
        <p:spPr>
          <a:xfrm>
            <a:off x="9281160" y="1481328"/>
            <a:ext cx="2240280" cy="274320"/>
          </a:xfrm>
          <a:prstGeom prst="rect">
            <a:avLst/>
          </a:prstGeom>
          <a:noFill/>
          <a:ln/>
        </p:spPr>
        <p:txBody>
          <a:bodyPr wrap="square" lIns="0" tIns="0" rIns="0" bIns="0" rtlCol="0" anchor="t"/>
          <a:lstStyle/>
          <a:p>
            <a:pPr indent="0" marL="0">
              <a:buNone/>
            </a:pPr>
            <a:r>
              <a:rPr lang="en-US" sz="1400" b="1" dirty="0">
                <a:solidFill>
                  <a:srgbClr val="0B4A9E"/>
                </a:solidFill>
                <a:latin typeface="Arial" pitchFamily="34" charset="0"/>
                <a:ea typeface="Arial" pitchFamily="34" charset="-122"/>
                <a:cs typeface="Arial" pitchFamily="34" charset="-120"/>
              </a:rPr>
              <a:t>Wave speed</a:t>
            </a:r>
            <a:endParaRPr lang="en-US" sz="1400" dirty="0"/>
          </a:p>
        </p:txBody>
      </p:sp>
      <p:sp>
        <p:nvSpPr>
          <p:cNvPr id="17" name="Text 12"/>
          <p:cNvSpPr txBox="1"/>
          <p:nvPr/>
        </p:nvSpPr>
        <p:spPr>
          <a:xfrm>
            <a:off x="9281160" y="1783080"/>
            <a:ext cx="2240280" cy="54864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c = 0.3 m/ns · ε</a:t>
            </a:r>
            <a:pPr indent="0" marL="0">
              <a:buNone/>
            </a:pPr>
            <a:r>
              <a:rPr lang="en-US" sz="1150" baseline="-40000" dirty="0">
                <a:solidFill>
                  <a:srgbClr val="5F6368"/>
                </a:solidFill>
                <a:latin typeface="Arial" pitchFamily="34" charset="0"/>
                <a:ea typeface="Arial" pitchFamily="34" charset="-122"/>
                <a:cs typeface="Arial" pitchFamily="34" charset="-120"/>
              </a:rPr>
              <a:t>r</a:t>
            </a:r>
            <a:pPr indent="0" marL="0">
              <a:buNone/>
            </a:pPr>
            <a:r>
              <a:rPr lang="en-US" sz="1150" dirty="0">
                <a:solidFill>
                  <a:srgbClr val="5F6368"/>
                </a:solidFill>
                <a:latin typeface="Arial" pitchFamily="34" charset="0"/>
                <a:ea typeface="Arial" pitchFamily="34" charset="-122"/>
                <a:cs typeface="Arial" pitchFamily="34" charset="-120"/>
              </a:rPr>
              <a:t>: relative permittivity of the ground</a:t>
            </a:r>
            <a:endParaRPr lang="en-US" sz="1150" dirty="0"/>
          </a:p>
        </p:txBody>
      </p:sp>
      <p:sp>
        <p:nvSpPr>
          <p:cNvPr id="18" name="Shape 13"/>
          <p:cNvSpPr/>
          <p:nvPr/>
        </p:nvSpPr>
        <p:spPr>
          <a:xfrm>
            <a:off x="5440680" y="2505456"/>
            <a:ext cx="6199632" cy="1069848"/>
          </a:xfrm>
          <a:prstGeom prst="roundRect">
            <a:avLst>
              <a:gd name="adj" fmla="val 6838"/>
            </a:avLst>
          </a:prstGeom>
          <a:solidFill>
            <a:srgbClr val="EEF3FA"/>
          </a:solidFill>
          <a:ln w="12700">
            <a:solidFill>
              <a:srgbClr val="EEF3FA"/>
            </a:solidFill>
            <a:prstDash val="solid"/>
          </a:ln>
        </p:spPr>
      </p:sp>
      <p:sp>
        <p:nvSpPr>
          <p:cNvPr id="19" name="Shape 14"/>
          <p:cNvSpPr/>
          <p:nvPr/>
        </p:nvSpPr>
        <p:spPr>
          <a:xfrm>
            <a:off x="5605272" y="2875788"/>
            <a:ext cx="329184" cy="329184"/>
          </a:xfrm>
          <a:prstGeom prst="ellipse">
            <a:avLst/>
          </a:prstGeom>
          <a:solidFill>
            <a:srgbClr val="C9A227"/>
          </a:solidFill>
          <a:ln w="12700">
            <a:solidFill>
              <a:srgbClr val="C9A227"/>
            </a:solidFill>
            <a:prstDash val="solid"/>
          </a:ln>
        </p:spPr>
      </p:sp>
      <p:sp>
        <p:nvSpPr>
          <p:cNvPr id="20" name="Text 15"/>
          <p:cNvSpPr txBox="1"/>
          <p:nvPr/>
        </p:nvSpPr>
        <p:spPr>
          <a:xfrm>
            <a:off x="5605272" y="28757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pic>
        <p:nvPicPr>
          <p:cNvPr id="21" name="Image 3" descr="d equals v t over 2">    </p:cNvPr>
          <p:cNvPicPr>
            <a:picLocks noChangeAspect="1"/>
          </p:cNvPicPr>
          <p:nvPr/>
        </p:nvPicPr>
        <p:blipFill>
          <a:blip r:embed="rId4"/>
          <a:stretch>
            <a:fillRect/>
          </a:stretch>
        </p:blipFill>
        <p:spPr>
          <a:xfrm>
            <a:off x="6080760" y="2788006"/>
            <a:ext cx="779069" cy="504749"/>
          </a:xfrm>
          <a:prstGeom prst="rect">
            <a:avLst/>
          </a:prstGeom>
        </p:spPr>
      </p:pic>
      <p:sp>
        <p:nvSpPr>
          <p:cNvPr id="22" name="Text 16"/>
          <p:cNvSpPr txBox="1"/>
          <p:nvPr/>
        </p:nvSpPr>
        <p:spPr>
          <a:xfrm>
            <a:off x="9281160" y="2660904"/>
            <a:ext cx="2240280" cy="274320"/>
          </a:xfrm>
          <a:prstGeom prst="rect">
            <a:avLst/>
          </a:prstGeom>
          <a:noFill/>
          <a:ln/>
        </p:spPr>
        <p:txBody>
          <a:bodyPr wrap="square" lIns="0" tIns="0" rIns="0" bIns="0" rtlCol="0" anchor="t"/>
          <a:lstStyle/>
          <a:p>
            <a:pPr indent="0" marL="0">
              <a:buNone/>
            </a:pPr>
            <a:r>
              <a:rPr lang="en-US" sz="1400" b="1" dirty="0">
                <a:solidFill>
                  <a:srgbClr val="0B4A9E"/>
                </a:solidFill>
                <a:latin typeface="Arial" pitchFamily="34" charset="0"/>
                <a:ea typeface="Arial" pitchFamily="34" charset="-122"/>
                <a:cs typeface="Arial" pitchFamily="34" charset="-120"/>
              </a:rPr>
              <a:t>Depth</a:t>
            </a:r>
            <a:endParaRPr lang="en-US" sz="1400" dirty="0"/>
          </a:p>
        </p:txBody>
      </p:sp>
      <p:sp>
        <p:nvSpPr>
          <p:cNvPr id="23" name="Text 17"/>
          <p:cNvSpPr txBox="1"/>
          <p:nvPr/>
        </p:nvSpPr>
        <p:spPr>
          <a:xfrm>
            <a:off x="9281160" y="2962656"/>
            <a:ext cx="2240280" cy="54864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t: two-way travel time, down and back</a:t>
            </a:r>
            <a:endParaRPr lang="en-US" sz="1150" dirty="0"/>
          </a:p>
        </p:txBody>
      </p:sp>
      <p:sp>
        <p:nvSpPr>
          <p:cNvPr id="24" name="Shape 18"/>
          <p:cNvSpPr/>
          <p:nvPr/>
        </p:nvSpPr>
        <p:spPr>
          <a:xfrm>
            <a:off x="5440680" y="3685032"/>
            <a:ext cx="6199632" cy="1069848"/>
          </a:xfrm>
          <a:prstGeom prst="roundRect">
            <a:avLst>
              <a:gd name="adj" fmla="val 6838"/>
            </a:avLst>
          </a:prstGeom>
          <a:solidFill>
            <a:srgbClr val="EEF3FA"/>
          </a:solidFill>
          <a:ln w="12700">
            <a:solidFill>
              <a:srgbClr val="EEF3FA"/>
            </a:solidFill>
            <a:prstDash val="solid"/>
          </a:ln>
        </p:spPr>
      </p:sp>
      <p:sp>
        <p:nvSpPr>
          <p:cNvPr id="25" name="Shape 19"/>
          <p:cNvSpPr/>
          <p:nvPr/>
        </p:nvSpPr>
        <p:spPr>
          <a:xfrm>
            <a:off x="5605272" y="4055364"/>
            <a:ext cx="329184" cy="329184"/>
          </a:xfrm>
          <a:prstGeom prst="ellipse">
            <a:avLst/>
          </a:prstGeom>
          <a:solidFill>
            <a:srgbClr val="C9A227"/>
          </a:solidFill>
          <a:ln w="12700">
            <a:solidFill>
              <a:srgbClr val="C9A227"/>
            </a:solidFill>
            <a:prstDash val="solid"/>
          </a:ln>
        </p:spPr>
      </p:sp>
      <p:sp>
        <p:nvSpPr>
          <p:cNvPr id="26" name="Text 20"/>
          <p:cNvSpPr txBox="1"/>
          <p:nvPr/>
        </p:nvSpPr>
        <p:spPr>
          <a:xfrm>
            <a:off x="5605272" y="40553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pic>
        <p:nvPicPr>
          <p:cNvPr id="27" name="Image 4" descr="R equals root epsilon 1 minus root epsilon 2, over root epsilon 1 plus root epsilon 2">    </p:cNvPr>
          <p:cNvPicPr>
            <a:picLocks noChangeAspect="1"/>
          </p:cNvPicPr>
          <p:nvPr/>
        </p:nvPicPr>
        <p:blipFill>
          <a:blip r:embed="rId5"/>
          <a:stretch>
            <a:fillRect/>
          </a:stretch>
        </p:blipFill>
        <p:spPr>
          <a:xfrm>
            <a:off x="6080760" y="3875410"/>
            <a:ext cx="1924629" cy="689092"/>
          </a:xfrm>
          <a:prstGeom prst="rect">
            <a:avLst/>
          </a:prstGeom>
        </p:spPr>
      </p:pic>
      <p:sp>
        <p:nvSpPr>
          <p:cNvPr id="28" name="Text 21"/>
          <p:cNvSpPr txBox="1"/>
          <p:nvPr/>
        </p:nvSpPr>
        <p:spPr>
          <a:xfrm>
            <a:off x="9281160" y="3840480"/>
            <a:ext cx="2240280" cy="274320"/>
          </a:xfrm>
          <a:prstGeom prst="rect">
            <a:avLst/>
          </a:prstGeom>
          <a:noFill/>
          <a:ln/>
        </p:spPr>
        <p:txBody>
          <a:bodyPr wrap="square" lIns="0" tIns="0" rIns="0" bIns="0" rtlCol="0" anchor="t"/>
          <a:lstStyle/>
          <a:p>
            <a:pPr indent="0" marL="0">
              <a:buNone/>
            </a:pPr>
            <a:r>
              <a:rPr lang="en-US" sz="1400" b="1" dirty="0">
                <a:solidFill>
                  <a:srgbClr val="0B4A9E"/>
                </a:solidFill>
                <a:latin typeface="Arial" pitchFamily="34" charset="0"/>
                <a:ea typeface="Arial" pitchFamily="34" charset="-122"/>
                <a:cs typeface="Arial" pitchFamily="34" charset="-120"/>
              </a:rPr>
              <a:t>Reflection coefficient</a:t>
            </a:r>
            <a:endParaRPr lang="en-US" sz="1400" dirty="0"/>
          </a:p>
        </p:txBody>
      </p:sp>
      <p:sp>
        <p:nvSpPr>
          <p:cNvPr id="29" name="Text 22"/>
          <p:cNvSpPr txBox="1"/>
          <p:nvPr/>
        </p:nvSpPr>
        <p:spPr>
          <a:xfrm>
            <a:off x="9281160" y="4142232"/>
            <a:ext cx="2240280" cy="54864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ε</a:t>
            </a:r>
            <a:pPr indent="0" marL="0">
              <a:buNone/>
            </a:pPr>
            <a:r>
              <a:rPr lang="en-US" sz="1150" baseline="-40000" dirty="0">
                <a:solidFill>
                  <a:srgbClr val="5F6368"/>
                </a:solidFill>
                <a:latin typeface="Arial" pitchFamily="34" charset="0"/>
                <a:ea typeface="Arial" pitchFamily="34" charset="-122"/>
                <a:cs typeface="Arial" pitchFamily="34" charset="-120"/>
              </a:rPr>
              <a:t>1</a:t>
            </a:r>
            <a:pPr indent="0" marL="0">
              <a:buNone/>
            </a:pPr>
            <a:r>
              <a:rPr lang="en-US" sz="1150" dirty="0">
                <a:solidFill>
                  <a:srgbClr val="5F6368"/>
                </a:solidFill>
                <a:latin typeface="Arial" pitchFamily="34" charset="0"/>
                <a:ea typeface="Arial" pitchFamily="34" charset="-122"/>
                <a:cs typeface="Arial" pitchFamily="34" charset="-120"/>
              </a:rPr>
              <a:t>, ε</a:t>
            </a:r>
            <a:pPr indent="0" marL="0">
              <a:buNone/>
            </a:pPr>
            <a:r>
              <a:rPr lang="en-US" sz="1150" baseline="-40000" dirty="0">
                <a:solidFill>
                  <a:srgbClr val="5F6368"/>
                </a:solidFill>
                <a:latin typeface="Arial" pitchFamily="34" charset="0"/>
                <a:ea typeface="Arial" pitchFamily="34" charset="-122"/>
                <a:cs typeface="Arial" pitchFamily="34" charset="-120"/>
              </a:rPr>
              <a:t>2</a:t>
            </a:r>
            <a:pPr indent="0" marL="0">
              <a:buNone/>
            </a:pPr>
            <a:r>
              <a:rPr lang="en-US" sz="1150" dirty="0">
                <a:solidFill>
                  <a:srgbClr val="5F6368"/>
                </a:solidFill>
                <a:latin typeface="Arial" pitchFamily="34" charset="0"/>
                <a:ea typeface="Arial" pitchFamily="34" charset="-122"/>
                <a:cs typeface="Arial" pitchFamily="34" charset="-120"/>
              </a:rPr>
              <a:t>: either side of the interface · metal: R = −1 · air: R &gt; 0</a:t>
            </a:r>
            <a:endParaRPr lang="en-US" sz="1150" dirty="0"/>
          </a:p>
        </p:txBody>
      </p:sp>
      <p:sp>
        <p:nvSpPr>
          <p:cNvPr id="30" name="Shape 23"/>
          <p:cNvSpPr/>
          <p:nvPr/>
        </p:nvSpPr>
        <p:spPr>
          <a:xfrm>
            <a:off x="5440680" y="4864608"/>
            <a:ext cx="6199632" cy="1069848"/>
          </a:xfrm>
          <a:prstGeom prst="roundRect">
            <a:avLst>
              <a:gd name="adj" fmla="val 6838"/>
            </a:avLst>
          </a:prstGeom>
          <a:solidFill>
            <a:srgbClr val="EEF3FA"/>
          </a:solidFill>
          <a:ln w="12700">
            <a:solidFill>
              <a:srgbClr val="EEF3FA"/>
            </a:solidFill>
            <a:prstDash val="solid"/>
          </a:ln>
        </p:spPr>
      </p:sp>
      <p:sp>
        <p:nvSpPr>
          <p:cNvPr id="31" name="Shape 24"/>
          <p:cNvSpPr/>
          <p:nvPr/>
        </p:nvSpPr>
        <p:spPr>
          <a:xfrm>
            <a:off x="5605272" y="5234940"/>
            <a:ext cx="329184" cy="329184"/>
          </a:xfrm>
          <a:prstGeom prst="ellipse">
            <a:avLst/>
          </a:prstGeom>
          <a:solidFill>
            <a:srgbClr val="C9A227"/>
          </a:solidFill>
          <a:ln w="12700">
            <a:solidFill>
              <a:srgbClr val="C9A227"/>
            </a:solidFill>
            <a:prstDash val="solid"/>
          </a:ln>
        </p:spPr>
      </p:sp>
      <p:sp>
        <p:nvSpPr>
          <p:cNvPr id="32" name="Text 25"/>
          <p:cNvSpPr txBox="1"/>
          <p:nvPr/>
        </p:nvSpPr>
        <p:spPr>
          <a:xfrm>
            <a:off x="5605272" y="52349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pic>
        <p:nvPicPr>
          <p:cNvPr id="33" name="Image 5" descr="t of x equals 2 over v times the square root of d squared plus x minus x0 squared">    </p:cNvPr>
          <p:cNvPicPr>
            <a:picLocks noChangeAspect="1"/>
          </p:cNvPicPr>
          <p:nvPr/>
        </p:nvPicPr>
        <p:blipFill>
          <a:blip r:embed="rId6"/>
          <a:stretch>
            <a:fillRect/>
          </a:stretch>
        </p:blipFill>
        <p:spPr>
          <a:xfrm>
            <a:off x="6080760" y="5147158"/>
            <a:ext cx="2960461" cy="504749"/>
          </a:xfrm>
          <a:prstGeom prst="rect">
            <a:avLst/>
          </a:prstGeom>
        </p:spPr>
      </p:pic>
      <p:sp>
        <p:nvSpPr>
          <p:cNvPr id="34" name="Text 26"/>
          <p:cNvSpPr txBox="1"/>
          <p:nvPr/>
        </p:nvSpPr>
        <p:spPr>
          <a:xfrm>
            <a:off x="9281160" y="5020056"/>
            <a:ext cx="2240280" cy="274320"/>
          </a:xfrm>
          <a:prstGeom prst="rect">
            <a:avLst/>
          </a:prstGeom>
          <a:noFill/>
          <a:ln/>
        </p:spPr>
        <p:txBody>
          <a:bodyPr wrap="square" lIns="0" tIns="0" rIns="0" bIns="0" rtlCol="0" anchor="t"/>
          <a:lstStyle/>
          <a:p>
            <a:pPr indent="0" marL="0">
              <a:buNone/>
            </a:pPr>
            <a:r>
              <a:rPr lang="en-US" sz="1400" b="1" dirty="0">
                <a:solidFill>
                  <a:srgbClr val="0B4A9E"/>
                </a:solidFill>
                <a:latin typeface="Arial" pitchFamily="34" charset="0"/>
                <a:ea typeface="Arial" pitchFamily="34" charset="-122"/>
                <a:cs typeface="Arial" pitchFamily="34" charset="-120"/>
              </a:rPr>
              <a:t>Hyperbola</a:t>
            </a:r>
            <a:endParaRPr lang="en-US" sz="1400" dirty="0"/>
          </a:p>
        </p:txBody>
      </p:sp>
      <p:sp>
        <p:nvSpPr>
          <p:cNvPr id="35" name="Text 27"/>
          <p:cNvSpPr txBox="1"/>
          <p:nvPr/>
        </p:nvSpPr>
        <p:spPr>
          <a:xfrm>
            <a:off x="9281160" y="5321808"/>
            <a:ext cx="2240280" cy="54864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x</a:t>
            </a:r>
            <a:pPr indent="0" marL="0">
              <a:buNone/>
            </a:pPr>
            <a:r>
              <a:rPr lang="en-US" sz="1150" baseline="-40000" dirty="0">
                <a:solidFill>
                  <a:srgbClr val="5F6368"/>
                </a:solidFill>
                <a:latin typeface="Arial" pitchFamily="34" charset="0"/>
                <a:ea typeface="Arial" pitchFamily="34" charset="-122"/>
                <a:cs typeface="Arial" pitchFamily="34" charset="-120"/>
              </a:rPr>
              <a:t>0</a:t>
            </a:r>
            <a:pPr indent="0" marL="0">
              <a:buNone/>
            </a:pPr>
            <a:r>
              <a:rPr lang="en-US" sz="1150" dirty="0">
                <a:solidFill>
                  <a:srgbClr val="5F6368"/>
                </a:solidFill>
                <a:latin typeface="Arial" pitchFamily="34" charset="0"/>
                <a:ea typeface="Arial" pitchFamily="34" charset="-122"/>
                <a:cs typeface="Arial" pitchFamily="34" charset="-120"/>
              </a:rPr>
              <a:t>: target position · apex t</a:t>
            </a:r>
            <a:pPr indent="0" marL="0">
              <a:buNone/>
            </a:pPr>
            <a:r>
              <a:rPr lang="en-US" sz="1150" baseline="-40000" dirty="0">
                <a:solidFill>
                  <a:srgbClr val="5F6368"/>
                </a:solidFill>
                <a:latin typeface="Arial" pitchFamily="34" charset="0"/>
                <a:ea typeface="Arial" pitchFamily="34" charset="-122"/>
                <a:cs typeface="Arial" pitchFamily="34" charset="-120"/>
              </a:rPr>
              <a:t>0</a:t>
            </a:r>
            <a:pPr indent="0" marL="0">
              <a:buNone/>
            </a:pPr>
            <a:r>
              <a:rPr lang="en-US" sz="1150" dirty="0">
                <a:solidFill>
                  <a:srgbClr val="5F6368"/>
                </a:solidFill>
                <a:latin typeface="Arial" pitchFamily="34" charset="0"/>
                <a:ea typeface="Arial" pitchFamily="34" charset="-122"/>
                <a:cs typeface="Arial" pitchFamily="34" charset="-120"/>
              </a:rPr>
              <a:t> = 2d / v</a:t>
            </a:r>
            <a:endParaRPr lang="en-US" sz="1150" dirty="0"/>
          </a:p>
        </p:txBody>
      </p:sp>
      <p:sp>
        <p:nvSpPr>
          <p:cNvPr id="36" name="Text 28"/>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Daniels (2004) [1]; Jol (2009) [2]; ASTM D6432-19. Resolution at v = 0.10 m/ns.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3.2  Principle of the electromagnetic locator (RD7000)</a:t>
            </a:r>
            <a:endParaRPr lang="en-US" sz="2600" dirty="0"/>
          </a:p>
        </p:txBody>
      </p:sp>
      <p:pic>
        <p:nvPicPr>
          <p:cNvPr id="4" name="Image 0" descr="Magnetic field around a current-carrying cable and the peak and null responses of the receiver">    </p:cNvPr>
          <p:cNvPicPr>
            <a:picLocks noChangeAspect="1"/>
          </p:cNvPicPr>
          <p:nvPr/>
        </p:nvPicPr>
        <p:blipFill>
          <a:blip r:embed="rId1"/>
          <a:stretch>
            <a:fillRect/>
          </a:stretch>
        </p:blipFill>
        <p:spPr>
          <a:xfrm>
            <a:off x="548640" y="1325880"/>
            <a:ext cx="5120640" cy="4169664"/>
          </a:xfrm>
          <a:prstGeom prst="rect">
            <a:avLst/>
          </a:prstGeom>
        </p:spPr>
      </p:pic>
      <p:sp>
        <p:nvSpPr>
          <p:cNvPr id="5" name="Shape 2"/>
          <p:cNvSpPr/>
          <p:nvPr/>
        </p:nvSpPr>
        <p:spPr>
          <a:xfrm>
            <a:off x="6035040" y="1325880"/>
            <a:ext cx="5605272" cy="1143000"/>
          </a:xfrm>
          <a:prstGeom prst="roundRect">
            <a:avLst>
              <a:gd name="adj" fmla="val 6400"/>
            </a:avLst>
          </a:prstGeom>
          <a:solidFill>
            <a:srgbClr val="EEF3FA"/>
          </a:solidFill>
          <a:ln w="12700">
            <a:solidFill>
              <a:srgbClr val="EEF3FA"/>
            </a:solidFill>
            <a:prstDash val="solid"/>
          </a:ln>
        </p:spPr>
      </p:sp>
      <p:sp>
        <p:nvSpPr>
          <p:cNvPr id="6" name="Text 3"/>
          <p:cNvSpPr txBox="1"/>
          <p:nvPr/>
        </p:nvSpPr>
        <p:spPr>
          <a:xfrm>
            <a:off x="6263640" y="1444752"/>
            <a:ext cx="5148072" cy="411480"/>
          </a:xfrm>
          <a:prstGeom prst="rect">
            <a:avLst/>
          </a:prstGeom>
          <a:noFill/>
          <a:ln/>
        </p:spPr>
        <p:txBody>
          <a:bodyPr wrap="square" lIns="0" tIns="0" rIns="0" bIns="0" rtlCol="0" anchor="t"/>
          <a:lstStyle/>
          <a:p>
            <a:pPr indent="0" marL="0">
              <a:buNone/>
            </a:pPr>
            <a:r>
              <a:rPr lang="en-US" sz="2000" b="1" dirty="0">
                <a:solidFill>
                  <a:srgbClr val="1B1B1D"/>
                </a:solidFill>
                <a:latin typeface="Cambria" pitchFamily="34" charset="0"/>
                <a:ea typeface="Cambria" pitchFamily="34" charset="-122"/>
                <a:cs typeface="Cambria" pitchFamily="34" charset="-120"/>
              </a:rPr>
              <a:t>B = μ</a:t>
            </a:r>
            <a:pPr indent="0" marL="0">
              <a:buNone/>
            </a:pPr>
            <a:r>
              <a:rPr lang="en-US" sz="2000" b="1" baseline="-40000" dirty="0">
                <a:solidFill>
                  <a:srgbClr val="1B1B1D"/>
                </a:solidFill>
                <a:latin typeface="Cambria" pitchFamily="34" charset="0"/>
                <a:ea typeface="Cambria" pitchFamily="34" charset="-122"/>
                <a:cs typeface="Cambria" pitchFamily="34" charset="-120"/>
              </a:rPr>
              <a:t>0</a:t>
            </a:r>
            <a:pPr indent="0" marL="0">
              <a:buNone/>
            </a:pPr>
            <a:r>
              <a:rPr lang="en-US" sz="2000" b="1" dirty="0">
                <a:solidFill>
                  <a:srgbClr val="1B1B1D"/>
                </a:solidFill>
                <a:latin typeface="Cambria" pitchFamily="34" charset="0"/>
                <a:ea typeface="Cambria" pitchFamily="34" charset="-122"/>
                <a:cs typeface="Cambria" pitchFamily="34" charset="-120"/>
              </a:rPr>
              <a:t>I / (2πr)</a:t>
            </a:r>
            <a:endParaRPr lang="en-US" sz="2000" dirty="0"/>
          </a:p>
        </p:txBody>
      </p:sp>
      <p:sp>
        <p:nvSpPr>
          <p:cNvPr id="7" name="Text 4"/>
          <p:cNvSpPr txBox="1"/>
          <p:nvPr/>
        </p:nvSpPr>
        <p:spPr>
          <a:xfrm>
            <a:off x="6263640" y="1883664"/>
            <a:ext cx="5148072" cy="50292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An AC current I in a buried conductor makes a circular magnetic field that falls off as 1/r.</a:t>
            </a:r>
            <a:endParaRPr lang="en-US" sz="1300" dirty="0"/>
          </a:p>
        </p:txBody>
      </p:sp>
      <p:sp>
        <p:nvSpPr>
          <p:cNvPr id="8" name="Shape 5"/>
          <p:cNvSpPr/>
          <p:nvPr/>
        </p:nvSpPr>
        <p:spPr>
          <a:xfrm>
            <a:off x="6035040" y="2651760"/>
            <a:ext cx="5605272" cy="1463040"/>
          </a:xfrm>
          <a:prstGeom prst="roundRect">
            <a:avLst>
              <a:gd name="adj" fmla="val 5000"/>
            </a:avLst>
          </a:prstGeom>
          <a:solidFill>
            <a:srgbClr val="EEF3FA"/>
          </a:solidFill>
          <a:ln w="12700">
            <a:solidFill>
              <a:srgbClr val="EEF3FA"/>
            </a:solidFill>
            <a:prstDash val="solid"/>
          </a:ln>
        </p:spPr>
      </p:sp>
      <p:sp>
        <p:nvSpPr>
          <p:cNvPr id="9" name="Text 6"/>
          <p:cNvSpPr txBox="1"/>
          <p:nvPr/>
        </p:nvSpPr>
        <p:spPr>
          <a:xfrm>
            <a:off x="6263640" y="2761488"/>
            <a:ext cx="5148072" cy="320040"/>
          </a:xfrm>
          <a:prstGeom prst="rect">
            <a:avLst/>
          </a:prstGeom>
          <a:noFill/>
          <a:ln/>
        </p:spPr>
        <p:txBody>
          <a:bodyPr wrap="square" lIns="0" tIns="0" rIns="0" bIns="0" rtlCol="0" anchor="t"/>
          <a:lstStyle/>
          <a:p>
            <a:pPr indent="0" marL="0">
              <a:buNone/>
            </a:pPr>
            <a:r>
              <a:rPr lang="en-US" sz="1600" b="1" dirty="0">
                <a:solidFill>
                  <a:srgbClr val="0B4A9E"/>
                </a:solidFill>
                <a:latin typeface="Arial" pitchFamily="34" charset="0"/>
                <a:ea typeface="Arial" pitchFamily="34" charset="-122"/>
                <a:cs typeface="Arial" pitchFamily="34" charset="-120"/>
              </a:rPr>
              <a:t>Peak and null</a:t>
            </a:r>
            <a:endParaRPr lang="en-US" sz="1600" dirty="0"/>
          </a:p>
        </p:txBody>
      </p:sp>
      <p:sp>
        <p:nvSpPr>
          <p:cNvPr id="10" name="Text 7"/>
          <p:cNvSpPr txBox="1"/>
          <p:nvPr/>
        </p:nvSpPr>
        <p:spPr>
          <a:xfrm>
            <a:off x="6263640" y="3108960"/>
            <a:ext cx="5148072" cy="96012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1B1D"/>
                </a:solidFill>
                <a:latin typeface="Arial" pitchFamily="34" charset="0"/>
                <a:ea typeface="Arial" pitchFamily="34" charset="-122"/>
                <a:cs typeface="Arial" pitchFamily="34" charset="-120"/>
              </a:rPr>
              <a:t>Horizontal coil: maximum (peak) right above the line.</a:t>
            </a:r>
            <a:endParaRPr lang="en-US" sz="1300" dirty="0"/>
          </a:p>
          <a:p>
            <a:pPr marL="177800" indent="-177800">
              <a:spcAft>
                <a:spcPts val="200"/>
              </a:spcAft>
              <a:buSzPct val="100000"/>
              <a:buChar char="•"/>
            </a:pPr>
            <a:r>
              <a:rPr lang="en-US" sz="1300" dirty="0">
                <a:solidFill>
                  <a:srgbClr val="1B1B1D"/>
                </a:solidFill>
                <a:latin typeface="Arial" pitchFamily="34" charset="0"/>
                <a:ea typeface="Arial" pitchFamily="34" charset="-122"/>
                <a:cs typeface="Arial" pitchFamily="34" charset="-120"/>
              </a:rPr>
              <a:t>Vertical coil: zero (null) above the line; peak = null → undistorted field.</a:t>
            </a:r>
            <a:endParaRPr lang="en-US" sz="1300" dirty="0"/>
          </a:p>
          <a:p>
            <a:pPr marL="177800" indent="-177800">
              <a:spcAft>
                <a:spcPts val="200"/>
              </a:spcAft>
              <a:buSzPct val="100000"/>
              <a:buChar char="•"/>
            </a:pPr>
            <a:r>
              <a:rPr lang="en-US" sz="1300" dirty="0">
                <a:solidFill>
                  <a:srgbClr val="1B1B1D"/>
                </a:solidFill>
                <a:latin typeface="Arial" pitchFamily="34" charset="0"/>
                <a:ea typeface="Arial" pitchFamily="34" charset="-122"/>
                <a:cs typeface="Arial" pitchFamily="34" charset="-120"/>
              </a:rPr>
              <a:t>Two stacked coils give the depth (±5 %).</a:t>
            </a:r>
            <a:endParaRPr lang="en-US" sz="1300" dirty="0"/>
          </a:p>
        </p:txBody>
      </p:sp>
      <p:sp>
        <p:nvSpPr>
          <p:cNvPr id="11" name="Shape 8"/>
          <p:cNvSpPr/>
          <p:nvPr/>
        </p:nvSpPr>
        <p:spPr>
          <a:xfrm>
            <a:off x="6035040" y="4297680"/>
            <a:ext cx="5605272" cy="1691640"/>
          </a:xfrm>
          <a:prstGeom prst="roundRect">
            <a:avLst>
              <a:gd name="adj" fmla="val 4324"/>
            </a:avLst>
          </a:prstGeom>
          <a:solidFill>
            <a:srgbClr val="EEF3FA"/>
          </a:solidFill>
          <a:ln w="12700">
            <a:solidFill>
              <a:srgbClr val="EEF3FA"/>
            </a:solidFill>
            <a:prstDash val="solid"/>
          </a:ln>
        </p:spPr>
      </p:sp>
      <p:sp>
        <p:nvSpPr>
          <p:cNvPr id="12" name="Text 9"/>
          <p:cNvSpPr txBox="1"/>
          <p:nvPr/>
        </p:nvSpPr>
        <p:spPr>
          <a:xfrm>
            <a:off x="6263640" y="4407408"/>
            <a:ext cx="5148072" cy="320040"/>
          </a:xfrm>
          <a:prstGeom prst="rect">
            <a:avLst/>
          </a:prstGeom>
          <a:noFill/>
          <a:ln/>
        </p:spPr>
        <p:txBody>
          <a:bodyPr wrap="square" lIns="0" tIns="0" rIns="0" bIns="0" rtlCol="0" anchor="t"/>
          <a:lstStyle/>
          <a:p>
            <a:pPr indent="0" marL="0">
              <a:buNone/>
            </a:pPr>
            <a:r>
              <a:rPr lang="en-US" sz="1600" b="1" dirty="0">
                <a:solidFill>
                  <a:srgbClr val="0B4A9E"/>
                </a:solidFill>
                <a:latin typeface="Arial" pitchFamily="34" charset="0"/>
                <a:ea typeface="Arial" pitchFamily="34" charset="-122"/>
                <a:cs typeface="Arial" pitchFamily="34" charset="-120"/>
              </a:rPr>
              <a:t>Modes and role in this work</a:t>
            </a:r>
            <a:endParaRPr lang="en-US" sz="1600" dirty="0"/>
          </a:p>
        </p:txBody>
      </p:sp>
      <p:sp>
        <p:nvSpPr>
          <p:cNvPr id="13" name="Text 10"/>
          <p:cNvSpPr txBox="1"/>
          <p:nvPr/>
        </p:nvSpPr>
        <p:spPr>
          <a:xfrm>
            <a:off x="6263640" y="4754880"/>
            <a:ext cx="5148072" cy="1188720"/>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rgbClr val="1B1B1D"/>
                </a:solidFill>
                <a:latin typeface="Arial" pitchFamily="34" charset="0"/>
                <a:ea typeface="Arial" pitchFamily="34" charset="-122"/>
                <a:cs typeface="Arial" pitchFamily="34" charset="-120"/>
              </a:rPr>
              <a:t>Passive: Power 50/60 Hz, Radio VLF. Active: transmitter by direct connection, clamp, induction or sonde.</a:t>
            </a:r>
            <a:endParaRPr lang="en-US" sz="1300" dirty="0"/>
          </a:p>
          <a:p>
            <a:pPr marL="177800" indent="-177800">
              <a:spcAft>
                <a:spcPts val="200"/>
              </a:spcAft>
              <a:buSzPct val="100000"/>
              <a:buChar char="•"/>
            </a:pPr>
            <a:r>
              <a:rPr lang="en-US" sz="1300" dirty="0">
                <a:solidFill>
                  <a:srgbClr val="1B1B1D"/>
                </a:solidFill>
                <a:latin typeface="Arial" pitchFamily="34" charset="0"/>
                <a:ea typeface="Arial" pitchFamily="34" charset="-122"/>
                <a:cs typeface="Arial" pitchFamily="34" charset="-120"/>
              </a:rPr>
              <a:t>Sees metallic lines only — a plastic pipe is invisible, hence GPR.</a:t>
            </a:r>
            <a:endParaRPr lang="en-US" sz="1300" dirty="0"/>
          </a:p>
          <a:p>
            <a:pPr marL="177800" indent="-177800">
              <a:spcAft>
                <a:spcPts val="200"/>
              </a:spcAft>
              <a:buSzPct val="100000"/>
              <a:buChar char="•"/>
            </a:pPr>
            <a:r>
              <a:rPr lang="en-US" sz="1300" dirty="0">
                <a:solidFill>
                  <a:srgbClr val="1B1B1D"/>
                </a:solidFill>
                <a:latin typeface="Arial" pitchFamily="34" charset="0"/>
                <a:ea typeface="Arial" pitchFamily="34" charset="-122"/>
                <a:cs typeface="Arial" pitchFamily="34" charset="-120"/>
              </a:rPr>
              <a:t>Here: proposed cross-check of the cable depth (not yet measured).</a:t>
            </a:r>
            <a:endParaRPr lang="en-US" sz="1300" dirty="0"/>
          </a:p>
        </p:txBody>
      </p:sp>
      <p:sp>
        <p:nvSpPr>
          <p:cNvPr id="14" name="Text 11"/>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Radiodetection RD7000+ manual; Metje et al. (2007) [3]</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3.3  Field survey: a 10 m × 3.5 m grid of 9 lines</a:t>
            </a:r>
            <a:endParaRPr lang="en-US" sz="2600" dirty="0"/>
          </a:p>
        </p:txBody>
      </p:sp>
      <p:pic>
        <p:nvPicPr>
          <p:cNvPr id="4" name="Image 0" descr="Top view of the courtyard with survey lines C1–C4 and N1–N5">    </p:cNvPr>
          <p:cNvPicPr>
            <a:picLocks noChangeAspect="1"/>
          </p:cNvPicPr>
          <p:nvPr/>
        </p:nvPicPr>
        <p:blipFill>
          <a:blip r:embed="rId1"/>
          <a:stretch>
            <a:fillRect/>
          </a:stretch>
        </p:blipFill>
        <p:spPr>
          <a:xfrm>
            <a:off x="548640" y="1325880"/>
            <a:ext cx="3666744" cy="4297680"/>
          </a:xfrm>
          <a:prstGeom prst="rect">
            <a:avLst/>
          </a:prstGeom>
        </p:spPr>
      </p:pic>
      <p:sp>
        <p:nvSpPr>
          <p:cNvPr id="5" name="Text 2"/>
          <p:cNvSpPr txBox="1"/>
          <p:nvPr/>
        </p:nvSpPr>
        <p:spPr>
          <a:xfrm>
            <a:off x="548640" y="5669280"/>
            <a:ext cx="4206240" cy="411480"/>
          </a:xfrm>
          <a:prstGeom prst="rect">
            <a:avLst/>
          </a:prstGeom>
          <a:noFill/>
          <a:ln/>
        </p:spPr>
        <p:txBody>
          <a:bodyPr wrap="square" lIns="0" tIns="0" rIns="0" bIns="0" rtlCol="0" anchor="t"/>
          <a:lstStyle/>
          <a:p>
            <a:pPr indent="0" marL="0">
              <a:buNone/>
            </a:pPr>
            <a:r>
              <a:rPr lang="en-US" sz="1100" b="1" dirty="0">
                <a:solidFill>
                  <a:srgbClr val="B98900"/>
                </a:solidFill>
                <a:latin typeface="Arial" pitchFamily="34" charset="0"/>
                <a:ea typeface="Arial" pitchFamily="34" charset="-122"/>
                <a:cs typeface="Arial" pitchFamily="34" charset="-120"/>
              </a:rPr>
              <a:t>C1–C4</a:t>
            </a:r>
            <a:pPr indent="0" marL="0">
              <a:buNone/>
            </a:pPr>
            <a:r>
              <a:rPr lang="en-US" sz="1100" dirty="0">
                <a:solidFill>
                  <a:srgbClr val="1B1B1D"/>
                </a:solidFill>
                <a:latin typeface="Arial" pitchFamily="34" charset="0"/>
                <a:ea typeface="Arial" pitchFamily="34" charset="-122"/>
                <a:cs typeface="Arial" pitchFamily="34" charset="-120"/>
              </a:rPr>
              <a:t> along the road, 1 m apart → cable</a:t>
            </a:r>
            <a:endParaRPr lang="en-US" sz="1100" dirty="0"/>
          </a:p>
          <a:p>
            <a:pPr indent="0" marL="0">
              <a:buNone/>
            </a:pPr>
            <a:r>
              <a:rPr lang="en-US" sz="1100" b="1" dirty="0">
                <a:solidFill>
                  <a:srgbClr val="1E8E3E"/>
                </a:solidFill>
                <a:latin typeface="Arial" pitchFamily="34" charset="0"/>
                <a:ea typeface="Arial" pitchFamily="34" charset="-122"/>
                <a:cs typeface="Arial" pitchFamily="34" charset="-120"/>
              </a:rPr>
              <a:t>N1–N5</a:t>
            </a:r>
            <a:pPr indent="0" marL="0">
              <a:buNone/>
            </a:pPr>
            <a:r>
              <a:rPr lang="en-US" sz="1100" dirty="0">
                <a:solidFill>
                  <a:srgbClr val="1B1B1D"/>
                </a:solidFill>
                <a:latin typeface="Arial" pitchFamily="34" charset="0"/>
                <a:ea typeface="Arial" pitchFamily="34" charset="-122"/>
                <a:cs typeface="Arial" pitchFamily="34" charset="-120"/>
              </a:rPr>
              <a:t> across the road, ~0.8 m apart → pipe</a:t>
            </a:r>
            <a:endParaRPr lang="en-US" sz="1100" dirty="0"/>
          </a:p>
        </p:txBody>
      </p:sp>
      <p:pic>
        <p:nvPicPr>
          <p:cNvPr id="6" name="Image 1" descr="Measuring tape and chalk marks on the asphalt">    </p:cNvPr>
          <p:cNvPicPr>
            <a:picLocks noChangeAspect="1"/>
          </p:cNvPicPr>
          <p:nvPr/>
        </p:nvPicPr>
        <p:blipFill>
          <a:blip r:embed="rId2"/>
          <a:stretch>
            <a:fillRect/>
          </a:stretch>
        </p:blipFill>
        <p:spPr>
          <a:xfrm>
            <a:off x="4846320" y="1325880"/>
            <a:ext cx="2194560" cy="1645920"/>
          </a:xfrm>
          <a:prstGeom prst="rect">
            <a:avLst/>
          </a:prstGeom>
        </p:spPr>
      </p:pic>
      <p:sp>
        <p:nvSpPr>
          <p:cNvPr id="7" name="Text 3"/>
          <p:cNvSpPr txBox="1"/>
          <p:nvPr/>
        </p:nvSpPr>
        <p:spPr>
          <a:xfrm>
            <a:off x="4919472" y="1399032"/>
            <a:ext cx="1783080" cy="310896"/>
          </a:xfrm>
          <a:prstGeom prst="roundRect">
            <a:avLst>
              <a:gd name="adj" fmla="val 23529"/>
            </a:avLst>
          </a:prstGeom>
          <a:solidFill>
            <a:srgbClr val="0B4A9E">
              <a:alpha val="90000"/>
            </a:srgbClr>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  Mark the grid</a:t>
            </a:r>
            <a:endParaRPr lang="en-US" sz="1200" dirty="0"/>
          </a:p>
        </p:txBody>
      </p:sp>
      <p:pic>
        <p:nvPicPr>
          <p:cNvPr id="8" name="Image 2" descr="Assembling the dual-antenna GPR cart">    </p:cNvPr>
          <p:cNvPicPr>
            <a:picLocks noChangeAspect="1"/>
          </p:cNvPicPr>
          <p:nvPr/>
        </p:nvPicPr>
        <p:blipFill>
          <a:blip r:embed="rId3"/>
          <a:stretch>
            <a:fillRect/>
          </a:stretch>
        </p:blipFill>
        <p:spPr>
          <a:xfrm>
            <a:off x="7178040" y="1325880"/>
            <a:ext cx="2194560" cy="1645920"/>
          </a:xfrm>
          <a:prstGeom prst="rect">
            <a:avLst/>
          </a:prstGeom>
        </p:spPr>
      </p:pic>
      <p:sp>
        <p:nvSpPr>
          <p:cNvPr id="9" name="Text 4"/>
          <p:cNvSpPr txBox="1"/>
          <p:nvPr/>
        </p:nvSpPr>
        <p:spPr>
          <a:xfrm>
            <a:off x="7251192" y="1399032"/>
            <a:ext cx="1783080" cy="310896"/>
          </a:xfrm>
          <a:prstGeom prst="roundRect">
            <a:avLst>
              <a:gd name="adj" fmla="val 23529"/>
            </a:avLst>
          </a:prstGeom>
          <a:solidFill>
            <a:srgbClr val="0B4A9E">
              <a:alpha val="90000"/>
            </a:srgbClr>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  Set up the radar</a:t>
            </a:r>
            <a:endParaRPr lang="en-US" sz="1200" dirty="0"/>
          </a:p>
        </p:txBody>
      </p:sp>
      <p:pic>
        <p:nvPicPr>
          <p:cNvPr id="10" name="Image 3" descr="Pushing the GPR cart along one survey line">    </p:cNvPr>
          <p:cNvPicPr>
            <a:picLocks noChangeAspect="1"/>
          </p:cNvPicPr>
          <p:nvPr/>
        </p:nvPicPr>
        <p:blipFill>
          <a:blip r:embed="rId4"/>
          <a:stretch>
            <a:fillRect/>
          </a:stretch>
        </p:blipFill>
        <p:spPr>
          <a:xfrm>
            <a:off x="4846320" y="3108960"/>
            <a:ext cx="2194560" cy="1645920"/>
          </a:xfrm>
          <a:prstGeom prst="rect">
            <a:avLst/>
          </a:prstGeom>
        </p:spPr>
      </p:pic>
      <p:sp>
        <p:nvSpPr>
          <p:cNvPr id="11" name="Text 5"/>
          <p:cNvSpPr txBox="1"/>
          <p:nvPr/>
        </p:nvSpPr>
        <p:spPr>
          <a:xfrm>
            <a:off x="4919472" y="3182112"/>
            <a:ext cx="1783080" cy="310896"/>
          </a:xfrm>
          <a:prstGeom prst="roundRect">
            <a:avLst>
              <a:gd name="adj" fmla="val 23529"/>
            </a:avLst>
          </a:prstGeom>
          <a:solidFill>
            <a:srgbClr val="0B4A9E">
              <a:alpha val="90000"/>
            </a:srgbClr>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  Scan each line</a:t>
            </a:r>
            <a:endParaRPr lang="en-US" sz="1200" dirty="0"/>
          </a:p>
        </p:txBody>
      </p:sp>
      <p:pic>
        <p:nvPicPr>
          <p:cNvPr id="12" name="Image 4" descr="Checking the radargram on the laptop in the field">    </p:cNvPr>
          <p:cNvPicPr>
            <a:picLocks noChangeAspect="1"/>
          </p:cNvPicPr>
          <p:nvPr/>
        </p:nvPicPr>
        <p:blipFill>
          <a:blip r:embed="rId5"/>
          <a:stretch>
            <a:fillRect/>
          </a:stretch>
        </p:blipFill>
        <p:spPr>
          <a:xfrm>
            <a:off x="7178040" y="3108960"/>
            <a:ext cx="2194560" cy="1645920"/>
          </a:xfrm>
          <a:prstGeom prst="rect">
            <a:avLst/>
          </a:prstGeom>
        </p:spPr>
      </p:pic>
      <p:sp>
        <p:nvSpPr>
          <p:cNvPr id="13" name="Text 6"/>
          <p:cNvSpPr txBox="1"/>
          <p:nvPr/>
        </p:nvSpPr>
        <p:spPr>
          <a:xfrm>
            <a:off x="7251192" y="3182112"/>
            <a:ext cx="1783080" cy="310896"/>
          </a:xfrm>
          <a:prstGeom prst="roundRect">
            <a:avLst>
              <a:gd name="adj" fmla="val 23529"/>
            </a:avLst>
          </a:prstGeom>
          <a:solidFill>
            <a:srgbClr val="0B4A9E">
              <a:alpha val="90000"/>
            </a:srgbClr>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  Check data on site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646920" y="1325880"/>
          <a:ext cx="1993392" cy="914400"/>
        </p:xfrm>
        <a:graphic>
          <a:graphicData uri="http://schemas.openxmlformats.org/drawingml/2006/table">
            <a:tbl>
              <a:tblPr/>
              <a:tblGrid>
                <a:gridCol w="914400"/>
                <a:gridCol w="1078992"/>
              </a:tblGrid>
              <a:tr h="475488">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Parameter</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Value</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475488">
                <a:tc>
                  <a:txBody>
                    <a:bodyPr/>
                    <a:lstStyle/>
                    <a:p>
                      <a:pPr indent="0" marL="0">
                        <a:buNone/>
                      </a:pPr>
                      <a:r>
                        <a:rPr lang="en-US" sz="1050" dirty="0">
                          <a:solidFill>
                            <a:srgbClr val="1B1B1D"/>
                          </a:solidFill>
                          <a:latin typeface="Arial" pitchFamily="34" charset="0"/>
                          <a:ea typeface="Arial" pitchFamily="34" charset="-122"/>
                          <a:cs typeface="Arial" pitchFamily="34" charset="-120"/>
                        </a:rPr>
                        <a:t>Radar</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050" dirty="0">
                          <a:solidFill>
                            <a:srgbClr val="1B1B1D"/>
                          </a:solidFill>
                          <a:latin typeface="Arial" pitchFamily="34" charset="0"/>
                          <a:ea typeface="Arial" pitchFamily="34" charset="-122"/>
                          <a:cs typeface="Arial" pitchFamily="34" charset="-120"/>
                        </a:rPr>
                        <a:t>IDS Detector Duo</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indent="0" marL="0">
                        <a:buNone/>
                      </a:pPr>
                      <a:r>
                        <a:rPr lang="en-US" sz="1050" dirty="0">
                          <a:solidFill>
                            <a:srgbClr val="1B1B1D"/>
                          </a:solidFill>
                          <a:latin typeface="Arial" pitchFamily="34" charset="0"/>
                          <a:ea typeface="Arial" pitchFamily="34" charset="-122"/>
                          <a:cs typeface="Arial" pitchFamily="34" charset="-120"/>
                        </a:rPr>
                        <a:t>Antennas</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050" dirty="0">
                          <a:solidFill>
                            <a:srgbClr val="1B1B1D"/>
                          </a:solidFill>
                          <a:latin typeface="Arial" pitchFamily="34" charset="0"/>
                          <a:ea typeface="Arial" pitchFamily="34" charset="-122"/>
                          <a:cs typeface="Arial" pitchFamily="34" charset="-120"/>
                        </a:rPr>
                        <a:t>250 + 700 MHz, shielded</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indent="0" marL="0">
                        <a:buNone/>
                      </a:pPr>
                      <a:r>
                        <a:rPr lang="en-US" sz="1050" dirty="0">
                          <a:solidFill>
                            <a:srgbClr val="1B1B1D"/>
                          </a:solidFill>
                          <a:latin typeface="Arial" pitchFamily="34" charset="0"/>
                          <a:ea typeface="Arial" pitchFamily="34" charset="-122"/>
                          <a:cs typeface="Arial" pitchFamily="34" charset="-120"/>
                        </a:rPr>
                        <a:t>Trace interval</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050" dirty="0">
                          <a:solidFill>
                            <a:srgbClr val="1B1B1D"/>
                          </a:solidFill>
                          <a:latin typeface="Arial" pitchFamily="34" charset="0"/>
                          <a:ea typeface="Arial" pitchFamily="34" charset="-122"/>
                          <a:cs typeface="Arial" pitchFamily="34" charset="-120"/>
                        </a:rPr>
                        <a:t>2.78 cm</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indent="0" marL="0">
                        <a:buNone/>
                      </a:pPr>
                      <a:r>
                        <a:rPr lang="en-US" sz="1050" dirty="0">
                          <a:solidFill>
                            <a:srgbClr val="1B1B1D"/>
                          </a:solidFill>
                          <a:latin typeface="Arial" pitchFamily="34" charset="0"/>
                          <a:ea typeface="Arial" pitchFamily="34" charset="-122"/>
                          <a:cs typeface="Arial" pitchFamily="34" charset="-120"/>
                        </a:rPr>
                        <a:t>Lines</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050" dirty="0">
                          <a:solidFill>
                            <a:srgbClr val="1B1B1D"/>
                          </a:solidFill>
                          <a:latin typeface="Arial" pitchFamily="34" charset="0"/>
                          <a:ea typeface="Arial" pitchFamily="34" charset="-122"/>
                          <a:cs typeface="Arial" pitchFamily="34" charset="-120"/>
                        </a:rPr>
                        <a:t>4 C + 5 N, 1 repeat (N5)</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indent="0" marL="0">
                        <a:buNone/>
                      </a:pPr>
                      <a:r>
                        <a:rPr lang="en-US" sz="1050" dirty="0">
                          <a:solidFill>
                            <a:srgbClr val="1B1B1D"/>
                          </a:solidFill>
                          <a:latin typeface="Arial" pitchFamily="34" charset="0"/>
                          <a:ea typeface="Arial" pitchFamily="34" charset="-122"/>
                          <a:cs typeface="Arial" pitchFamily="34" charset="-120"/>
                        </a:rPr>
                        <a:t>Line layout</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050" dirty="0">
                          <a:solidFill>
                            <a:srgbClr val="1B1B1D"/>
                          </a:solidFill>
                          <a:latin typeface="Arial" pitchFamily="34" charset="0"/>
                          <a:ea typeface="Arial" pitchFamily="34" charset="-122"/>
                          <a:cs typeface="Arial" pitchFamily="34" charset="-120"/>
                        </a:rPr>
                        <a:t>perpendicular to the target</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indent="0" marL="0">
                        <a:buNone/>
                      </a:pPr>
                      <a:r>
                        <a:rPr lang="en-US" sz="1050" dirty="0">
                          <a:solidFill>
                            <a:srgbClr val="1B1B1D"/>
                          </a:solidFill>
                          <a:latin typeface="Arial" pitchFamily="34" charset="0"/>
                          <a:ea typeface="Arial" pitchFamily="34" charset="-122"/>
                          <a:cs typeface="Arial" pitchFamily="34" charset="-120"/>
                        </a:rPr>
                        <a:t>Velocity (depth)</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050" dirty="0">
                          <a:solidFill>
                            <a:srgbClr val="1B1B1D"/>
                          </a:solidFill>
                          <a:latin typeface="Arial" pitchFamily="34" charset="0"/>
                          <a:ea typeface="Arial" pitchFamily="34" charset="-122"/>
                          <a:cs typeface="Arial" pitchFamily="34" charset="-120"/>
                        </a:rPr>
                        <a:t>0.12 | 0.10 m/ns</a:t>
                      </a:r>
                      <a:endParaRPr lang="en-US" sz="1050" dirty="0">
                        <a:latin typeface="Arial" charset="0"/>
                        <a:ea typeface="Arial" charset="0"/>
                        <a:cs typeface="Arial" charset="0"/>
                      </a:endParaRPr>
                    </a:p>
                  </a:txBody>
                  <a:tcPr marL="45720" marR="45720" marT="45720" marB="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15" name="Shape 7"/>
          <p:cNvSpPr/>
          <p:nvPr/>
        </p:nvSpPr>
        <p:spPr>
          <a:xfrm>
            <a:off x="4846320" y="4983480"/>
            <a:ext cx="6793992" cy="960120"/>
          </a:xfrm>
          <a:prstGeom prst="roundRect">
            <a:avLst>
              <a:gd name="adj" fmla="val 7619"/>
            </a:avLst>
          </a:prstGeom>
          <a:solidFill>
            <a:srgbClr val="EEF3FA"/>
          </a:solidFill>
          <a:ln w="12700">
            <a:solidFill>
              <a:srgbClr val="EEF3FA"/>
            </a:solidFill>
            <a:prstDash val="solid"/>
          </a:ln>
        </p:spPr>
      </p:sp>
      <p:sp>
        <p:nvSpPr>
          <p:cNvPr id="16" name="Text 8"/>
          <p:cNvSpPr txBox="1"/>
          <p:nvPr/>
        </p:nvSpPr>
        <p:spPr>
          <a:xfrm>
            <a:off x="5029200" y="5093208"/>
            <a:ext cx="6446520" cy="777240"/>
          </a:xfrm>
          <a:prstGeom prst="rect">
            <a:avLst/>
          </a:prstGeom>
          <a:noFill/>
          <a:ln/>
        </p:spPr>
        <p:txBody>
          <a:bodyPr wrap="square" lIns="0" tIns="0" rIns="0" bIns="0" rtlCol="0" anchor="ctr"/>
          <a:lstStyle/>
          <a:p>
            <a:pPr indent="0" marL="0">
              <a:buNone/>
            </a:pPr>
            <a:r>
              <a:rPr lang="en-US" sz="1400" b="1" dirty="0">
                <a:solidFill>
                  <a:srgbClr val="0B4A9E"/>
                </a:solidFill>
                <a:latin typeface="Arial" pitchFamily="34" charset="0"/>
                <a:ea typeface="Arial" pitchFamily="34" charset="-122"/>
                <a:cs typeface="Arial" pitchFamily="34" charset="-120"/>
              </a:rPr>
              <a:t>Why this layout: </a:t>
            </a:r>
            <a:pPr indent="0" marL="0">
              <a:buNone/>
            </a:pPr>
            <a:r>
              <a:rPr lang="en-US" sz="1400" dirty="0">
                <a:solidFill>
                  <a:srgbClr val="1B1B1D"/>
                </a:solidFill>
                <a:latin typeface="Arial" pitchFamily="34" charset="0"/>
                <a:ea typeface="Arial" pitchFamily="34" charset="-122"/>
                <a:cs typeface="Arial" pitchFamily="34" charset="-120"/>
              </a:rPr>
              <a:t>a target gives the clearest hyperbola when it is crossed at a right angle — C lines cross the cable, N lines cross the pipe.</a:t>
            </a:r>
            <a:endParaRPr lang="en-US" sz="1400" dirty="0"/>
          </a:p>
        </p:txBody>
      </p:sp>
      <p:sp>
        <p:nvSpPr>
          <p:cNvPr id="17" name="Text 9"/>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Procedure after ASTM D6432-19 and PAS 128:2022. Velocity: 0.12 m/ns concrete, 0.10 m/ns soil (team 2-layer model).</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3.4  Data processing: from raw traces to depth</a:t>
            </a:r>
            <a:endParaRPr lang="en-US" sz="2600" dirty="0"/>
          </a:p>
        </p:txBody>
      </p:sp>
      <p:sp>
        <p:nvSpPr>
          <p:cNvPr id="4" name="Shape 2"/>
          <p:cNvSpPr/>
          <p:nvPr/>
        </p:nvSpPr>
        <p:spPr>
          <a:xfrm>
            <a:off x="548640" y="1399032"/>
            <a:ext cx="411480" cy="411480"/>
          </a:xfrm>
          <a:prstGeom prst="ellipse">
            <a:avLst/>
          </a:prstGeom>
          <a:solidFill>
            <a:srgbClr val="0B4A9E"/>
          </a:solidFill>
          <a:ln w="12700">
            <a:solidFill>
              <a:srgbClr val="0B4A9E"/>
            </a:solidFill>
            <a:prstDash val="solid"/>
          </a:ln>
        </p:spPr>
      </p:sp>
      <p:sp>
        <p:nvSpPr>
          <p:cNvPr id="5" name="Text 3"/>
          <p:cNvSpPr txBox="1"/>
          <p:nvPr/>
        </p:nvSpPr>
        <p:spPr>
          <a:xfrm>
            <a:off x="548640" y="139903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097280" y="1371600"/>
            <a:ext cx="283464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Move start time</a:t>
            </a:r>
            <a:endParaRPr lang="en-US" sz="1400" dirty="0"/>
          </a:p>
        </p:txBody>
      </p:sp>
      <p:sp>
        <p:nvSpPr>
          <p:cNvPr id="7" name="Text 5"/>
          <p:cNvSpPr txBox="1"/>
          <p:nvPr/>
        </p:nvSpPr>
        <p:spPr>
          <a:xfrm>
            <a:off x="1097280" y="1664208"/>
            <a:ext cx="2834640" cy="41148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time zero at the ground surface</a:t>
            </a:r>
            <a:endParaRPr lang="en-US" sz="1200" dirty="0"/>
          </a:p>
        </p:txBody>
      </p:sp>
      <p:sp>
        <p:nvSpPr>
          <p:cNvPr id="8" name="Shape 6"/>
          <p:cNvSpPr/>
          <p:nvPr/>
        </p:nvSpPr>
        <p:spPr>
          <a:xfrm>
            <a:off x="548640" y="2167128"/>
            <a:ext cx="411480" cy="411480"/>
          </a:xfrm>
          <a:prstGeom prst="ellipse">
            <a:avLst/>
          </a:prstGeom>
          <a:solidFill>
            <a:srgbClr val="0B4A9E"/>
          </a:solidFill>
          <a:ln w="12700">
            <a:solidFill>
              <a:srgbClr val="0B4A9E"/>
            </a:solidFill>
            <a:prstDash val="solid"/>
          </a:ln>
        </p:spPr>
      </p:sp>
      <p:sp>
        <p:nvSpPr>
          <p:cNvPr id="9" name="Text 7"/>
          <p:cNvSpPr txBox="1"/>
          <p:nvPr/>
        </p:nvSpPr>
        <p:spPr>
          <a:xfrm>
            <a:off x="548640" y="21671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139696"/>
            <a:ext cx="283464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DC removal + dewow</a:t>
            </a:r>
            <a:endParaRPr lang="en-US" sz="1400" dirty="0"/>
          </a:p>
        </p:txBody>
      </p:sp>
      <p:sp>
        <p:nvSpPr>
          <p:cNvPr id="11" name="Text 9"/>
          <p:cNvSpPr txBox="1"/>
          <p:nvPr/>
        </p:nvSpPr>
        <p:spPr>
          <a:xfrm>
            <a:off x="1097280" y="2432304"/>
            <a:ext cx="2834640" cy="41148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removes the slow drift of each trace</a:t>
            </a:r>
            <a:endParaRPr lang="en-US" sz="1200" dirty="0"/>
          </a:p>
        </p:txBody>
      </p:sp>
      <p:sp>
        <p:nvSpPr>
          <p:cNvPr id="12" name="Shape 10"/>
          <p:cNvSpPr/>
          <p:nvPr/>
        </p:nvSpPr>
        <p:spPr>
          <a:xfrm>
            <a:off x="548640" y="2935224"/>
            <a:ext cx="411480" cy="411480"/>
          </a:xfrm>
          <a:prstGeom prst="ellipse">
            <a:avLst/>
          </a:prstGeom>
          <a:solidFill>
            <a:srgbClr val="0B4A9E"/>
          </a:solidFill>
          <a:ln w="12700">
            <a:solidFill>
              <a:srgbClr val="0B4A9E"/>
            </a:solidFill>
            <a:prstDash val="solid"/>
          </a:ln>
        </p:spPr>
      </p:sp>
      <p:sp>
        <p:nvSpPr>
          <p:cNvPr id="13" name="Text 11"/>
          <p:cNvSpPr txBox="1"/>
          <p:nvPr/>
        </p:nvSpPr>
        <p:spPr>
          <a:xfrm>
            <a:off x="548640" y="29352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097280" y="2907792"/>
            <a:ext cx="283464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Background removal</a:t>
            </a:r>
            <a:endParaRPr lang="en-US" sz="1400" dirty="0"/>
          </a:p>
        </p:txBody>
      </p:sp>
      <p:sp>
        <p:nvSpPr>
          <p:cNvPr id="15" name="Text 13"/>
          <p:cNvSpPr txBox="1"/>
          <p:nvPr/>
        </p:nvSpPr>
        <p:spPr>
          <a:xfrm>
            <a:off x="1097280" y="3200400"/>
            <a:ext cx="2834640" cy="41148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deletes flat bands repeated on every trace</a:t>
            </a:r>
            <a:endParaRPr lang="en-US" sz="1200" dirty="0"/>
          </a:p>
        </p:txBody>
      </p:sp>
      <p:sp>
        <p:nvSpPr>
          <p:cNvPr id="16" name="Shape 14"/>
          <p:cNvSpPr/>
          <p:nvPr/>
        </p:nvSpPr>
        <p:spPr>
          <a:xfrm>
            <a:off x="548640" y="3703320"/>
            <a:ext cx="411480" cy="411480"/>
          </a:xfrm>
          <a:prstGeom prst="ellipse">
            <a:avLst/>
          </a:prstGeom>
          <a:solidFill>
            <a:srgbClr val="0B4A9E"/>
          </a:solidFill>
          <a:ln w="12700">
            <a:solidFill>
              <a:srgbClr val="0B4A9E"/>
            </a:solidFill>
            <a:prstDash val="solid"/>
          </a:ln>
        </p:spPr>
      </p:sp>
      <p:sp>
        <p:nvSpPr>
          <p:cNvPr id="17" name="Text 15"/>
          <p:cNvSpPr txBox="1"/>
          <p:nvPr/>
        </p:nvSpPr>
        <p:spPr>
          <a:xfrm>
            <a:off x="548640" y="3703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097280" y="3675888"/>
            <a:ext cx="283464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Gain</a:t>
            </a:r>
            <a:endParaRPr lang="en-US" sz="1400" dirty="0"/>
          </a:p>
        </p:txBody>
      </p:sp>
      <p:sp>
        <p:nvSpPr>
          <p:cNvPr id="19" name="Text 17"/>
          <p:cNvSpPr txBox="1"/>
          <p:nvPr/>
        </p:nvSpPr>
        <p:spPr>
          <a:xfrm>
            <a:off x="1097280" y="3968496"/>
            <a:ext cx="2834640" cy="41148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boosts weak, deeper echoes</a:t>
            </a:r>
            <a:endParaRPr lang="en-US" sz="1200" dirty="0"/>
          </a:p>
        </p:txBody>
      </p:sp>
      <p:sp>
        <p:nvSpPr>
          <p:cNvPr id="20" name="Shape 18"/>
          <p:cNvSpPr/>
          <p:nvPr/>
        </p:nvSpPr>
        <p:spPr>
          <a:xfrm>
            <a:off x="548640" y="4471416"/>
            <a:ext cx="411480" cy="411480"/>
          </a:xfrm>
          <a:prstGeom prst="ellipse">
            <a:avLst/>
          </a:prstGeom>
          <a:solidFill>
            <a:srgbClr val="0B4A9E"/>
          </a:solidFill>
          <a:ln w="12700">
            <a:solidFill>
              <a:srgbClr val="0B4A9E"/>
            </a:solidFill>
            <a:prstDash val="solid"/>
          </a:ln>
        </p:spPr>
      </p:sp>
      <p:sp>
        <p:nvSpPr>
          <p:cNvPr id="21" name="Text 19"/>
          <p:cNvSpPr txBox="1"/>
          <p:nvPr/>
        </p:nvSpPr>
        <p:spPr>
          <a:xfrm>
            <a:off x="548640" y="447141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097280" y="4443984"/>
            <a:ext cx="283464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Kirchhoff migration</a:t>
            </a:r>
            <a:endParaRPr lang="en-US" sz="1400" dirty="0"/>
          </a:p>
        </p:txBody>
      </p:sp>
      <p:sp>
        <p:nvSpPr>
          <p:cNvPr id="23" name="Text 21"/>
          <p:cNvSpPr txBox="1"/>
          <p:nvPr/>
        </p:nvSpPr>
        <p:spPr>
          <a:xfrm>
            <a:off x="1097280" y="4736592"/>
            <a:ext cx="2834640" cy="41148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collapses a hyperbola to its apex (v = 0.095 m/ns)</a:t>
            </a:r>
            <a:endParaRPr lang="en-US" sz="1200" dirty="0"/>
          </a:p>
        </p:txBody>
      </p:sp>
      <p:sp>
        <p:nvSpPr>
          <p:cNvPr id="24" name="Shape 22"/>
          <p:cNvSpPr/>
          <p:nvPr/>
        </p:nvSpPr>
        <p:spPr>
          <a:xfrm>
            <a:off x="548640" y="5239512"/>
            <a:ext cx="411480" cy="411480"/>
          </a:xfrm>
          <a:prstGeom prst="ellipse">
            <a:avLst/>
          </a:prstGeom>
          <a:solidFill>
            <a:srgbClr val="0B4A9E"/>
          </a:solidFill>
          <a:ln w="12700">
            <a:solidFill>
              <a:srgbClr val="0B4A9E"/>
            </a:solidFill>
            <a:prstDash val="solid"/>
          </a:ln>
        </p:spPr>
      </p:sp>
      <p:sp>
        <p:nvSpPr>
          <p:cNvPr id="25" name="Text 23"/>
          <p:cNvSpPr txBox="1"/>
          <p:nvPr/>
        </p:nvSpPr>
        <p:spPr>
          <a:xfrm>
            <a:off x="548640" y="52395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1097280" y="5212080"/>
            <a:ext cx="283464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Time → depth</a:t>
            </a:r>
            <a:endParaRPr lang="en-US" sz="1400" dirty="0"/>
          </a:p>
        </p:txBody>
      </p:sp>
      <p:sp>
        <p:nvSpPr>
          <p:cNvPr id="27" name="Text 25"/>
          <p:cNvSpPr txBox="1"/>
          <p:nvPr/>
        </p:nvSpPr>
        <p:spPr>
          <a:xfrm>
            <a:off x="1097280" y="5504688"/>
            <a:ext cx="2834640" cy="41148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2-layer model: 0.12 m/ns concrete, 0.10 m/ns soil</a:t>
            </a:r>
            <a:endParaRPr lang="en-US" sz="1200" dirty="0"/>
          </a:p>
        </p:txBody>
      </p:sp>
      <p:pic>
        <p:nvPicPr>
          <p:cNvPr id="28" name="Image 0" descr="Raw and processed radargram of line N5, with the processing chain and the fitted hyperbola of the water pipe">    </p:cNvPr>
          <p:cNvPicPr>
            <a:picLocks noChangeAspect="1"/>
          </p:cNvPicPr>
          <p:nvPr/>
        </p:nvPicPr>
        <p:blipFill>
          <a:blip r:embed="rId1"/>
          <a:stretch>
            <a:fillRect/>
          </a:stretch>
        </p:blipFill>
        <p:spPr>
          <a:xfrm>
            <a:off x="4114800" y="1325880"/>
            <a:ext cx="7525512" cy="4233672"/>
          </a:xfrm>
          <a:prstGeom prst="rect">
            <a:avLst/>
          </a:prstGeom>
        </p:spPr>
      </p:pic>
      <p:sp>
        <p:nvSpPr>
          <p:cNvPr id="29" name="Text 26"/>
          <p:cNvSpPr txBox="1"/>
          <p:nvPr/>
        </p:nvSpPr>
        <p:spPr>
          <a:xfrm>
            <a:off x="4114800" y="5623560"/>
            <a:ext cx="7525512" cy="411480"/>
          </a:xfrm>
          <a:prstGeom prst="rect">
            <a:avLst/>
          </a:prstGeom>
          <a:noFill/>
          <a:ln/>
        </p:spPr>
        <p:txBody>
          <a:bodyPr wrap="square" lIns="0" tIns="0" rIns="0" bIns="0" rtlCol="0" anchor="t"/>
          <a:lstStyle/>
          <a:p>
            <a:pPr indent="0" marL="0">
              <a:buNone/>
            </a:pPr>
            <a:r>
              <a:rPr lang="en-US" sz="1200" i="1" dirty="0">
                <a:solidFill>
                  <a:srgbClr val="5F6368"/>
                </a:solidFill>
                <a:latin typeface="Arial" pitchFamily="34" charset="0"/>
                <a:ea typeface="Arial" pitchFamily="34" charset="-122"/>
                <a:cs typeface="Arial" pitchFamily="34" charset="-120"/>
              </a:rPr>
              <a:t>Line N5 (repeat), 250 MHz: raw (left) and processed (right); the water-pipe hyperbola appears, depth to top ≈ 0.39 m.</a:t>
            </a:r>
            <a:endParaRPr lang="en-US" sz="1200" dirty="0"/>
          </a:p>
        </p:txBody>
      </p:sp>
      <p:sp>
        <p:nvSpPr>
          <p:cNvPr id="30" name="Text 27"/>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Software: ReflexW (Sandmeier); figures and maps in Python. Migration methods: Özdemir et al. (2014).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4.1  Model results: the model matches the field hyperbolas</a:t>
            </a:r>
            <a:endParaRPr lang="en-US" sz="2600" dirty="0"/>
          </a:p>
        </p:txBody>
      </p:sp>
      <p:pic>
        <p:nvPicPr>
          <p:cNvPr id="4" name="Image 0" descr="Synthetic radargram of a metal cable and a PVC pipe compared with field lines C1 and N5">    </p:cNvPr>
          <p:cNvPicPr>
            <a:picLocks noChangeAspect="1"/>
          </p:cNvPicPr>
          <p:nvPr/>
        </p:nvPicPr>
        <p:blipFill>
          <a:blip r:embed="rId1"/>
          <a:stretch>
            <a:fillRect/>
          </a:stretch>
        </p:blipFill>
        <p:spPr>
          <a:xfrm>
            <a:off x="923544" y="1325880"/>
            <a:ext cx="10341864" cy="470916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4.2  Field results: four aligned anomalies trace one power cable</a:t>
            </a:r>
            <a:endParaRPr lang="en-US" sz="2600" dirty="0"/>
          </a:p>
        </p:txBody>
      </p:sp>
      <p:pic>
        <p:nvPicPr>
          <p:cNvPr id="4" name="Image 0" descr="Radargrams of parallel lines C1, C2, C3 and C4 (250 MHz) drawn on the same position axis. Anomaly P1 sits at 2.5 m along the road on every line, at depths 0.65, 0.45, 0.46 and 0.43 m; a dashed orange vertical line joins the four hyperbola apexes.">    </p:cNvPr>
          <p:cNvPicPr>
            <a:picLocks noChangeAspect="1"/>
          </p:cNvPicPr>
          <p:nvPr/>
        </p:nvPicPr>
        <p:blipFill>
          <a:blip r:embed="rId1"/>
          <a:stretch>
            <a:fillRect/>
          </a:stretch>
        </p:blipFill>
        <p:spPr>
          <a:xfrm>
            <a:off x="548640" y="1325880"/>
            <a:ext cx="5605272" cy="4645152"/>
          </a:xfrm>
          <a:prstGeom prst="rect">
            <a:avLst/>
          </a:prstGeom>
        </p:spPr>
      </p:pic>
      <p:sp>
        <p:nvSpPr>
          <p:cNvPr id="5" name="Text 2"/>
          <p:cNvSpPr txBox="1"/>
          <p:nvPr/>
        </p:nvSpPr>
        <p:spPr>
          <a:xfrm>
            <a:off x="7269480" y="1325880"/>
            <a:ext cx="4343400" cy="320040"/>
          </a:xfrm>
          <a:prstGeom prst="rect">
            <a:avLst/>
          </a:prstGeom>
          <a:noFill/>
          <a:ln/>
        </p:spPr>
        <p:txBody>
          <a:bodyPr wrap="square" lIns="0" tIns="0" rIns="0" bIns="0" rtlCol="0" anchor="t"/>
          <a:lstStyle/>
          <a:p>
            <a:pPr indent="0" marL="0">
              <a:buNone/>
            </a:pPr>
            <a:r>
              <a:rPr lang="en-US" sz="1400" b="1" dirty="0">
                <a:solidFill>
                  <a:srgbClr val="5F6368"/>
                </a:solidFill>
                <a:latin typeface="Arial" pitchFamily="34" charset="0"/>
                <a:ea typeface="Arial" pitchFamily="34" charset="-122"/>
                <a:cs typeface="Arial" pitchFamily="34" charset="-120"/>
              </a:rPr>
              <a:t>Plan view</a:t>
            </a:r>
            <a:endParaRPr lang="en-US" sz="1400" dirty="0"/>
          </a:p>
        </p:txBody>
      </p:sp>
      <p:pic>
        <p:nvPicPr>
          <p:cNvPr id="6" name="Image 1" descr="Plan view: lines C1 to C4 run parallel 1 m apart, C2 and C4 walked in the opposite direction; the four P1 points fall on one dashed orange line straight across the road, the cable.">    </p:cNvPr>
          <p:cNvPicPr>
            <a:picLocks noChangeAspect="1"/>
          </p:cNvPicPr>
          <p:nvPr/>
        </p:nvPicPr>
        <p:blipFill>
          <a:blip r:embed="rId2"/>
          <a:stretch>
            <a:fillRect/>
          </a:stretch>
        </p:blipFill>
        <p:spPr>
          <a:xfrm>
            <a:off x="7498080" y="1664208"/>
            <a:ext cx="3566160" cy="2185416"/>
          </a:xfrm>
          <a:prstGeom prst="rect">
            <a:avLst/>
          </a:prstGeom>
        </p:spPr>
      </p:pic>
      <p:sp>
        <p:nvSpPr>
          <p:cNvPr id="7" name="Shape 3"/>
          <p:cNvSpPr/>
          <p:nvPr/>
        </p:nvSpPr>
        <p:spPr>
          <a:xfrm>
            <a:off x="7269480" y="3931920"/>
            <a:ext cx="4370832" cy="640080"/>
          </a:xfrm>
          <a:prstGeom prst="roundRect">
            <a:avLst>
              <a:gd name="adj" fmla="val 11429"/>
            </a:avLst>
          </a:prstGeom>
          <a:solidFill>
            <a:srgbClr val="EEF3FA"/>
          </a:solidFill>
          <a:ln w="12700">
            <a:solidFill>
              <a:srgbClr val="EEF3FA"/>
            </a:solidFill>
            <a:prstDash val="solid"/>
          </a:ln>
        </p:spPr>
      </p:sp>
      <p:sp>
        <p:nvSpPr>
          <p:cNvPr id="8" name="Text 4"/>
          <p:cNvSpPr txBox="1"/>
          <p:nvPr/>
        </p:nvSpPr>
        <p:spPr>
          <a:xfrm>
            <a:off x="7452360" y="3931920"/>
            <a:ext cx="1463040" cy="640080"/>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4 / 4</a:t>
            </a:r>
            <a:endParaRPr lang="en-US" sz="2200" dirty="0"/>
          </a:p>
        </p:txBody>
      </p:sp>
      <p:sp>
        <p:nvSpPr>
          <p:cNvPr id="9" name="Text 5"/>
          <p:cNvSpPr txBox="1"/>
          <p:nvPr/>
        </p:nvSpPr>
        <p:spPr>
          <a:xfrm>
            <a:off x="9006840" y="3995928"/>
            <a:ext cx="256032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Same echo on every line</a:t>
            </a:r>
            <a:endParaRPr lang="en-US" sz="1400" dirty="0"/>
          </a:p>
        </p:txBody>
      </p:sp>
      <p:sp>
        <p:nvSpPr>
          <p:cNvPr id="10" name="Text 6"/>
          <p:cNvSpPr txBox="1"/>
          <p:nvPr/>
        </p:nvSpPr>
        <p:spPr>
          <a:xfrm>
            <a:off x="9006840" y="4279392"/>
            <a:ext cx="2560320" cy="25603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strong, ringing hyperbola → metal</a:t>
            </a:r>
            <a:endParaRPr lang="en-US" sz="1100" dirty="0"/>
          </a:p>
        </p:txBody>
      </p:sp>
      <p:sp>
        <p:nvSpPr>
          <p:cNvPr id="11" name="Shape 7"/>
          <p:cNvSpPr/>
          <p:nvPr/>
        </p:nvSpPr>
        <p:spPr>
          <a:xfrm>
            <a:off x="7269480" y="4663440"/>
            <a:ext cx="4370832" cy="640080"/>
          </a:xfrm>
          <a:prstGeom prst="roundRect">
            <a:avLst>
              <a:gd name="adj" fmla="val 11429"/>
            </a:avLst>
          </a:prstGeom>
          <a:solidFill>
            <a:srgbClr val="EEF3FA"/>
          </a:solidFill>
          <a:ln w="12700">
            <a:solidFill>
              <a:srgbClr val="EEF3FA"/>
            </a:solidFill>
            <a:prstDash val="solid"/>
          </a:ln>
        </p:spPr>
      </p:sp>
      <p:sp>
        <p:nvSpPr>
          <p:cNvPr id="12" name="Text 8"/>
          <p:cNvSpPr txBox="1"/>
          <p:nvPr/>
        </p:nvSpPr>
        <p:spPr>
          <a:xfrm>
            <a:off x="7452360" y="4663440"/>
            <a:ext cx="1463040" cy="640080"/>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90°</a:t>
            </a:r>
            <a:endParaRPr lang="en-US" sz="2200" dirty="0"/>
          </a:p>
        </p:txBody>
      </p:sp>
      <p:sp>
        <p:nvSpPr>
          <p:cNvPr id="13" name="Text 9"/>
          <p:cNvSpPr txBox="1"/>
          <p:nvPr/>
        </p:nvSpPr>
        <p:spPr>
          <a:xfrm>
            <a:off x="9006840" y="4727448"/>
            <a:ext cx="256032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Straight across the road</a:t>
            </a:r>
            <a:endParaRPr lang="en-US" sz="1400" dirty="0"/>
          </a:p>
        </p:txBody>
      </p:sp>
      <p:sp>
        <p:nvSpPr>
          <p:cNvPr id="14" name="Text 10"/>
          <p:cNvSpPr txBox="1"/>
          <p:nvPr/>
        </p:nvSpPr>
        <p:spPr>
          <a:xfrm>
            <a:off x="9006840" y="5010912"/>
            <a:ext cx="2560320" cy="25603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C1, C3 at 2.50 m · field marks agree</a:t>
            </a:r>
            <a:endParaRPr lang="en-US" sz="1100" dirty="0"/>
          </a:p>
        </p:txBody>
      </p:sp>
      <p:sp>
        <p:nvSpPr>
          <p:cNvPr id="15" name="Shape 11"/>
          <p:cNvSpPr/>
          <p:nvPr/>
        </p:nvSpPr>
        <p:spPr>
          <a:xfrm>
            <a:off x="7269480" y="5394960"/>
            <a:ext cx="4370832" cy="640080"/>
          </a:xfrm>
          <a:prstGeom prst="roundRect">
            <a:avLst>
              <a:gd name="adj" fmla="val 11429"/>
            </a:avLst>
          </a:prstGeom>
          <a:solidFill>
            <a:srgbClr val="EEF3FA"/>
          </a:solidFill>
          <a:ln w="12700">
            <a:solidFill>
              <a:srgbClr val="EEF3FA"/>
            </a:solidFill>
            <a:prstDash val="solid"/>
          </a:ln>
        </p:spPr>
      </p:sp>
      <p:sp>
        <p:nvSpPr>
          <p:cNvPr id="16" name="Text 12"/>
          <p:cNvSpPr txBox="1"/>
          <p:nvPr/>
        </p:nvSpPr>
        <p:spPr>
          <a:xfrm>
            <a:off x="7452360" y="5394960"/>
            <a:ext cx="1463040" cy="640080"/>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 0.45 m</a:t>
            </a:r>
            <a:endParaRPr lang="en-US" sz="2200" dirty="0"/>
          </a:p>
        </p:txBody>
      </p:sp>
      <p:sp>
        <p:nvSpPr>
          <p:cNvPr id="17" name="Text 13"/>
          <p:cNvSpPr txBox="1"/>
          <p:nvPr/>
        </p:nvSpPr>
        <p:spPr>
          <a:xfrm>
            <a:off x="9006840" y="5458968"/>
            <a:ext cx="2560320" cy="274320"/>
          </a:xfrm>
          <a:prstGeom prst="rect">
            <a:avLst/>
          </a:prstGeom>
          <a:noFill/>
          <a:ln/>
        </p:spPr>
        <p:txBody>
          <a:bodyPr wrap="square" lIns="0" tIns="0" rIns="0" bIns="0" rtlCol="0" anchor="t"/>
          <a:lstStyle/>
          <a:p>
            <a:pPr indent="0" marL="0">
              <a:buNone/>
            </a:pPr>
            <a:r>
              <a:rPr lang="en-US" sz="1400" b="1" dirty="0">
                <a:solidFill>
                  <a:srgbClr val="1B1B1D"/>
                </a:solidFill>
                <a:latin typeface="Arial" pitchFamily="34" charset="0"/>
                <a:ea typeface="Arial" pitchFamily="34" charset="-122"/>
                <a:cs typeface="Arial" pitchFamily="34" charset="-120"/>
              </a:rPr>
              <a:t>Depth to the top</a:t>
            </a:r>
            <a:endParaRPr lang="en-US" sz="1400" dirty="0"/>
          </a:p>
        </p:txBody>
      </p:sp>
      <p:sp>
        <p:nvSpPr>
          <p:cNvPr id="18" name="Text 14"/>
          <p:cNvSpPr txBox="1"/>
          <p:nvPr/>
        </p:nvSpPr>
        <p:spPr>
          <a:xfrm>
            <a:off x="9006840" y="5742432"/>
            <a:ext cx="2560320" cy="25603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C2–C4: 0.43–0.46 m · C1: 0.65 m</a:t>
            </a:r>
            <a:endParaRPr lang="en-US" sz="1100" dirty="0"/>
          </a:p>
        </p:txBody>
      </p:sp>
      <p:sp>
        <p:nvSpPr>
          <p:cNvPr id="19" name="Text 15"/>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250 MHz, lines C1–C4 (LZZ20001–20004; C3 = LZZ20003.11 flipped back), team picks. C2, C4 walked in reverse, placed from the cable marked on site.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4.3  Field results: the water pipe on lines N1–N5</a:t>
            </a:r>
            <a:endParaRPr lang="en-US" sz="2600" dirty="0"/>
          </a:p>
        </p:txBody>
      </p:sp>
      <p:pic>
        <p:nvPicPr>
          <p:cNvPr id="4" name="Image 0" descr="GPR sections over the water pipe: line N2 with the pipe hyperbola A1, line N1 with no clear hyperbola, line N2 after migration, and a zoom on the pipe hyperbola">    </p:cNvPr>
          <p:cNvPicPr>
            <a:picLocks noChangeAspect="1"/>
          </p:cNvPicPr>
          <p:nvPr/>
        </p:nvPicPr>
        <p:blipFill>
          <a:blip r:embed="rId1"/>
          <a:stretch>
            <a:fillRect/>
          </a:stretch>
        </p:blipFill>
        <p:spPr>
          <a:xfrm>
            <a:off x="548640" y="1325880"/>
            <a:ext cx="8412480" cy="4727448"/>
          </a:xfrm>
          <a:prstGeom prst="rect">
            <a:avLst/>
          </a:prstGeom>
        </p:spPr>
      </p:pic>
      <p:sp>
        <p:nvSpPr>
          <p:cNvPr id="5" name="Shape 2"/>
          <p:cNvSpPr/>
          <p:nvPr/>
        </p:nvSpPr>
        <p:spPr>
          <a:xfrm>
            <a:off x="9189720" y="1325880"/>
            <a:ext cx="2450592" cy="1051560"/>
          </a:xfrm>
          <a:prstGeom prst="roundRect">
            <a:avLst>
              <a:gd name="adj" fmla="val 6957"/>
            </a:avLst>
          </a:prstGeom>
          <a:solidFill>
            <a:srgbClr val="EEF3FA"/>
          </a:solidFill>
          <a:ln w="12700">
            <a:solidFill>
              <a:srgbClr val="EEF3FA"/>
            </a:solidFill>
            <a:prstDash val="solid"/>
          </a:ln>
        </p:spPr>
      </p:sp>
      <p:sp>
        <p:nvSpPr>
          <p:cNvPr id="6" name="Text 3"/>
          <p:cNvSpPr txBox="1"/>
          <p:nvPr/>
        </p:nvSpPr>
        <p:spPr>
          <a:xfrm>
            <a:off x="9354312" y="1417320"/>
            <a:ext cx="2176272" cy="365760"/>
          </a:xfrm>
          <a:prstGeom prst="rect">
            <a:avLst/>
          </a:prstGeom>
          <a:noFill/>
          <a:ln/>
        </p:spPr>
        <p:txBody>
          <a:bodyPr wrap="square" lIns="0" tIns="0" rIns="0" bIns="0" rtlCol="0" anchor="t"/>
          <a:lstStyle/>
          <a:p>
            <a:pPr indent="0" marL="0">
              <a:buNone/>
            </a:pPr>
            <a:r>
              <a:rPr lang="en-US" sz="1800" b="1" dirty="0">
                <a:solidFill>
                  <a:srgbClr val="1E7BD9"/>
                </a:solidFill>
                <a:latin typeface="Arial" pitchFamily="34" charset="0"/>
                <a:ea typeface="Arial" pitchFamily="34" charset="-122"/>
                <a:cs typeface="Arial" pitchFamily="34" charset="-120"/>
              </a:rPr>
              <a:t>3 / 5</a:t>
            </a:r>
            <a:endParaRPr lang="en-US" sz="1800" dirty="0"/>
          </a:p>
        </p:txBody>
      </p:sp>
      <p:sp>
        <p:nvSpPr>
          <p:cNvPr id="7" name="Text 4"/>
          <p:cNvSpPr txBox="1"/>
          <p:nvPr/>
        </p:nvSpPr>
        <p:spPr>
          <a:xfrm>
            <a:off x="9354312" y="1801368"/>
            <a:ext cx="2176272" cy="53035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lines show the pipe hyperbola: N2, N4, N5</a:t>
            </a:r>
            <a:endParaRPr lang="en-US" sz="1100" dirty="0"/>
          </a:p>
        </p:txBody>
      </p:sp>
      <p:sp>
        <p:nvSpPr>
          <p:cNvPr id="8" name="Shape 5"/>
          <p:cNvSpPr/>
          <p:nvPr/>
        </p:nvSpPr>
        <p:spPr>
          <a:xfrm>
            <a:off x="9189720" y="2505456"/>
            <a:ext cx="2450592" cy="1051560"/>
          </a:xfrm>
          <a:prstGeom prst="roundRect">
            <a:avLst>
              <a:gd name="adj" fmla="val 6957"/>
            </a:avLst>
          </a:prstGeom>
          <a:solidFill>
            <a:srgbClr val="EEF3FA"/>
          </a:solidFill>
          <a:ln w="12700">
            <a:solidFill>
              <a:srgbClr val="EEF3FA"/>
            </a:solidFill>
            <a:prstDash val="solid"/>
          </a:ln>
        </p:spPr>
      </p:sp>
      <p:sp>
        <p:nvSpPr>
          <p:cNvPr id="9" name="Text 6"/>
          <p:cNvSpPr txBox="1"/>
          <p:nvPr/>
        </p:nvSpPr>
        <p:spPr>
          <a:xfrm>
            <a:off x="9354312" y="2596896"/>
            <a:ext cx="2176272" cy="365760"/>
          </a:xfrm>
          <a:prstGeom prst="rect">
            <a:avLst/>
          </a:prstGeom>
          <a:noFill/>
          <a:ln/>
        </p:spPr>
        <p:txBody>
          <a:bodyPr wrap="square" lIns="0" tIns="0" rIns="0" bIns="0" rtlCol="0" anchor="t"/>
          <a:lstStyle/>
          <a:p>
            <a:pPr indent="0" marL="0">
              <a:buNone/>
            </a:pPr>
            <a:r>
              <a:rPr lang="en-US" sz="1800" b="1" dirty="0">
                <a:solidFill>
                  <a:srgbClr val="1E7BD9"/>
                </a:solidFill>
                <a:latin typeface="Arial" pitchFamily="34" charset="0"/>
                <a:ea typeface="Arial" pitchFamily="34" charset="-122"/>
                <a:cs typeface="Arial" pitchFamily="34" charset="-120"/>
              </a:rPr>
              <a:t>≈ 1 m</a:t>
            </a:r>
            <a:endParaRPr lang="en-US" sz="1800" dirty="0"/>
          </a:p>
        </p:txBody>
      </p:sp>
      <p:sp>
        <p:nvSpPr>
          <p:cNvPr id="10" name="Text 7"/>
          <p:cNvSpPr txBox="1"/>
          <p:nvPr/>
        </p:nvSpPr>
        <p:spPr>
          <a:xfrm>
            <a:off x="9354312" y="2980944"/>
            <a:ext cx="2176272" cy="53035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from the bench-side edge of the road (0.67–1.09 m)</a:t>
            </a:r>
            <a:endParaRPr lang="en-US" sz="1100" dirty="0"/>
          </a:p>
        </p:txBody>
      </p:sp>
      <p:sp>
        <p:nvSpPr>
          <p:cNvPr id="11" name="Shape 8"/>
          <p:cNvSpPr/>
          <p:nvPr/>
        </p:nvSpPr>
        <p:spPr>
          <a:xfrm>
            <a:off x="9189720" y="3685032"/>
            <a:ext cx="2450592" cy="1051560"/>
          </a:xfrm>
          <a:prstGeom prst="roundRect">
            <a:avLst>
              <a:gd name="adj" fmla="val 6957"/>
            </a:avLst>
          </a:prstGeom>
          <a:solidFill>
            <a:srgbClr val="EEF3FA"/>
          </a:solidFill>
          <a:ln w="12700">
            <a:solidFill>
              <a:srgbClr val="EEF3FA"/>
            </a:solidFill>
            <a:prstDash val="solid"/>
          </a:ln>
        </p:spPr>
      </p:sp>
      <p:sp>
        <p:nvSpPr>
          <p:cNvPr id="12" name="Text 9"/>
          <p:cNvSpPr txBox="1"/>
          <p:nvPr/>
        </p:nvSpPr>
        <p:spPr>
          <a:xfrm>
            <a:off x="9354312" y="3776472"/>
            <a:ext cx="2176272" cy="365760"/>
          </a:xfrm>
          <a:prstGeom prst="rect">
            <a:avLst/>
          </a:prstGeom>
          <a:noFill/>
          <a:ln/>
        </p:spPr>
        <p:txBody>
          <a:bodyPr wrap="square" lIns="0" tIns="0" rIns="0" bIns="0" rtlCol="0" anchor="t"/>
          <a:lstStyle/>
          <a:p>
            <a:pPr indent="0" marL="0">
              <a:buNone/>
            </a:pPr>
            <a:r>
              <a:rPr lang="en-US" sz="1800" b="1" dirty="0">
                <a:solidFill>
                  <a:srgbClr val="1E7BD9"/>
                </a:solidFill>
                <a:latin typeface="Arial" pitchFamily="34" charset="0"/>
                <a:ea typeface="Arial" pitchFamily="34" charset="-122"/>
                <a:cs typeface="Arial" pitchFamily="34" charset="-120"/>
              </a:rPr>
              <a:t>0.43–0.59 m</a:t>
            </a:r>
            <a:endParaRPr lang="en-US" sz="1800" dirty="0"/>
          </a:p>
        </p:txBody>
      </p:sp>
      <p:sp>
        <p:nvSpPr>
          <p:cNvPr id="13" name="Text 10"/>
          <p:cNvSpPr txBox="1"/>
          <p:nvPr/>
        </p:nvSpPr>
        <p:spPr>
          <a:xfrm>
            <a:off x="9354312" y="4160520"/>
            <a:ext cx="2176272" cy="53035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depth to the top</a:t>
            </a:r>
            <a:endParaRPr lang="en-US" sz="1100" dirty="0"/>
          </a:p>
        </p:txBody>
      </p:sp>
      <p:sp>
        <p:nvSpPr>
          <p:cNvPr id="14" name="Shape 11"/>
          <p:cNvSpPr/>
          <p:nvPr/>
        </p:nvSpPr>
        <p:spPr>
          <a:xfrm>
            <a:off x="9189720" y="4864608"/>
            <a:ext cx="2450592" cy="1051560"/>
          </a:xfrm>
          <a:prstGeom prst="roundRect">
            <a:avLst>
              <a:gd name="adj" fmla="val 6957"/>
            </a:avLst>
          </a:prstGeom>
          <a:solidFill>
            <a:srgbClr val="EEF3FA"/>
          </a:solidFill>
          <a:ln w="12700">
            <a:solidFill>
              <a:srgbClr val="EEF3FA"/>
            </a:solidFill>
            <a:prstDash val="solid"/>
          </a:ln>
        </p:spPr>
      </p:sp>
      <p:sp>
        <p:nvSpPr>
          <p:cNvPr id="15" name="Text 12"/>
          <p:cNvSpPr txBox="1"/>
          <p:nvPr/>
        </p:nvSpPr>
        <p:spPr>
          <a:xfrm>
            <a:off x="9354312" y="4956048"/>
            <a:ext cx="2176272" cy="365760"/>
          </a:xfrm>
          <a:prstGeom prst="rect">
            <a:avLst/>
          </a:prstGeom>
          <a:noFill/>
          <a:ln/>
        </p:spPr>
        <p:txBody>
          <a:bodyPr wrap="square" lIns="0" tIns="0" rIns="0" bIns="0" rtlCol="0" anchor="t"/>
          <a:lstStyle/>
          <a:p>
            <a:pPr indent="0" marL="0">
              <a:buNone/>
            </a:pPr>
            <a:r>
              <a:rPr lang="en-US" sz="1800" b="1" dirty="0">
                <a:solidFill>
                  <a:srgbClr val="5F6368"/>
                </a:solidFill>
                <a:latin typeface="Arial" pitchFamily="34" charset="0"/>
                <a:ea typeface="Arial" pitchFamily="34" charset="-122"/>
                <a:cs typeface="Arial" pitchFamily="34" charset="-120"/>
              </a:rPr>
              <a:t>N1: none</a:t>
            </a:r>
            <a:endParaRPr lang="en-US" sz="1800" dirty="0"/>
          </a:p>
        </p:txBody>
      </p:sp>
      <p:sp>
        <p:nvSpPr>
          <p:cNvPr id="16" name="Text 13"/>
          <p:cNvSpPr txBox="1"/>
          <p:nvPr/>
        </p:nvSpPr>
        <p:spPr>
          <a:xfrm>
            <a:off x="9354312" y="5340096"/>
            <a:ext cx="2176272" cy="530352"/>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only flat pavement layers — we do not claim a pipe</a:t>
            </a:r>
            <a:endParaRPr lang="en-US" sz="1100" dirty="0"/>
          </a:p>
        </p:txBody>
      </p:sp>
      <p:sp>
        <p:nvSpPr>
          <p:cNvPr id="17" name="Text 14"/>
          <p:cNvSpPr txBox="1"/>
          <p:nvPr/>
        </p:nvSpPr>
        <p:spPr>
          <a:xfrm>
            <a:off x="548640" y="6144768"/>
            <a:ext cx="11064240"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250 MHz; (a) N2, (b) N1, (c) N2 after migration, (d) zoom on the pipe hyperbola. Depth: 0.12 m/ns concrete, 0.10 m/ns soil.</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00" fill="hold"/>
                                        <p:tgtEl>
                                          <p:spTgt spid="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4.5  Results summary and evaluation</a:t>
            </a:r>
            <a:endParaRPr lang="en-US" sz="2600" dirty="0"/>
          </a:p>
        </p:txBody>
      </p:sp>
      <p:pic>
        <p:nvPicPr>
          <p:cNvPr id="4" name="Image 0" descr="Animated 360-degree view of the survey area with the ground made transparent, showing the water pipe in blue and the power cable in orange with depth labels">    </p:cNvPr>
          <p:cNvPicPr>
            <a:picLocks noChangeAspect="1"/>
          </p:cNvPicPr>
          <p:nvPr/>
        </p:nvPicPr>
        <p:blipFill>
          <a:blip r:embed="rId1"/>
          <a:stretch>
            <a:fillRect/>
          </a:stretch>
        </p:blipFill>
        <p:spPr>
          <a:xfrm>
            <a:off x="548640" y="1325880"/>
            <a:ext cx="5669280" cy="3191256"/>
          </a:xfrm>
          <a:prstGeom prst="rect">
            <a:avLst/>
          </a:prstGeom>
        </p:spPr>
      </p:pic>
      <p:sp>
        <p:nvSpPr>
          <p:cNvPr id="5" name="Text 2"/>
          <p:cNvSpPr txBox="1"/>
          <p:nvPr/>
        </p:nvSpPr>
        <p:spPr>
          <a:xfrm>
            <a:off x="548640" y="4572000"/>
            <a:ext cx="5669280" cy="411480"/>
          </a:xfrm>
          <a:prstGeom prst="rect">
            <a:avLst/>
          </a:prstGeom>
          <a:noFill/>
          <a:ln/>
        </p:spPr>
        <p:txBody>
          <a:bodyPr wrap="square" lIns="0" tIns="0" rIns="0" bIns="0" rtlCol="0" anchor="t"/>
          <a:lstStyle/>
          <a:p>
            <a:pPr indent="0" marL="0">
              <a:buNone/>
            </a:pPr>
            <a:r>
              <a:rPr lang="en-US" sz="1100" i="1" dirty="0">
                <a:solidFill>
                  <a:srgbClr val="5F6368"/>
                </a:solidFill>
                <a:latin typeface="Arial" pitchFamily="34" charset="0"/>
                <a:ea typeface="Arial" pitchFamily="34" charset="-122"/>
                <a:cs typeface="Arial" pitchFamily="34" charset="-120"/>
              </a:rPr>
              <a:t>360° view, ground made transparent · blue = water pipe · orange = power cable · labels = depth to top</a:t>
            </a:r>
            <a:endParaRPr lang="en-US" sz="1100" dirty="0"/>
          </a:p>
        </p:txBody>
      </p:sp>
      <p:sp>
        <p:nvSpPr>
          <p:cNvPr id="6" name="Shape 3"/>
          <p:cNvSpPr/>
          <p:nvPr/>
        </p:nvSpPr>
        <p:spPr>
          <a:xfrm>
            <a:off x="548640" y="5074920"/>
            <a:ext cx="5669280" cy="914400"/>
          </a:xfrm>
          <a:prstGeom prst="roundRect">
            <a:avLst>
              <a:gd name="adj" fmla="val 8000"/>
            </a:avLst>
          </a:prstGeom>
          <a:solidFill>
            <a:srgbClr val="EEF3FA"/>
          </a:solidFill>
          <a:ln w="12700">
            <a:solidFill>
              <a:srgbClr val="EEF3FA"/>
            </a:solidFill>
            <a:prstDash val="solid"/>
          </a:ln>
        </p:spPr>
      </p:sp>
      <p:sp>
        <p:nvSpPr>
          <p:cNvPr id="7" name="Text 4"/>
          <p:cNvSpPr txBox="1"/>
          <p:nvPr/>
        </p:nvSpPr>
        <p:spPr>
          <a:xfrm>
            <a:off x="731520" y="5138928"/>
            <a:ext cx="5303520" cy="786384"/>
          </a:xfrm>
          <a:prstGeom prst="rect">
            <a:avLst/>
          </a:prstGeom>
          <a:noFill/>
          <a:ln/>
        </p:spPr>
        <p:txBody>
          <a:bodyPr wrap="square" lIns="0" tIns="0" rIns="0" bIns="0" rtlCol="0" anchor="ctr"/>
          <a:lstStyle/>
          <a:p>
            <a:pPr indent="0" marL="0">
              <a:buNone/>
            </a:pPr>
            <a:r>
              <a:rPr lang="en-US" sz="1300" b="1" dirty="0">
                <a:solidFill>
                  <a:srgbClr val="0B4A9E"/>
                </a:solidFill>
                <a:latin typeface="Arial" pitchFamily="34" charset="0"/>
                <a:ea typeface="Arial" pitchFamily="34" charset="-122"/>
                <a:cs typeface="Arial" pitchFamily="34" charset="-120"/>
              </a:rPr>
              <a:t>Depth uncertainty: </a:t>
            </a:r>
            <a:pPr indent="0" marL="0">
              <a:buNone/>
            </a:pPr>
            <a:r>
              <a:rPr lang="en-US" sz="1300" dirty="0">
                <a:solidFill>
                  <a:srgbClr val="1B1B1D"/>
                </a:solidFill>
                <a:latin typeface="Arial" pitchFamily="34" charset="0"/>
                <a:ea typeface="Arial" pitchFamily="34" charset="-122"/>
                <a:cs typeface="Arial" pitchFamily="34" charset="-120"/>
              </a:rPr>
              <a:t>the 2-layer model and the migration velocity (0.095 m/ns) give depths ~20 % apart — about ±0.1 m at 0.5 m.</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148072" cy="914400"/>
        </p:xfrm>
        <a:graphic>
          <a:graphicData uri="http://schemas.openxmlformats.org/drawingml/2006/table">
            <a:tbl>
              <a:tblPr/>
              <a:tblGrid>
                <a:gridCol w="1097280"/>
                <a:gridCol w="914400"/>
                <a:gridCol w="1097280"/>
                <a:gridCol w="1024128"/>
                <a:gridCol w="1014984"/>
              </a:tblGrid>
              <a:tr h="41148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Seen on</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Path</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Depth to top</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Confidence</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685800">
                <a:tc>
                  <a:txBody>
                    <a:bodyPr/>
                    <a:lstStyle/>
                    <a:p>
                      <a:pPr indent="0" marL="0">
                        <a:buNone/>
                      </a:pPr>
                      <a:r>
                        <a:rPr lang="en-US" sz="1100" b="1" dirty="0">
                          <a:solidFill>
                            <a:srgbClr val="E8590C"/>
                          </a:solidFill>
                          <a:latin typeface="Arial" pitchFamily="34" charset="0"/>
                          <a:ea typeface="Arial" pitchFamily="34" charset="-122"/>
                          <a:cs typeface="Arial" pitchFamily="34" charset="-120"/>
                        </a:rPr>
                        <a:t>Power cable</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C1–C4 (4/4)</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across the road, 90°</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0.43–0.65 m</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b="1" dirty="0">
                          <a:solidFill>
                            <a:srgbClr val="1E8E3E"/>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685800">
                <a:tc>
                  <a:txBody>
                    <a:bodyPr/>
                    <a:lstStyle/>
                    <a:p>
                      <a:pPr indent="0" marL="0">
                        <a:buNone/>
                      </a:pPr>
                      <a:r>
                        <a:rPr lang="en-US" sz="1100" b="1" dirty="0">
                          <a:solidFill>
                            <a:srgbClr val="1E7BD9"/>
                          </a:solidFill>
                          <a:latin typeface="Arial" pitchFamily="34" charset="0"/>
                          <a:ea typeface="Arial" pitchFamily="34" charset="-122"/>
                          <a:cs typeface="Arial" pitchFamily="34" charset="-120"/>
                        </a:rPr>
                        <a:t>Water pipe</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N2, N4, N5 (3/5)</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along the road, ~1 m from the edge</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0.43–0.59 m</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b="1" dirty="0">
                          <a:solidFill>
                            <a:srgbClr val="B98900"/>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685800">
                <a:tc>
                  <a:txBody>
                    <a:bodyPr/>
                    <a:lstStyle/>
                    <a:p>
                      <a:pPr indent="0" marL="0">
                        <a:buNone/>
                      </a:pPr>
                      <a:r>
                        <a:rPr lang="en-US" sz="1100" b="1" dirty="0">
                          <a:solidFill>
                            <a:srgbClr val="5F6368"/>
                          </a:solidFill>
                          <a:latin typeface="Arial" pitchFamily="34" charset="0"/>
                          <a:ea typeface="Arial" pitchFamily="34" charset="-122"/>
                          <a:cs typeface="Arial" pitchFamily="34" charset="-120"/>
                        </a:rPr>
                        <a:t>Other reflectors O1–O5</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1 line each</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dirty="0">
                          <a:solidFill>
                            <a:srgbClr val="1B1B1D"/>
                          </a:solidFill>
                          <a:latin typeface="Arial" pitchFamily="34" charset="0"/>
                          <a:ea typeface="Arial" pitchFamily="34" charset="-122"/>
                          <a:cs typeface="Arial" pitchFamily="34" charset="-120"/>
                        </a:rPr>
                        <a:t>0.26–0.90 m</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indent="0" marL="0">
                        <a:buNone/>
                      </a:pPr>
                      <a:r>
                        <a:rPr lang="en-US" sz="1100" b="1" dirty="0">
                          <a:solidFill>
                            <a:srgbClr val="5F6368"/>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9" name="Shape 5"/>
          <p:cNvSpPr/>
          <p:nvPr/>
        </p:nvSpPr>
        <p:spPr>
          <a:xfrm>
            <a:off x="6492240" y="4023360"/>
            <a:ext cx="5148072" cy="1965960"/>
          </a:xfrm>
          <a:prstGeom prst="roundRect">
            <a:avLst>
              <a:gd name="adj" fmla="val 3721"/>
            </a:avLst>
          </a:prstGeom>
          <a:solidFill>
            <a:srgbClr val="EEF3FA"/>
          </a:solidFill>
          <a:ln w="12700">
            <a:solidFill>
              <a:srgbClr val="EEF3FA"/>
            </a:solidFill>
            <a:prstDash val="solid"/>
          </a:ln>
        </p:spPr>
      </p:sp>
      <p:sp>
        <p:nvSpPr>
          <p:cNvPr id="10" name="Text 6"/>
          <p:cNvSpPr txBox="1"/>
          <p:nvPr/>
        </p:nvSpPr>
        <p:spPr>
          <a:xfrm>
            <a:off x="6675120" y="4133088"/>
            <a:ext cx="4754880" cy="320040"/>
          </a:xfrm>
          <a:prstGeom prst="rect">
            <a:avLst/>
          </a:prstGeom>
          <a:noFill/>
          <a:ln/>
        </p:spPr>
        <p:txBody>
          <a:bodyPr wrap="square" lIns="0" tIns="0" rIns="0" bIns="0" rtlCol="0" anchor="t"/>
          <a:lstStyle/>
          <a:p>
            <a:pPr indent="0" marL="0">
              <a:buNone/>
            </a:pPr>
            <a:r>
              <a:rPr lang="en-US" sz="1600" b="1" dirty="0">
                <a:solidFill>
                  <a:srgbClr val="0B4A9E"/>
                </a:solidFill>
                <a:latin typeface="Arial" pitchFamily="34" charset="0"/>
                <a:ea typeface="Arial" pitchFamily="34" charset="-122"/>
                <a:cs typeface="Arial" pitchFamily="34" charset="-120"/>
              </a:rPr>
              <a:t>Evaluation</a:t>
            </a:r>
            <a:endParaRPr lang="en-US" sz="1600" dirty="0"/>
          </a:p>
        </p:txBody>
      </p:sp>
      <p:sp>
        <p:nvSpPr>
          <p:cNvPr id="11" name="Text 7"/>
          <p:cNvSpPr txBox="1"/>
          <p:nvPr/>
        </p:nvSpPr>
        <p:spPr>
          <a:xfrm>
            <a:off x="6675120" y="4480560"/>
            <a:ext cx="4800600" cy="146304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1B1B1D"/>
                </a:solidFill>
                <a:latin typeface="Arial" pitchFamily="34" charset="0"/>
                <a:ea typeface="Arial" pitchFamily="34" charset="-122"/>
                <a:cs typeface="Arial" pitchFamily="34" charset="-120"/>
              </a:rPr>
              <a:t>Cable: the same ringing echo on 4 parallel lines, in line with the marks made on site.</a:t>
            </a:r>
            <a:endParaRPr lang="en-US" sz="1300" dirty="0"/>
          </a:p>
          <a:p>
            <a:pPr marL="177800" indent="-177800">
              <a:spcAft>
                <a:spcPts val="300"/>
              </a:spcAft>
              <a:buSzPct val="100000"/>
              <a:buChar char="•"/>
            </a:pPr>
            <a:r>
              <a:rPr lang="en-US" sz="1300" dirty="0">
                <a:solidFill>
                  <a:srgbClr val="1B1B1D"/>
                </a:solidFill>
                <a:latin typeface="Arial" pitchFamily="34" charset="0"/>
                <a:ea typeface="Arial" pitchFamily="34" charset="-122"/>
                <a:cs typeface="Arial" pitchFamily="34" charset="-120"/>
              </a:rPr>
              <a:t>Pipe: seen on 3 of 5 crossing lines; the path between lines is interpolated.</a:t>
            </a:r>
            <a:endParaRPr lang="en-US" sz="1300" dirty="0"/>
          </a:p>
          <a:p>
            <a:pPr marL="177800" indent="-177800">
              <a:spcAft>
                <a:spcPts val="300"/>
              </a:spcAft>
              <a:buSzPct val="100000"/>
              <a:buChar char="•"/>
            </a:pPr>
            <a:r>
              <a:rPr lang="en-US" sz="1300" dirty="0">
                <a:solidFill>
                  <a:srgbClr val="1B1B1D"/>
                </a:solidFill>
                <a:latin typeface="Arial" pitchFamily="34" charset="0"/>
                <a:ea typeface="Arial" pitchFamily="34" charset="-122"/>
                <a:cs typeface="Arial" pitchFamily="34" charset="-120"/>
              </a:rPr>
              <a:t>O1–O5 appear on one line only, so they are not interpreted.</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a:ln/>
        </p:spPr>
        <p:txBody>
          <a:bodyPr wrap="square" lIns="0" tIns="0" rIns="0" bIns="0" rtlCol="0" anchor="t"/>
          <a:lstStyle/>
          <a:p>
            <a:pPr indent="0" marL="0">
              <a:buNone/>
            </a:pPr>
            <a:r>
              <a:rPr lang="en-US" sz="1100" dirty="0">
                <a:solidFill>
                  <a:srgbClr val="9AA0A6"/>
                </a:solidFill>
                <a:latin typeface="Arial" pitchFamily="34" charset="0"/>
                <a:ea typeface="Arial" pitchFamily="34" charset="-122"/>
                <a:cs typeface="Arial" pitchFamily="34" charset="-120"/>
              </a:rPr>
              <a:t>1  Introduction</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2  Overview</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3  Methods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dirty="0">
                <a:solidFill>
                  <a:srgbClr val="9AA0A6"/>
                </a:solidFill>
                <a:latin typeface="Arial" pitchFamily="34" charset="0"/>
                <a:ea typeface="Arial" pitchFamily="34" charset="-122"/>
                <a:cs typeface="Arial" pitchFamily="34" charset="-120"/>
              </a:rPr>
              <a:t>4  Results</a:t>
            </a:r>
            <a:pPr indent="0" marL="0">
              <a:buNone/>
            </a:pPr>
            <a:r>
              <a:rPr lang="en-US" sz="1100" dirty="0">
                <a:solidFill>
                  <a:srgbClr val="9AA0A6"/>
                </a:solidFill>
                <a:latin typeface="Arial" pitchFamily="34" charset="0"/>
                <a:ea typeface="Arial" pitchFamily="34" charset="-122"/>
                <a:cs typeface="Arial" pitchFamily="34" charset="-120"/>
              </a:rPr>
              <a:t>      </a:t>
            </a:r>
            <a:pPr indent="0" marL="0">
              <a:buNone/>
            </a:pPr>
            <a:r>
              <a:rPr lang="en-US" sz="1100" b="1" dirty="0">
                <a:solidFill>
                  <a:srgbClr val="0B4A9E"/>
                </a:solidFill>
                <a:latin typeface="Arial" pitchFamily="34" charset="0"/>
                <a:ea typeface="Arial" pitchFamily="34" charset="-122"/>
                <a:cs typeface="Arial" pitchFamily="34" charset="-120"/>
              </a:rPr>
              <a:t>5  Conclusions</a:t>
            </a:r>
            <a:endParaRPr lang="en-US" sz="1100" dirty="0"/>
          </a:p>
        </p:txBody>
      </p:sp>
      <p:sp>
        <p:nvSpPr>
          <p:cNvPr id="3"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5  Conclusions and recommendations</a:t>
            </a:r>
            <a:endParaRPr lang="en-US" sz="2600" dirty="0"/>
          </a:p>
        </p:txBody>
      </p:sp>
      <p:sp>
        <p:nvSpPr>
          <p:cNvPr id="4" name="Text 2"/>
          <p:cNvSpPr txBox="1"/>
          <p:nvPr/>
        </p:nvSpPr>
        <p:spPr>
          <a:xfrm>
            <a:off x="548640" y="1371600"/>
            <a:ext cx="5486400" cy="411480"/>
          </a:xfrm>
          <a:prstGeom prst="rect">
            <a:avLst/>
          </a:prstGeom>
          <a:noFill/>
          <a:ln/>
        </p:spPr>
        <p:txBody>
          <a:bodyPr wrap="square" lIns="0" tIns="0" rIns="0" bIns="0" rtlCol="0" anchor="t"/>
          <a:lstStyle/>
          <a:p>
            <a:pPr indent="0" marL="0">
              <a:buNone/>
            </a:pPr>
            <a:r>
              <a:rPr lang="en-US" sz="2000" b="1" dirty="0">
                <a:solidFill>
                  <a:srgbClr val="0B4A9E"/>
                </a:solidFill>
                <a:latin typeface="Arial" pitchFamily="34" charset="0"/>
                <a:ea typeface="Arial" pitchFamily="34" charset="-122"/>
                <a:cs typeface="Arial" pitchFamily="34" charset="-120"/>
              </a:rPr>
              <a:t>Conclusions</a:t>
            </a:r>
            <a:endParaRPr lang="en-US" sz="2000" dirty="0"/>
          </a:p>
        </p:txBody>
      </p:sp>
      <p:sp>
        <p:nvSpPr>
          <p:cNvPr id="5" name="Shape 3"/>
          <p:cNvSpPr/>
          <p:nvPr/>
        </p:nvSpPr>
        <p:spPr>
          <a:xfrm>
            <a:off x="548640" y="1965960"/>
            <a:ext cx="502920" cy="502920"/>
          </a:xfrm>
          <a:prstGeom prst="ellipse">
            <a:avLst/>
          </a:prstGeom>
          <a:solidFill>
            <a:srgbClr val="0B4A9E"/>
          </a:solidFill>
          <a:ln w="12700">
            <a:solidFill>
              <a:srgbClr val="0B4A9E"/>
            </a:solidFill>
            <a:prstDash val="solid"/>
          </a:ln>
        </p:spPr>
      </p:sp>
      <p:sp>
        <p:nvSpPr>
          <p:cNvPr id="6" name="Text 4"/>
          <p:cNvSpPr txBox="1"/>
          <p:nvPr/>
        </p:nvSpPr>
        <p:spPr>
          <a:xfrm>
            <a:off x="54864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1280160" y="1947672"/>
            <a:ext cx="4754880" cy="822960"/>
          </a:xfrm>
          <a:prstGeom prst="rect">
            <a:avLst/>
          </a:prstGeom>
          <a:noFill/>
          <a:ln/>
        </p:spPr>
        <p:txBody>
          <a:bodyPr wrap="square" lIns="0" tIns="0" rIns="0" bIns="0" rtlCol="0" anchor="t"/>
          <a:lstStyle/>
          <a:p>
            <a:pPr indent="0" marL="0">
              <a:buNone/>
            </a:pPr>
            <a:r>
              <a:rPr lang="en-US" sz="1700" dirty="0">
                <a:solidFill>
                  <a:srgbClr val="1B1B1D"/>
                </a:solidFill>
                <a:latin typeface="Arial" pitchFamily="34" charset="0"/>
                <a:ea typeface="Arial" pitchFamily="34" charset="-122"/>
                <a:cs typeface="Arial" pitchFamily="34" charset="-120"/>
              </a:rPr>
              <a:t>GPR located a power cable and a water pipe under asphalt — without digging.</a:t>
            </a:r>
            <a:endParaRPr lang="en-US" sz="1700" dirty="0"/>
          </a:p>
        </p:txBody>
      </p:sp>
      <p:sp>
        <p:nvSpPr>
          <p:cNvPr id="8" name="Shape 6"/>
          <p:cNvSpPr/>
          <p:nvPr/>
        </p:nvSpPr>
        <p:spPr>
          <a:xfrm>
            <a:off x="548640" y="3017520"/>
            <a:ext cx="502920" cy="502920"/>
          </a:xfrm>
          <a:prstGeom prst="ellipse">
            <a:avLst/>
          </a:prstGeom>
          <a:solidFill>
            <a:srgbClr val="0B4A9E"/>
          </a:solidFill>
          <a:ln w="12700">
            <a:solidFill>
              <a:srgbClr val="0B4A9E"/>
            </a:solidFill>
            <a:prstDash val="solid"/>
          </a:ln>
        </p:spPr>
      </p:sp>
      <p:sp>
        <p:nvSpPr>
          <p:cNvPr id="9" name="Text 7"/>
          <p:cNvSpPr txBox="1"/>
          <p:nvPr/>
        </p:nvSpPr>
        <p:spPr>
          <a:xfrm>
            <a:off x="548640" y="3017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280160" y="2999232"/>
            <a:ext cx="4754880" cy="822960"/>
          </a:xfrm>
          <a:prstGeom prst="rect">
            <a:avLst/>
          </a:prstGeom>
          <a:noFill/>
          <a:ln/>
        </p:spPr>
        <p:txBody>
          <a:bodyPr wrap="square" lIns="0" tIns="0" rIns="0" bIns="0" rtlCol="0" anchor="t"/>
          <a:lstStyle/>
          <a:p>
            <a:pPr indent="0" marL="0">
              <a:buNone/>
            </a:pPr>
            <a:r>
              <a:rPr lang="en-US" sz="1700" dirty="0">
                <a:solidFill>
                  <a:srgbClr val="1B1B1D"/>
                </a:solidFill>
                <a:latin typeface="Arial" pitchFamily="34" charset="0"/>
                <a:ea typeface="Arial" pitchFamily="34" charset="-122"/>
                <a:cs typeface="Arial" pitchFamily="34" charset="-120"/>
              </a:rPr>
              <a:t>Crossing the target at a right angle is what makes the hyperbola visible.</a:t>
            </a:r>
            <a:endParaRPr lang="en-US" sz="1700" dirty="0"/>
          </a:p>
        </p:txBody>
      </p:sp>
      <p:sp>
        <p:nvSpPr>
          <p:cNvPr id="11" name="Shape 9"/>
          <p:cNvSpPr/>
          <p:nvPr/>
        </p:nvSpPr>
        <p:spPr>
          <a:xfrm>
            <a:off x="548640" y="4069080"/>
            <a:ext cx="502920" cy="502920"/>
          </a:xfrm>
          <a:prstGeom prst="ellipse">
            <a:avLst/>
          </a:prstGeom>
          <a:solidFill>
            <a:srgbClr val="0B4A9E"/>
          </a:solidFill>
          <a:ln w="12700">
            <a:solidFill>
              <a:srgbClr val="0B4A9E"/>
            </a:solidFill>
            <a:prstDash val="solid"/>
          </a:ln>
        </p:spPr>
      </p:sp>
      <p:sp>
        <p:nvSpPr>
          <p:cNvPr id="12" name="Text 10"/>
          <p:cNvSpPr txBox="1"/>
          <p:nvPr/>
        </p:nvSpPr>
        <p:spPr>
          <a:xfrm>
            <a:off x="548640" y="4069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280160" y="4050792"/>
            <a:ext cx="4754880" cy="822960"/>
          </a:xfrm>
          <a:prstGeom prst="rect">
            <a:avLst/>
          </a:prstGeom>
          <a:noFill/>
          <a:ln/>
        </p:spPr>
        <p:txBody>
          <a:bodyPr wrap="square" lIns="0" tIns="0" rIns="0" bIns="0" rtlCol="0" anchor="t"/>
          <a:lstStyle/>
          <a:p>
            <a:pPr indent="0" marL="0">
              <a:buNone/>
            </a:pPr>
            <a:r>
              <a:rPr lang="en-US" sz="1700" dirty="0">
                <a:solidFill>
                  <a:srgbClr val="1B1B1D"/>
                </a:solidFill>
                <a:latin typeface="Arial" pitchFamily="34" charset="0"/>
                <a:ea typeface="Arial" pitchFamily="34" charset="-122"/>
                <a:cs typeface="Arial" pitchFamily="34" charset="-120"/>
              </a:rPr>
              <a:t>700 MHz gives sharp images, 250 MHz sees deeper — using both is safer.</a:t>
            </a:r>
            <a:endParaRPr lang="en-US" sz="1700" dirty="0"/>
          </a:p>
        </p:txBody>
      </p:sp>
      <p:sp>
        <p:nvSpPr>
          <p:cNvPr id="14" name="Text 12"/>
          <p:cNvSpPr txBox="1"/>
          <p:nvPr/>
        </p:nvSpPr>
        <p:spPr>
          <a:xfrm>
            <a:off x="6492240" y="1371600"/>
            <a:ext cx="5120640" cy="411480"/>
          </a:xfrm>
          <a:prstGeom prst="rect">
            <a:avLst/>
          </a:prstGeom>
          <a:noFill/>
          <a:ln/>
        </p:spPr>
        <p:txBody>
          <a:bodyPr wrap="square" lIns="0" tIns="0" rIns="0" bIns="0" rtlCol="0" anchor="t"/>
          <a:lstStyle/>
          <a:p>
            <a:pPr indent="0" marL="0">
              <a:buNone/>
            </a:pPr>
            <a:r>
              <a:rPr lang="en-US" sz="2000" b="1" dirty="0">
                <a:solidFill>
                  <a:srgbClr val="0B4A9E"/>
                </a:solidFill>
                <a:latin typeface="Arial" pitchFamily="34" charset="0"/>
                <a:ea typeface="Arial" pitchFamily="34" charset="-122"/>
                <a:cs typeface="Arial" pitchFamily="34" charset="-120"/>
              </a:rPr>
              <a:t>Limitations → recommendations</a:t>
            </a:r>
            <a:endParaRPr lang="en-US" sz="2000" dirty="0"/>
          </a:p>
        </p:txBody>
      </p:sp>
      <p:sp>
        <p:nvSpPr>
          <p:cNvPr id="15" name="Shape 13"/>
          <p:cNvSpPr/>
          <p:nvPr/>
        </p:nvSpPr>
        <p:spPr>
          <a:xfrm>
            <a:off x="6492240" y="1965960"/>
            <a:ext cx="5120640" cy="1417320"/>
          </a:xfrm>
          <a:prstGeom prst="roundRect">
            <a:avLst>
              <a:gd name="adj" fmla="val 5161"/>
            </a:avLst>
          </a:prstGeom>
          <a:solidFill>
            <a:srgbClr val="EEF3FA"/>
          </a:solidFill>
          <a:ln w="12700">
            <a:solidFill>
              <a:srgbClr val="EEF3FA"/>
            </a:solidFill>
            <a:prstDash val="solid"/>
          </a:ln>
        </p:spPr>
      </p:sp>
      <p:sp>
        <p:nvSpPr>
          <p:cNvPr id="16" name="Text 14"/>
          <p:cNvSpPr txBox="1"/>
          <p:nvPr/>
        </p:nvSpPr>
        <p:spPr>
          <a:xfrm>
            <a:off x="6720840" y="2130552"/>
            <a:ext cx="4663440" cy="685800"/>
          </a:xfrm>
          <a:prstGeom prst="rect">
            <a:avLst/>
          </a:prstGeom>
          <a:noFill/>
          <a:ln/>
        </p:spPr>
        <p:txBody>
          <a:bodyPr wrap="square" lIns="0" tIns="0" rIns="0" bIns="0" rtlCol="0" anchor="t"/>
          <a:lstStyle/>
          <a:p>
            <a:pPr indent="0" marL="0">
              <a:buNone/>
            </a:pPr>
            <a:r>
              <a:rPr lang="en-US" sz="1500" dirty="0">
                <a:solidFill>
                  <a:srgbClr val="1B1B1D"/>
                </a:solidFill>
                <a:latin typeface="Arial" pitchFamily="34" charset="0"/>
                <a:ea typeface="Arial" pitchFamily="34" charset="-122"/>
                <a:cs typeface="Arial" pitchFamily="34" charset="-120"/>
              </a:rPr>
              <a:t>Depth depends on the velocity: our 2-layer model vs 0.095 m/ns shifts depths by ~20 %.</a:t>
            </a:r>
            <a:endParaRPr lang="en-US" sz="1500" dirty="0"/>
          </a:p>
        </p:txBody>
      </p:sp>
      <p:sp>
        <p:nvSpPr>
          <p:cNvPr id="17" name="Text 15"/>
          <p:cNvSpPr txBox="1"/>
          <p:nvPr/>
        </p:nvSpPr>
        <p:spPr>
          <a:xfrm>
            <a:off x="6720840" y="2862072"/>
            <a:ext cx="4663440" cy="365760"/>
          </a:xfrm>
          <a:prstGeom prst="rect">
            <a:avLst/>
          </a:prstGeom>
          <a:noFill/>
          <a:ln/>
        </p:spPr>
        <p:txBody>
          <a:bodyPr wrap="square" lIns="0" tIns="0" rIns="0" bIns="0" rtlCol="0" anchor="t"/>
          <a:lstStyle/>
          <a:p>
            <a:pPr indent="0" marL="0">
              <a:buNone/>
            </a:pPr>
            <a:r>
              <a:rPr lang="en-US" sz="1500" b="1" dirty="0">
                <a:solidFill>
                  <a:srgbClr val="C9A227"/>
                </a:solidFill>
                <a:latin typeface="Arial" pitchFamily="34" charset="0"/>
                <a:ea typeface="Arial" pitchFamily="34" charset="-122"/>
                <a:cs typeface="Arial" pitchFamily="34" charset="-120"/>
              </a:rPr>
              <a:t>→ </a:t>
            </a:r>
            <a:pPr indent="0" marL="0">
              <a:buNone/>
            </a:pPr>
            <a:r>
              <a:rPr lang="en-US" sz="1500" b="1" dirty="0">
                <a:solidFill>
                  <a:srgbClr val="1B1B1D"/>
                </a:solidFill>
                <a:latin typeface="Arial" pitchFamily="34" charset="0"/>
                <a:ea typeface="Arial" pitchFamily="34" charset="-122"/>
                <a:cs typeface="Arial" pitchFamily="34" charset="-120"/>
              </a:rPr>
              <a:t>Calibrate with the RD7000 or one small test pit.</a:t>
            </a:r>
            <a:endParaRPr lang="en-US" sz="1500" dirty="0"/>
          </a:p>
        </p:txBody>
      </p:sp>
      <p:sp>
        <p:nvSpPr>
          <p:cNvPr id="18" name="Shape 16"/>
          <p:cNvSpPr/>
          <p:nvPr/>
        </p:nvSpPr>
        <p:spPr>
          <a:xfrm>
            <a:off x="6492240" y="3566160"/>
            <a:ext cx="5120640" cy="1417320"/>
          </a:xfrm>
          <a:prstGeom prst="roundRect">
            <a:avLst>
              <a:gd name="adj" fmla="val 5161"/>
            </a:avLst>
          </a:prstGeom>
          <a:solidFill>
            <a:srgbClr val="EEF3FA"/>
          </a:solidFill>
          <a:ln w="12700">
            <a:solidFill>
              <a:srgbClr val="EEF3FA"/>
            </a:solidFill>
            <a:prstDash val="solid"/>
          </a:ln>
        </p:spPr>
      </p:sp>
      <p:sp>
        <p:nvSpPr>
          <p:cNvPr id="19" name="Text 17"/>
          <p:cNvSpPr txBox="1"/>
          <p:nvPr/>
        </p:nvSpPr>
        <p:spPr>
          <a:xfrm>
            <a:off x="6720840" y="3730752"/>
            <a:ext cx="4663440" cy="685800"/>
          </a:xfrm>
          <a:prstGeom prst="rect">
            <a:avLst/>
          </a:prstGeom>
          <a:noFill/>
          <a:ln/>
        </p:spPr>
        <p:txBody>
          <a:bodyPr wrap="square" lIns="0" tIns="0" rIns="0" bIns="0" rtlCol="0" anchor="t"/>
          <a:lstStyle/>
          <a:p>
            <a:pPr indent="0" marL="0">
              <a:buNone/>
            </a:pPr>
            <a:r>
              <a:rPr lang="en-US" sz="1500" dirty="0">
                <a:solidFill>
                  <a:srgbClr val="1B1B1D"/>
                </a:solidFill>
                <a:latin typeface="Arial" pitchFamily="34" charset="0"/>
                <a:ea typeface="Arial" pitchFamily="34" charset="-122"/>
                <a:cs typeface="Arial" pitchFamily="34" charset="-120"/>
              </a:rPr>
              <a:t>Line positions were paced, not surveyed: lines walked backwards had to be placed from our field marks.</a:t>
            </a:r>
            <a:endParaRPr lang="en-US" sz="1500" dirty="0"/>
          </a:p>
        </p:txBody>
      </p:sp>
      <p:sp>
        <p:nvSpPr>
          <p:cNvPr id="20" name="Text 18"/>
          <p:cNvSpPr txBox="1"/>
          <p:nvPr/>
        </p:nvSpPr>
        <p:spPr>
          <a:xfrm>
            <a:off x="6720840" y="4462272"/>
            <a:ext cx="4663440" cy="365760"/>
          </a:xfrm>
          <a:prstGeom prst="rect">
            <a:avLst/>
          </a:prstGeom>
          <a:noFill/>
          <a:ln/>
        </p:spPr>
        <p:txBody>
          <a:bodyPr wrap="square" lIns="0" tIns="0" rIns="0" bIns="0" rtlCol="0" anchor="t"/>
          <a:lstStyle/>
          <a:p>
            <a:pPr indent="0" marL="0">
              <a:buNone/>
            </a:pPr>
            <a:r>
              <a:rPr lang="en-US" sz="1500" b="1" dirty="0">
                <a:solidFill>
                  <a:srgbClr val="C9A227"/>
                </a:solidFill>
                <a:latin typeface="Arial" pitchFamily="34" charset="0"/>
                <a:ea typeface="Arial" pitchFamily="34" charset="-122"/>
                <a:cs typeface="Arial" pitchFamily="34" charset="-120"/>
              </a:rPr>
              <a:t>→ </a:t>
            </a:r>
            <a:pPr indent="0" marL="0">
              <a:buNone/>
            </a:pPr>
            <a:r>
              <a:rPr lang="en-US" sz="1500" b="1" dirty="0">
                <a:solidFill>
                  <a:srgbClr val="1B1B1D"/>
                </a:solidFill>
                <a:latin typeface="Arial" pitchFamily="34" charset="0"/>
                <a:ea typeface="Arial" pitchFamily="34" charset="-122"/>
                <a:cs typeface="Arial" pitchFamily="34" charset="-120"/>
              </a:rPr>
              <a:t>Fix line positions with GPS or a total station.</a:t>
            </a:r>
            <a:endParaRPr lang="en-US" sz="1500" dirty="0"/>
          </a:p>
        </p:txBody>
      </p:sp>
      <p:sp>
        <p:nvSpPr>
          <p:cNvPr id="21" name="Text 19"/>
          <p:cNvSpPr txBox="1"/>
          <p:nvPr/>
        </p:nvSpPr>
        <p:spPr>
          <a:xfrm>
            <a:off x="548640" y="5349240"/>
            <a:ext cx="11064240" cy="548640"/>
          </a:xfrm>
          <a:prstGeom prst="rect">
            <a:avLst/>
          </a:prstGeom>
          <a:noFill/>
          <a:ln/>
        </p:spPr>
        <p:txBody>
          <a:bodyPr wrap="square" lIns="0" tIns="0" rIns="0" bIns="0" rtlCol="0" anchor="t"/>
          <a:lstStyle/>
          <a:p>
            <a:pPr indent="0" marL="0">
              <a:buNone/>
            </a:pPr>
            <a:r>
              <a:rPr lang="en-US" sz="1700" b="1" i="1" dirty="0">
                <a:solidFill>
                  <a:srgbClr val="0B4A9E"/>
                </a:solidFill>
                <a:latin typeface="Arial" pitchFamily="34" charset="0"/>
                <a:ea typeface="Arial" pitchFamily="34" charset="-122"/>
                <a:cs typeface="Arial" pitchFamily="34" charset="-120"/>
              </a:rPr>
              <a:t>28 %</a:t>
            </a:r>
            <a:pPr indent="0" marL="0">
              <a:buNone/>
            </a:pPr>
            <a:r>
              <a:rPr lang="en-US" sz="1700" i="1" dirty="0">
                <a:solidFill>
                  <a:srgbClr val="1B1B1D"/>
                </a:solidFill>
                <a:latin typeface="Arial" pitchFamily="34" charset="0"/>
                <a:ea typeface="Arial" pitchFamily="34" charset="-122"/>
                <a:cs typeface="Arial" pitchFamily="34" charset="-120"/>
              </a:rPr>
              <a:t> of utility strikes in the US are traced to locating errors (CGA, 2019). Locating well is exactly what GPR is for.</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0B4A9E"/>
          </a:solidFill>
          <a:ln w="12700">
            <a:solidFill>
              <a:srgbClr val="0B4A9E"/>
            </a:solidFill>
            <a:prstDash val="solid"/>
          </a:ln>
        </p:spPr>
      </p:sp>
      <p:pic>
        <p:nvPicPr>
          <p:cNvPr id="3" name="Image 0" descr="HCMUS logo">    </p:cNvPr>
          <p:cNvPicPr>
            <a:picLocks noChangeAspect="1"/>
          </p:cNvPicPr>
          <p:nvPr/>
        </p:nvPicPr>
        <p:blipFill>
          <a:blip r:embed="rId1"/>
          <a:stretch>
            <a:fillRect/>
          </a:stretch>
        </p:blipFill>
        <p:spPr>
          <a:xfrm>
            <a:off x="640080" y="411480"/>
            <a:ext cx="667512" cy="548640"/>
          </a:xfrm>
          <a:prstGeom prst="rect">
            <a:avLst/>
          </a:prstGeom>
        </p:spPr>
      </p:pic>
      <p:sp>
        <p:nvSpPr>
          <p:cNvPr id="4" name="Text 1"/>
          <p:cNvSpPr txBox="1"/>
          <p:nvPr/>
        </p:nvSpPr>
        <p:spPr>
          <a:xfrm>
            <a:off x="640080" y="1188720"/>
            <a:ext cx="4114800" cy="411480"/>
          </a:xfrm>
          <a:prstGeom prst="rect">
            <a:avLst/>
          </a:prstGeom>
          <a:noFill/>
          <a:ln/>
        </p:spPr>
        <p:txBody>
          <a:bodyPr wrap="square" lIns="0" tIns="0" rIns="0" bIns="0" rtlCol="0" anchor="t"/>
          <a:lstStyle/>
          <a:p>
            <a:pPr indent="0" marL="0">
              <a:buNone/>
            </a:pPr>
            <a:r>
              <a:rPr lang="en-US" sz="2000" dirty="0">
                <a:solidFill>
                  <a:srgbClr val="D6E2F3"/>
                </a:solidFill>
                <a:latin typeface="Arial" pitchFamily="34" charset="0"/>
                <a:ea typeface="Arial" pitchFamily="34" charset="-122"/>
                <a:cs typeface="Arial" pitchFamily="34" charset="-120"/>
              </a:rPr>
              <a:t>What is under our feet?</a:t>
            </a:r>
            <a:endParaRPr lang="en-US" sz="2000" dirty="0"/>
          </a:p>
        </p:txBody>
      </p:sp>
      <p:sp>
        <p:nvSpPr>
          <p:cNvPr id="5" name="Text 2"/>
          <p:cNvSpPr txBox="1"/>
          <p:nvPr/>
        </p:nvSpPr>
        <p:spPr>
          <a:xfrm>
            <a:off x="640080" y="1600200"/>
            <a:ext cx="411480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Now we know.</a:t>
            </a:r>
            <a:endParaRPr lang="en-US" sz="4400" dirty="0"/>
          </a:p>
        </p:txBody>
      </p:sp>
      <p:sp>
        <p:nvSpPr>
          <p:cNvPr id="6" name="Text 3"/>
          <p:cNvSpPr txBox="1"/>
          <p:nvPr/>
        </p:nvSpPr>
        <p:spPr>
          <a:xfrm>
            <a:off x="640080" y="2468880"/>
            <a:ext cx="4114800" cy="548640"/>
          </a:xfrm>
          <a:prstGeom prst="rect">
            <a:avLst/>
          </a:prstGeom>
          <a:noFill/>
          <a:ln/>
        </p:spPr>
        <p:txBody>
          <a:bodyPr wrap="square" lIns="0" tIns="0" rIns="0" bIns="0" rtlCol="0" anchor="t"/>
          <a:lstStyle/>
          <a:p>
            <a:pPr indent="0" marL="0">
              <a:buNone/>
            </a:pPr>
            <a:r>
              <a:rPr lang="en-US" sz="2600" b="1" dirty="0">
                <a:solidFill>
                  <a:srgbClr val="F2C94C"/>
                </a:solidFill>
                <a:latin typeface="Arial" pitchFamily="34" charset="0"/>
                <a:ea typeface="Arial" pitchFamily="34" charset="-122"/>
                <a:cs typeface="Arial" pitchFamily="34" charset="-120"/>
              </a:rPr>
              <a:t>Thank you — Questions?</a:t>
            </a:r>
            <a:endParaRPr lang="en-US" sz="2600" dirty="0"/>
          </a:p>
        </p:txBody>
      </p:sp>
      <p:pic>
        <p:nvPicPr>
          <p:cNvPr id="7" name="Image 1" descr="Our team with the GPR on site">    </p:cNvPr>
          <p:cNvPicPr>
            <a:picLocks noChangeAspect="1"/>
          </p:cNvPicPr>
          <p:nvPr/>
        </p:nvPicPr>
        <p:blipFill>
          <a:blip r:embed="rId2"/>
          <a:stretch>
            <a:fillRect/>
          </a:stretch>
        </p:blipFill>
        <p:spPr>
          <a:xfrm>
            <a:off x="640080" y="3383280"/>
            <a:ext cx="2194560" cy="1645920"/>
          </a:xfrm>
          <a:prstGeom prst="rect">
            <a:avLst/>
          </a:prstGeom>
        </p:spPr>
      </p:pic>
      <p:sp>
        <p:nvSpPr>
          <p:cNvPr id="8" name="Text 4"/>
          <p:cNvSpPr txBox="1"/>
          <p:nvPr/>
        </p:nvSpPr>
        <p:spPr>
          <a:xfrm>
            <a:off x="3017520" y="3383280"/>
            <a:ext cx="1920240" cy="1645920"/>
          </a:xfrm>
          <a:prstGeom prst="rect">
            <a:avLst/>
          </a:prstGeom>
          <a:noFill/>
          <a:ln/>
        </p:spPr>
        <p:txBody>
          <a:bodyPr wrap="square" lIns="0" tIns="0" rIns="0" bIns="0" rtlCol="0" anchor="t"/>
          <a:lstStyle/>
          <a:p>
            <a:pPr indent="0" marL="0">
              <a:buNone/>
            </a:pPr>
            <a:r>
              <a:rPr lang="en-US" sz="1400" b="1" dirty="0">
                <a:solidFill>
                  <a:srgbClr val="F2C94C"/>
                </a:solidFill>
                <a:latin typeface="Arial" pitchFamily="34" charset="0"/>
                <a:ea typeface="Arial" pitchFamily="34" charset="-122"/>
                <a:cs typeface="Arial" pitchFamily="34" charset="-120"/>
              </a:rPr>
              <a:t>Our team</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Quốc Long</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Quốc Tài</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Thành Trung</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Đăng Khoa</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Đăng Quang</a:t>
            </a:r>
            <a:endParaRPr lang="en-US" sz="1400" dirty="0"/>
          </a:p>
        </p:txBody>
      </p:sp>
      <p:sp>
        <p:nvSpPr>
          <p:cNvPr id="9" name="Text 5"/>
          <p:cNvSpPr txBox="1"/>
          <p:nvPr/>
        </p:nvSpPr>
        <p:spPr>
          <a:xfrm>
            <a:off x="640080" y="5257800"/>
            <a:ext cx="4114800" cy="274320"/>
          </a:xfrm>
          <a:prstGeom prst="rect">
            <a:avLst/>
          </a:prstGeom>
          <a:noFill/>
          <a:ln/>
        </p:spPr>
        <p:txBody>
          <a:bodyPr wrap="square" lIns="0" tIns="0" rIns="0" bIns="0" rtlCol="0" anchor="t"/>
          <a:lstStyle/>
          <a:p>
            <a:pPr indent="0" marL="0">
              <a:buNone/>
            </a:pPr>
            <a:r>
              <a:rPr lang="en-US" sz="1200" dirty="0">
                <a:solidFill>
                  <a:srgbClr val="D6E2F3"/>
                </a:solidFill>
                <a:latin typeface="Arial" pitchFamily="34" charset="0"/>
                <a:ea typeface="Arial" pitchFamily="34" charset="-122"/>
                <a:cs typeface="Arial" pitchFamily="34" charset="-120"/>
              </a:rPr>
              <a:t>Group [ ] · Supervisor: [ ]</a:t>
            </a:r>
            <a:endParaRPr lang="en-US" sz="1200" dirty="0"/>
          </a:p>
        </p:txBody>
      </p:sp>
      <p:sp>
        <p:nvSpPr>
          <p:cNvPr id="10" name="Text 6"/>
          <p:cNvSpPr txBox="1"/>
          <p:nvPr/>
        </p:nvSpPr>
        <p:spPr>
          <a:xfrm>
            <a:off x="640080" y="5577840"/>
            <a:ext cx="4114800" cy="274320"/>
          </a:xfrm>
          <a:prstGeom prst="rect">
            <a:avLst/>
          </a:prstGeom>
          <a:noFill/>
          <a:ln/>
        </p:spPr>
        <p:txBody>
          <a:bodyPr wrap="square" lIns="0" tIns="0" rIns="0" bIns="0" rtlCol="0" anchor="t"/>
          <a:lstStyle/>
          <a:p>
            <a:pPr indent="0" marL="0">
              <a:buNone/>
            </a:pPr>
            <a:r>
              <a:rPr lang="en-US" sz="1200" dirty="0">
                <a:solidFill>
                  <a:srgbClr val="D6E2F3"/>
                </a:solidFill>
                <a:latin typeface="Arial" pitchFamily="34" charset="0"/>
                <a:ea typeface="Arial" pitchFamily="34" charset="-122"/>
                <a:cs typeface="Arial" pitchFamily="34" charset="-120"/>
              </a:rPr>
              <a:t>Non-Destructive Testing Methods · HCMUS</a:t>
            </a:r>
            <a:endParaRPr lang="en-US" sz="1200" dirty="0"/>
          </a:p>
        </p:txBody>
      </p:sp>
      <p:sp>
        <p:nvSpPr>
          <p:cNvPr id="11" name="Text 7"/>
          <p:cNvSpPr txBox="1"/>
          <p:nvPr/>
        </p:nvSpPr>
        <p:spPr>
          <a:xfrm>
            <a:off x="5577840" y="502920"/>
            <a:ext cx="6035040" cy="548640"/>
          </a:xfrm>
          <a:prstGeom prst="rect">
            <a:avLst/>
          </a:prstGeom>
          <a:noFill/>
          <a:ln/>
        </p:spPr>
        <p:txBody>
          <a:bodyPr wrap="square" lIns="0" tIns="0" rIns="0" bIns="0" rtlCol="0" anchor="t"/>
          <a:lstStyle/>
          <a:p>
            <a:pPr indent="0" marL="0">
              <a:buNone/>
            </a:pPr>
            <a:r>
              <a:rPr lang="en-US" sz="2600" b="1" dirty="0">
                <a:solidFill>
                  <a:srgbClr val="0B4A9E"/>
                </a:solidFill>
                <a:latin typeface="Arial" pitchFamily="34" charset="0"/>
                <a:ea typeface="Arial" pitchFamily="34" charset="-122"/>
                <a:cs typeface="Arial" pitchFamily="34" charset="-120"/>
              </a:rPr>
              <a:t>References</a:t>
            </a:r>
            <a:endParaRPr lang="en-US" sz="2600" dirty="0"/>
          </a:p>
        </p:txBody>
      </p:sp>
      <p:sp>
        <p:nvSpPr>
          <p:cNvPr id="12" name="Text 8"/>
          <p:cNvSpPr txBox="1"/>
          <p:nvPr/>
        </p:nvSpPr>
        <p:spPr>
          <a:xfrm>
            <a:off x="5577840" y="1234440"/>
            <a:ext cx="6035040" cy="4937760"/>
          </a:xfrm>
          <a:prstGeom prst="rect">
            <a:avLst/>
          </a:prstGeom>
          <a:noFill/>
          <a:ln/>
        </p:spPr>
        <p:txBody>
          <a:bodyPr wrap="square" lIns="0" tIns="0" rIns="0" bIns="0" rtlCol="0" anchor="t"/>
          <a:lstStyle/>
          <a:p>
            <a:pPr indent="0" marL="0">
              <a:spcAft>
                <a:spcPts val="700"/>
              </a:spcAft>
              <a:buNone/>
            </a:pPr>
            <a:r>
              <a:rPr lang="en-US" sz="1200" b="1" dirty="0">
                <a:solidFill>
                  <a:srgbClr val="0B4A9E"/>
                </a:solidFill>
                <a:latin typeface="Arial" pitchFamily="34" charset="0"/>
                <a:ea typeface="Arial" pitchFamily="34" charset="-122"/>
                <a:cs typeface="Arial" pitchFamily="34" charset="-120"/>
              </a:rPr>
              <a:t>[1]  </a:t>
            </a:r>
            <a:pPr indent="0" marL="0">
              <a:spcAft>
                <a:spcPts val="700"/>
              </a:spcAft>
              <a:buNone/>
            </a:pPr>
            <a:r>
              <a:rPr lang="en-US" sz="1200" dirty="0">
                <a:solidFill>
                  <a:srgbClr val="1B1B1D"/>
                </a:solidFill>
                <a:latin typeface="Arial" pitchFamily="34" charset="0"/>
                <a:ea typeface="Arial" pitchFamily="34" charset="-122"/>
                <a:cs typeface="Arial" pitchFamily="34" charset="-120"/>
              </a:rPr>
              <a:t>Daniels, D. J. (2004). Ground Penetrating Radar, 2nd ed. IET.</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[2]  </a:t>
            </a:r>
            <a:pPr indent="0" marL="0">
              <a:spcAft>
                <a:spcPts val="700"/>
              </a:spcAft>
              <a:buNone/>
            </a:pPr>
            <a:r>
              <a:rPr lang="en-US" sz="1200" dirty="0">
                <a:solidFill>
                  <a:srgbClr val="1B1B1D"/>
                </a:solidFill>
                <a:latin typeface="Arial" pitchFamily="34" charset="0"/>
                <a:ea typeface="Arial" pitchFamily="34" charset="-122"/>
                <a:cs typeface="Arial" pitchFamily="34" charset="-120"/>
              </a:rPr>
              <a:t>Jol, H. M. (2009). Ground Penetrating Radar: Theory and Applications. Elsevier.</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[3]  </a:t>
            </a:r>
            <a:pPr indent="0" marL="0">
              <a:spcAft>
                <a:spcPts val="700"/>
              </a:spcAft>
              <a:buNone/>
            </a:pPr>
            <a:r>
              <a:rPr lang="en-US" sz="1200" dirty="0">
                <a:solidFill>
                  <a:srgbClr val="1B1B1D"/>
                </a:solidFill>
                <a:latin typeface="Arial" pitchFamily="34" charset="0"/>
                <a:ea typeface="Arial" pitchFamily="34" charset="-122"/>
                <a:cs typeface="Arial" pitchFamily="34" charset="-120"/>
              </a:rPr>
              <a:t>Metje, N. et al. (2007). Mapping the Underworld – state-of-the-art review. Tunn. Undergr. Space Technol. 22, 568–586.</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[4]  </a:t>
            </a:r>
            <a:pPr indent="0" marL="0">
              <a:spcAft>
                <a:spcPts val="700"/>
              </a:spcAft>
              <a:buNone/>
            </a:pPr>
            <a:r>
              <a:rPr lang="en-US" sz="1200" dirty="0">
                <a:solidFill>
                  <a:srgbClr val="1B1B1D"/>
                </a:solidFill>
                <a:latin typeface="Arial" pitchFamily="34" charset="0"/>
                <a:ea typeface="Arial" pitchFamily="34" charset="-122"/>
                <a:cs typeface="Arial" pitchFamily="34" charset="-120"/>
              </a:rPr>
              <a:t>Royal, A. C. D. et al. (2011). Site assessment of multiple-sensor approaches for buried utility detection. Int. J. Geophys.</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[5]  </a:t>
            </a:r>
            <a:pPr indent="0" marL="0">
              <a:spcAft>
                <a:spcPts val="700"/>
              </a:spcAft>
              <a:buNone/>
            </a:pPr>
            <a:r>
              <a:rPr lang="en-US" sz="1200" dirty="0">
                <a:solidFill>
                  <a:srgbClr val="1B1B1D"/>
                </a:solidFill>
                <a:latin typeface="Arial" pitchFamily="34" charset="0"/>
                <a:ea typeface="Arial" pitchFamily="34" charset="-122"/>
                <a:cs typeface="Arial" pitchFamily="34" charset="-120"/>
              </a:rPr>
              <a:t>Lai, W. W.-L., Dérobert, X., Annan, P. (2018). A review of GPR application in civil engineering. NDT &amp; E Int. 96, 58–78.</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[6]  </a:t>
            </a:r>
            <a:pPr indent="0" marL="0">
              <a:spcAft>
                <a:spcPts val="700"/>
              </a:spcAft>
              <a:buNone/>
            </a:pPr>
            <a:r>
              <a:rPr lang="en-US" sz="1200" dirty="0">
                <a:solidFill>
                  <a:srgbClr val="1B1B1D"/>
                </a:solidFill>
                <a:latin typeface="Arial" pitchFamily="34" charset="0"/>
                <a:ea typeface="Arial" pitchFamily="34" charset="-122"/>
                <a:cs typeface="Arial" pitchFamily="34" charset="-120"/>
              </a:rPr>
              <a:t>Nguyễn Thành Vấn et al. (2018). GPRTVN – processing GPR data software. Sci. Technol. Dev. J. – Nat. Sci. 2(5), 97–104.</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[7]  </a:t>
            </a:r>
            <a:pPr indent="0" marL="0">
              <a:spcAft>
                <a:spcPts val="700"/>
              </a:spcAft>
              <a:buNone/>
            </a:pPr>
            <a:r>
              <a:rPr lang="en-US" sz="1200" dirty="0">
                <a:solidFill>
                  <a:srgbClr val="1B1B1D"/>
                </a:solidFill>
                <a:latin typeface="Arial" pitchFamily="34" charset="0"/>
                <a:ea typeface="Arial" pitchFamily="34" charset="-122"/>
                <a:cs typeface="Arial" pitchFamily="34" charset="-120"/>
              </a:rPr>
              <a:t>Đặng Hoàng Duy et al. (2020). Data analysis of 2D GPR profiles in 3D space. Sci. Technol. Dev. J. – Nat. Sci. 3(3), 169–179.</a:t>
            </a:r>
            <a:endParaRPr lang="en-US" sz="1200" dirty="0"/>
          </a:p>
          <a:p>
            <a:pPr indent="0" marL="0">
              <a:spcAft>
                <a:spcPts val="700"/>
              </a:spcAft>
              <a:buNone/>
            </a:pPr>
            <a:r>
              <a:rPr lang="en-US" sz="1200" b="1" dirty="0">
                <a:solidFill>
                  <a:srgbClr val="0B4A9E"/>
                </a:solidFill>
                <a:latin typeface="Arial" pitchFamily="34" charset="0"/>
                <a:ea typeface="Arial" pitchFamily="34" charset="-122"/>
                <a:cs typeface="Arial" pitchFamily="34" charset="-120"/>
              </a:rPr>
              <a:t>[8]  </a:t>
            </a:r>
            <a:pPr indent="0" marL="0">
              <a:spcAft>
                <a:spcPts val="700"/>
              </a:spcAft>
              <a:buNone/>
            </a:pPr>
            <a:r>
              <a:rPr lang="en-US" sz="1200" dirty="0">
                <a:solidFill>
                  <a:srgbClr val="1B1B1D"/>
                </a:solidFill>
                <a:latin typeface="Arial" pitchFamily="34" charset="0"/>
                <a:ea typeface="Arial" pitchFamily="34" charset="-122"/>
                <a:cs typeface="Arial" pitchFamily="34" charset="-120"/>
              </a:rPr>
              <a:t>Common Ground Alliance (2020). DIRT Report 2019. · ASTM D6432-19. · PAS 128:2022.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Backup · Plan view: every target with its depth</a:t>
            </a:r>
            <a:endParaRPr lang="en-US" sz="2600" dirty="0"/>
          </a:p>
        </p:txBody>
      </p:sp>
      <p:pic>
        <p:nvPicPr>
          <p:cNvPr id="3" name="Image 0" descr="Plan view map of the water pipe and power cable with depth labels">    </p:cNvPr>
          <p:cNvPicPr>
            <a:picLocks noChangeAspect="1"/>
          </p:cNvPicPr>
          <p:nvPr/>
        </p:nvPicPr>
        <p:blipFill>
          <a:blip r:embed="rId1"/>
          <a:stretch>
            <a:fillRect/>
          </a:stretch>
        </p:blipFill>
        <p:spPr>
          <a:xfrm>
            <a:off x="548640" y="1463040"/>
            <a:ext cx="11064240" cy="429768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Backup · Depth slices (C-scan) of the 700 MHz data</a:t>
            </a:r>
            <a:endParaRPr lang="en-US" sz="2600" dirty="0"/>
          </a:p>
        </p:txBody>
      </p:sp>
      <p:pic>
        <p:nvPicPr>
          <p:cNvPr id="3" name="Image 0" descr="Horizontal depth slices of GPR amplitude">    </p:cNvPr>
          <p:cNvPicPr>
            <a:picLocks noChangeAspect="1"/>
          </p:cNvPicPr>
          <p:nvPr/>
        </p:nvPicPr>
        <p:blipFill>
          <a:blip r:embed="rId1"/>
          <a:stretch>
            <a:fillRect/>
          </a:stretch>
        </p:blipFill>
        <p:spPr>
          <a:xfrm>
            <a:off x="3291840" y="1325880"/>
            <a:ext cx="5605272" cy="480060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Backup · GPR sections over the cable: lines C1 and C3</a:t>
            </a:r>
            <a:endParaRPr lang="en-US" sz="2600" dirty="0"/>
          </a:p>
        </p:txBody>
      </p:sp>
      <p:pic>
        <p:nvPicPr>
          <p:cNvPr id="3" name="Image 0" descr="GPR sections over the cable: line C1 with anomaly P1 and anomalies O1–O3, line C3 with P1 and O5, line C1 after migration, apparent size of the target">    </p:cNvPr>
          <p:cNvPicPr>
            <a:picLocks noChangeAspect="1"/>
          </p:cNvPicPr>
          <p:nvPr/>
        </p:nvPicPr>
        <p:blipFill>
          <a:blip r:embed="rId1"/>
          <a:stretch>
            <a:fillRect/>
          </a:stretch>
        </p:blipFill>
        <p:spPr>
          <a:xfrm>
            <a:off x="1709928" y="1325880"/>
            <a:ext cx="8778240" cy="493776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241280" cy="685800"/>
          </a:xfrm>
          <a:prstGeom prst="rect">
            <a:avLst/>
          </a:prstGeom>
          <a:noFill/>
          <a:ln/>
        </p:spPr>
        <p:txBody>
          <a:bodyPr wrap="square" lIns="0" tIns="0" rIns="0" bIns="0" rtlCol="0" anchor="ctr"/>
          <a:lstStyle/>
          <a:p>
            <a:pPr algn="l" indent="0" marL="0">
              <a:buNone/>
            </a:pPr>
            <a:r>
              <a:rPr lang="en-US" sz="2600" b="1" dirty="0">
                <a:solidFill>
                  <a:srgbClr val="0B4A9E"/>
                </a:solidFill>
                <a:latin typeface="Arial" pitchFamily="34" charset="0"/>
                <a:ea typeface="Arial" pitchFamily="34" charset="-122"/>
                <a:cs typeface="Arial" pitchFamily="34" charset="-120"/>
              </a:rPr>
              <a:t>Backup · What migration does: line C1 before and after</a:t>
            </a:r>
            <a:endParaRPr lang="en-US" sz="2600" dirty="0"/>
          </a:p>
        </p:txBody>
      </p:sp>
      <p:pic>
        <p:nvPicPr>
          <p:cNvPr id="3" name="Image 0" descr="Line C1 before and after Kirchhoff migration with a zoom on the cable signal">    </p:cNvPr>
          <p:cNvPicPr>
            <a:picLocks noChangeAspect="1"/>
          </p:cNvPicPr>
          <p:nvPr/>
        </p:nvPicPr>
        <p:blipFill>
          <a:blip r:embed="rId1"/>
          <a:stretch>
            <a:fillRect/>
          </a:stretch>
        </p:blipFill>
        <p:spPr>
          <a:xfrm>
            <a:off x="1709928" y="1325880"/>
            <a:ext cx="8778240" cy="493776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36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GPR in Surveying Underground Cables and Utilities</dc:title>
  <dc:subject>PptxGenJS Presentation</dc:subject>
  <dc:creator>PptxGenJS</dc:creator>
  <cp:lastModifiedBy>PptxGenJS</cp:lastModifiedBy>
  <cp:revision>1</cp:revision>
  <dcterms:created xsi:type="dcterms:W3CDTF">2026-10-18T16:27:14Z</dcterms:created>
  <dcterms:modified xsi:type="dcterms:W3CDTF">2026-10-18T16:27:14Z</dcterms:modified>
</cp:coreProperties>
</file>