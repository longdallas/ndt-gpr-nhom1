
<file path=[Content_Types].xml><?xml version="1.0" encoding="utf-8"?>
<Types xmlns="http://schemas.openxmlformats.org/package/2006/content-types">
  <Default Extension="png" ContentType="image/png"/>
  <Default Extension="jpeg" ContentType="image/jpeg"/>
  <Default Extension="JPG" ContentType="image/.jpg"/>
  <Default Extension="gif" ContentType="image/gif"/>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1" r:id="rId18"/>
    <p:sldId id="272"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alk (10 min)" id="{26572706-7fe6-f8c9-86b0-9fdf9a44b156}">
          <p14:sldIdLst>
            <p14:sldId id="256"/>
            <p14:sldId id="257"/>
            <p14:sldId id="258"/>
            <p14:sldId id="259"/>
            <p14:sldId id="260"/>
            <p14:sldId id="261"/>
            <p14:sldId id="262"/>
            <p14:sldId id="263"/>
            <p14:sldId id="264"/>
            <p14:sldId id="265"/>
            <p14:sldId id="266"/>
            <p14:sldId id="267"/>
            <p14:sldId id="268"/>
          </p14:sldIdLst>
        </p14:section>
        <p14:section name="Backup" id="{56e3111e-870c-2b4c-7316-45b5ccaf3b80}">
          <p14:sldIdLst>
            <p14:sldId id="269"/>
            <p14:sldId id="271"/>
            <p14:sldId id="27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[0:00–1:00] [Black screen. Stand still, look at the audience, 2 seconds of silence.]
July 31st, 2014. Kaohsiung, Taiwan.
Late in the evening, people on the street begin to smell gas.
Firefighters arrive. They search for the leak — for almost three hours.
They cannot find it. [pause 1 s]
[CLICK 1] Just before midnight, the street explodes.
Thirty-two people dead. Three hundred and twenty-one injured.
The cause? A leaking pipe — buried right under their feet — that nobody could see.
[CLICK 2] And this is not rare. In the US alone, buried utilities are hit more than half a million times a year.
Here in Ho Chi Minh City, newspapers put it simply: dig up any street, and you hit a spider web.
[CLICK 3] Now look at this. Our own campus. We walk across it every day.
Under this asphalt there is a water pipe and a power cable — and no drawing of where they are.
If someone digs here tomorrow… where is it safe?
Today, we will answer that — without digging a single hole.
[One sentence: "We are Quốc Long, Quốc Tài, Thành Trung, Đăng Khoa and Đăng Quang — and this is GPR for underground utilities."]
CHECK BEFORE PRESENTING: confirm the timeline (~20:46 gas reports, explosions ~23:57) on Wikipedia "2014 Kaohsiung gas explosions".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[1:00–1:45] We are not the first. Abroad, the UK "Mapping the Underworld" project reviewed every locating method and concluded that no single sensor finds every utility — so radar and electromagnetic locators are used together. A 2018 review shows thirty years of GPR moving from simply locating objects to imaging and diagnosis.
In Vietnam, the Geophysics group at our own university has used the same radar — the IDS Detector Duo — to find water pipes and cables in Ho Chi Minh City, and to build 3D pictures from 2D lines.
What we add is small but complete: the whole chain, from scanning our own courtyard to a map of what is under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[1:45–3:00] We studied two physical ideas.
GPR works like the ultrasonic pulse-echo method from this course — only with radio waves. The antenna sends a short pulse; anything with different electrical properties — a pipe, a cable — sends part of it back. Depth is speed times the two-way time, divided by two.
As we push the antenna across a pipe, the echo arrives earliest right above it and later on both sides — so a small round object draws a hyperbola. Its top tells us where the pipe is and how deep.
The RD7000 works differently: an alternating current in a metal cable creates a magnetic field around it. The receiver coils see a maximum — the peak — or a zero — the null — right above the cable. But it only works for metal. A plastic water pipe is invisible to it — that is why we need GPR.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[3:00–4:15] This is how we did it, on the courtyard you saw.
We planned a grid, 10 metres by 3.5. GPR sees a pipe best when we cross it at a right angle. The cable runs across the road, so four lines go along the road — C1 to C4, one metre apart. The water pipe runs along the road, so five lines cross it — N1 to N5.
[point to the photos] We marked the lines with a tape, set up the IDS Detector Duo with its two antennas — 250 and 700 megahertz — pushed it along every line, and checked each radargram on the laptop before moving on.
Ten scans in total, including one repeat of N5 to check repeatability.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[4:15–5:00] Left: what the radar gives us on line N5 — strong horizontal bands hide almost everything.
Each processing step removes one problem: DC removal and dewow remove the slow drift; background removal deletes the bands that are the same on every trace; gain boosts the weak, deeper echoes.
Right: the water pipe now appears as a clear hyperbola. With v = 0.095 m/ns its top is about 0.4 m deep.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[5:00–5:45] Before trusting the field data, we built a simple model: soil with v = 0.095 m/ns, a metal cable and an air-filled PVC pipe, both 0.45 m deep, a 250 MHz pulse.
The model predicts two things. First, a hyperbola with its top at about 9.5 ns — and on the real lines C1 and N5 the measured hyperbolas follow the same curve, the dashed gold line.
Second, metal and plastic reflect with opposite polarity — metal reverses the wave, air in the PVC pipe does not. That is how we can tell them apart.
This is a ray model, not a full-wave simulation; a gprMax input file is prepared for that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[5:45–6:15] The raw evidence, as ReflexW shows it: distance on top, time on the left, depth on the right.
(a) Line C1 and (b) line C3: the red labels mark P1 — a strong hyperbola with a long ringing tail, typical of metal. The orange labels are other anomalies we do not claim.
(c) After Kirchhoff migration P1 on C1 collapses towards one point. (d) Its apparent size, about 31 by 14 cm, is limited by the ~10 cm resolution — not the real cable diameter.
But one hyperbola on one line is just a point. To get a cable, we need the same echo on neighbouring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[6:15–6:50] One hyperbola alone could be anything — a stone, a pocket of fill. So we look for the same echo on neighbouring lines.
[left, top to bottom] Lines C1 to C4 run parallel, one metre apart, drawn on the same position axis. On every line we find the same anomaly, P1 — a strong hyperbola with a long ringing tail, typical of metal.
[dashed line] The four tops sit in one column, at 2.5 m: the cable crosses the road straight, at a right angle. That is also what we saw on site — each time we hit the anomaly we marked the ground, and the marks lined up straight across the road.
[cards] Depth to the top is about 0.45 m on C2 to C4, and a little deeper on C1, 0.65 m.
(If asked: C2 and C4 were walked in the opposite direction. We flipped them, as the team did in ReflexW, and placed their start so that P1 sits on the cable we marked. C1 and C3, walked forward, already agree at 2.50 m on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[6:50–7:25] Same idea for the water pipe, on the lines across the road.
(a) N2: a clear hyperbola, A1, about 2.25 m along the line; its top is about 0.43 m deep, and the black curve fits it.
(b) N1: no clear hyperbola — only flat reflections from the pavement layers. We say so rather than guess.
(c) After migration this hyperbola does not focus well, so we do not claim a pipe size — (d) only zooms in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[7:25–7:45] (The video starts by itself – 19 s; the scanning part runs at 3× speed. Talk over it.)
This is our survey in 3D, built from the real data: the ground is our own top-view photo.
Watch the radar cart scan each line — sped up three times — every C line, then every N line. Under each line, its radargram appears.
At the end, the hyperbola tops are joined: the orange cable straight across the road, the blue water pipe along it.
(Live version for questions: open 02_SoDoTuyen_BanDo/ket_qua/Canh3D_HienTruong.html in a browser and click the pipe or cable.)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[7:45–8:30] So, what is under our feet? [the view turns around the site, the ground is see-through]
[orange] A power cable crosses the road at a right angle, about 0.45 m to its top — the same echo on all four lines, exactly where we marked it on site.
[blue] A water pipe runs along the road, about one metre from the edge by the benches, 0.43 to 0.59 m deep — seen on N2, N4 and N5.
[grey] Five other reflectors appear on one line only — so we do not claim what they are. The dashed parts are extensions — we did not measure there.
In Kaohsiung, nobody could see the pipe. Here, we can. If someone digs here tomorrow — now we know where NOT to dig.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[8:30–9:20] Three conclusions.
One: with nine lines on a small grid, GPR found a cable and a water pipe under asphalt — no digging. The key was finding the same echo on neighbouring lines.
Two: geometry matters — crossing the target at a right angle is what makes the hyperbola appear.
Three: the two antennas complement each other — 700 MHz is sharper, 250 MHz goes deeper.
Two honest limits. Our depths depend on the wave speed: our two-layer model and the migration velocity give depths about 20 % apart — so next time we calibrate with the RD7000 or one small test pit. And our line positions were paced by hand — for the lines walked backwards we had to rely on our marks on the ground; an odometer wheel or GPS would make the map more accurate.
More than a quarter of utility strikes start with a locating mistake. Locating well is exactly what GPR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[9:20–9:50] At the start we asked: what is under our feet? Now we know — a cable crossing the road and a water pipe along it, about half a metre down.
Thank you for listening. We are happy to take your questions.
(Backup slides follow: plan-view map, depth slices, migration on line C1, comparison of NDT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where exactly each point was measured, or about the dashed extensions.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use if asked what migration does: (a) filtered line C1 with the cable region boxed, (b) after Kirchhoff migration, (c) zoom on the signal of interest.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why GPR: it is the only method here that sees both metallic and plastic utilities without touching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A0A0B"/>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LUE">
    <p:bg>
      <p:bgPr>
        <a:solidFill>
          <a:srgbClr val="0B4A9E"/>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IGURE">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10058400" cy="731520"/>
          </a:xfrm>
          <a:prstGeom prst="rect">
            <a:avLst/>
          </a:prstGeom>
          <a:noFill/>
        </p:spPr>
        <p:txBody>
          <a:bodyPr wrap="square" rtlCol="0"/>
          <a:lstStyle>
            <a:lvl1pPr marL="0" indent="0" algn="l">
              <a:buNone/>
              <a:defRPr lang="en-US" sz="2800" b="1" dirty="0">
                <a:solidFill>
                  <a:srgbClr val="0B4A9E"/>
                </a:solidFill>
                <a:latin typeface="Arial" panose="020B0704020202020204" pitchFamily="34" charset="0"/>
                <a:ea typeface="Arial" panose="020B0704020202020204" pitchFamily="34" charset="-122"/>
                <a:cs typeface="Arial" panose="020B0704020202020204" pitchFamily="34" charset="-120"/>
              </a:defRPr>
            </a:lvl1pPr>
          </a:lstStyle>
          <a:p>
            <a:pPr marL="0" indent="0" algn="l">
              <a:buNone/>
            </a:pPr>
            <a:endParaRPr lang="en-US" sz="2800" dirty="0"/>
          </a:p>
        </p:txBody>
      </p:sp>
      <p:pic>
        <p:nvPicPr>
          <p:cNvPr id="3" name="Image 0" descr="/Users/leequoclong/Documents/Kỳ 1 - 26 27/Các Phương Pháp NDT/01_Slide/HinhAnh/Logo_HCMUS.png"/>
          <p:cNvPicPr>
            <a:picLocks noChangeAspect="1"/>
          </p:cNvPicPr>
          <p:nvPr/>
        </p:nvPicPr>
        <p:blipFill>
          <a:blip r:embed="rId2"/>
          <a:stretch>
            <a:fillRect/>
          </a:stretch>
        </p:blipFill>
        <p:spPr>
          <a:xfrm>
            <a:off x="11018520" y="301752"/>
            <a:ext cx="667512" cy="548640"/>
          </a:xfrm>
          <a:prstGeom prst="rect">
            <a:avLst/>
          </a:prstGeom>
        </p:spPr>
      </p:pic>
      <p:sp>
        <p:nvSpPr>
          <p:cNvPr id="4" name="Text 0"/>
          <p:cNvSpPr/>
          <p:nvPr/>
        </p:nvSpPr>
        <p:spPr>
          <a:xfrm>
            <a:off x="548640" y="6419088"/>
            <a:ext cx="6400800" cy="256032"/>
          </a:xfrm>
          <a:prstGeom prst="rect">
            <a:avLst/>
          </a:prstGeom>
          <a:noFill/>
        </p:spPr>
        <p:txBody>
          <a:bodyPr wrap="square" lIns="0" tIns="0" rIns="0" bIns="0" rtlCol="0" anchor="ctr"/>
          <a:lstStyle/>
          <a:p>
            <a:pPr marL="0" indent="0">
              <a:buNone/>
            </a:pPr>
            <a:r>
              <a:rPr lang="en-US" sz="1000" dirty="0">
                <a:solidFill>
                  <a:srgbClr val="5F6368"/>
                </a:solidFill>
                <a:latin typeface="Arial" panose="020B0704020202020204" pitchFamily="34" charset="0"/>
                <a:ea typeface="Arial" panose="020B0704020202020204" pitchFamily="34" charset="-122"/>
                <a:cs typeface="Arial" panose="020B0704020202020204" pitchFamily="34" charset="-120"/>
              </a:rPr>
              <a:t>GPR for underground cables and utilities · HCMUS</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p:spPr>
        <p:txBody>
          <a:bodyPr/>
          <a:lstStyle>
            <a:lvl1pPr>
              <a:defRPr sz="1000">
                <a:solidFill>
                  <a:srgbClr val="5F6368"/>
                </a:solidFill>
                <a:latin typeface="Arial" panose="020B0704020202020204"/>
                <a:ea typeface="Arial" panose="020B0704020202020204"/>
                <a:cs typeface="Arial" panose="020B0704020202020204"/>
              </a:defRPr>
            </a:lvl1pPr>
          </a:lstStyle>
          <a:p>
            <a:pPr algn="r"/>
            <a:fld id="{F7021451-1387-4CA6-816F-3879F97B5CBC}" type="slidenum">
              <a:rPr lang="en-US" b="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56032"/>
          </a:xfrm>
          <a:prstGeom prst="rect">
            <a:avLst/>
          </a:prstGeom>
        </p:spPr>
        <p:txBody>
          <a:bodyPr/>
          <a:lstStyle>
            <a:lvl1pPr>
              <a:defRPr sz="1000">
                <a:solidFill>
                  <a:srgbClr val="5F6368"/>
                </a:solidFill>
                <a:latin typeface="Arial" panose="020B0704020202020204"/>
                <a:ea typeface="Arial" panose="020B0704020202020204"/>
                <a:cs typeface="Arial" panose="020B0704020202020204"/>
              </a:defRPr>
            </a:lvl1pPr>
          </a:lstStyle>
          <a:p>
            <a:pPr algn="r"/>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5.xml"/><Relationship Id="rId2" Type="http://schemas.openxmlformats.org/officeDocument/2006/relationships/image" Target="../media/image8.png"/><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5.xml"/><Relationship Id="rId5" Type="http://schemas.openxmlformats.org/officeDocument/2006/relationships/image" Target="../media/image13.jpeg"/><Relationship Id="rId4" Type="http://schemas.openxmlformats.org/officeDocument/2006/relationships/image" Target="../media/image12.jpeg"/><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image" Target="../media/image9.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image" Target="../media/image16.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5.xml"/><Relationship Id="rId2" Type="http://schemas.openxmlformats.org/officeDocument/2006/relationships/image" Target="../media/image18.png"/><Relationship Id="rId1"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image" Target="../media/image19.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4.xml"/><Relationship Id="rId3" Type="http://schemas.openxmlformats.org/officeDocument/2006/relationships/image" Target="../media/image20.jpeg"/><Relationship Id="rId2" Type="http://schemas.microsoft.com/office/2007/relationships/media" Target="../media/media1.mp4"/><Relationship Id="rId1" Type="http://schemas.openxmlformats.org/officeDocument/2006/relationships/video" Target="../media/media1.mp4"/></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image" Target="../media/image21.GI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3.xml"/><Relationship Id="rId3" Type="http://schemas.openxmlformats.org/officeDocument/2006/relationships/image" Target="../media/image23.jpeg"/><Relationship Id="rId2" Type="http://schemas.openxmlformats.org/officeDocument/2006/relationships/image" Target="../media/image6.png"/><Relationship Id="rId1" Type="http://schemas.openxmlformats.org/officeDocument/2006/relationships/image" Target="../media/image22.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image" Target="../media/image2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0_date"/>
          <p:cNvSpPr txBox="1"/>
          <p:nvPr/>
        </p:nvSpPr>
        <p:spPr>
          <a:xfrm>
            <a:off x="822960" y="2331720"/>
            <a:ext cx="10515600" cy="1097280"/>
          </a:xfrm>
          <a:prstGeom prst="rect">
            <a:avLst/>
          </a:prstGeom>
          <a:noFill/>
        </p:spPr>
        <p:txBody>
          <a:bodyPr wrap="square" lIns="0" tIns="0" rIns="0" bIns="0" rtlCol="0" anchor="t"/>
          <a:lstStyle/>
          <a:p>
            <a:pPr marL="0" indent="0">
              <a:buNone/>
            </a:pPr>
            <a:r>
              <a:rPr lang="en-US" sz="6600" b="1" kern="0" spc="600" dirty="0">
                <a:solidFill>
                  <a:srgbClr val="F4F1EC"/>
                </a:solidFill>
                <a:latin typeface="Arial" panose="020B0704020202020204" pitchFamily="34" charset="0"/>
                <a:ea typeface="Arial" panose="020B0704020202020204" pitchFamily="34" charset="-122"/>
                <a:cs typeface="Arial" panose="020B0704020202020204" pitchFamily="34" charset="-120"/>
              </a:rPr>
              <a:t>31 JULY 2014</a:t>
            </a:r>
            <a:endParaRPr lang="en-US" sz="6600" dirty="0"/>
          </a:p>
        </p:txBody>
      </p:sp>
      <p:sp>
        <p:nvSpPr>
          <p:cNvPr id="3" name="L0_place"/>
          <p:cNvSpPr txBox="1"/>
          <p:nvPr/>
        </p:nvSpPr>
        <p:spPr>
          <a:xfrm>
            <a:off x="822960" y="3474720"/>
            <a:ext cx="10515600" cy="640080"/>
          </a:xfrm>
          <a:prstGeom prst="rect">
            <a:avLst/>
          </a:prstGeom>
          <a:noFill/>
        </p:spPr>
        <p:txBody>
          <a:bodyPr wrap="square" lIns="0" tIns="0" rIns="0" bIns="0" rtlCol="0" anchor="t"/>
          <a:lstStyle/>
          <a:p>
            <a:pPr marL="0" indent="0">
              <a:buNone/>
            </a:pPr>
            <a:r>
              <a:rPr lang="en-US" sz="2800" dirty="0">
                <a:solidFill>
                  <a:srgbClr val="9A9A9A"/>
                </a:solidFill>
                <a:latin typeface="Arial" panose="020B0704020202020204" pitchFamily="34" charset="0"/>
                <a:ea typeface="Arial" panose="020B0704020202020204" pitchFamily="34" charset="-122"/>
                <a:cs typeface="Arial" panose="020B0704020202020204" pitchFamily="34" charset="-120"/>
              </a:rPr>
              <a:t>Kaohsiung, Taiwan</a:t>
            </a:r>
            <a:endParaRPr lang="en-US" sz="2800" dirty="0"/>
          </a:p>
        </p:txBody>
      </p:sp>
      <p:pic>
        <p:nvPicPr>
          <p:cNvPr id="4" name="L1_photo" descr="Sanduo 1st Road in Kaohsiung torn open after the 2014 gas explosions, with exposed pipes"/>
          <p:cNvPicPr>
            <a:picLocks noChangeAspect="1"/>
          </p:cNvPicPr>
          <p:nvPr/>
        </p:nvPicPr>
        <p:blipFill>
          <a:blip r:embed="rId1"/>
          <a:stretch>
            <a:fillRect/>
          </a:stretch>
        </p:blipFill>
        <p:spPr>
          <a:xfrm>
            <a:off x="0" y="0"/>
            <a:ext cx="12191695" cy="6858000"/>
          </a:xfrm>
          <a:prstGeom prst="rect">
            <a:avLst/>
          </a:prstGeom>
        </p:spPr>
      </p:pic>
      <p:pic>
        <p:nvPicPr>
          <p:cNvPr id="5" name="L1_shade" descr="/Users/leequoclong/Documents/Kỳ 1 - 26 27/Các Phương Pháp NDT/01_Slide/_build/grad_left.png"/>
          <p:cNvPicPr>
            <a:picLocks noChangeAspect="1"/>
          </p:cNvPicPr>
          <p:nvPr/>
        </p:nvPicPr>
        <p:blipFill>
          <a:blip r:embed="rId2"/>
          <a:stretch>
            <a:fillRect/>
          </a:stretch>
        </p:blipFill>
        <p:spPr>
          <a:xfrm>
            <a:off x="0" y="0"/>
            <a:ext cx="12191695" cy="6858000"/>
          </a:xfrm>
          <a:prstGeom prst="rect">
            <a:avLst/>
          </a:prstGeom>
        </p:spPr>
      </p:pic>
      <p:sp>
        <p:nvSpPr>
          <p:cNvPr id="6" name="L1_dead"/>
          <p:cNvSpPr txBox="1"/>
          <p:nvPr/>
        </p:nvSpPr>
        <p:spPr>
          <a:xfrm>
            <a:off x="731520" y="1554480"/>
            <a:ext cx="5943600" cy="1371600"/>
          </a:xfrm>
          <a:prstGeom prst="rect">
            <a:avLst/>
          </a:prstGeom>
          <a:noFill/>
        </p:spPr>
        <p:txBody>
          <a:bodyPr wrap="square" lIns="0" tIns="0" rIns="0" bIns="0" rtlCol="0" anchor="t"/>
          <a:lstStyle/>
          <a:p>
            <a:pPr marL="0" indent="0">
              <a:buNone/>
            </a:pPr>
            <a:r>
              <a:rPr lang="en-US" sz="9600" b="1" dirty="0">
                <a:solidFill>
                  <a:srgbClr val="E5482D"/>
                </a:solidFill>
                <a:latin typeface="Arial" panose="020B0704020202020204" pitchFamily="34" charset="0"/>
                <a:ea typeface="Arial" panose="020B0704020202020204" pitchFamily="34" charset="-122"/>
                <a:cs typeface="Arial" panose="020B0704020202020204" pitchFamily="34" charset="-120"/>
              </a:rPr>
              <a:t>32 dead</a:t>
            </a:r>
            <a:endParaRPr lang="en-US" sz="9600" dirty="0"/>
          </a:p>
        </p:txBody>
      </p:sp>
      <p:sp>
        <p:nvSpPr>
          <p:cNvPr id="7" name="L1_injured"/>
          <p:cNvSpPr txBox="1"/>
          <p:nvPr/>
        </p:nvSpPr>
        <p:spPr>
          <a:xfrm>
            <a:off x="731520" y="2971800"/>
            <a:ext cx="5943600" cy="822960"/>
          </a:xfrm>
          <a:prstGeom prst="rect">
            <a:avLst/>
          </a:prstGeom>
          <a:noFill/>
        </p:spPr>
        <p:txBody>
          <a:bodyPr wrap="square" lIns="0" tIns="0" rIns="0" bIns="0" rtlCol="0" anchor="t"/>
          <a:lstStyle/>
          <a:p>
            <a:pPr marL="0" indent="0">
              <a:buNone/>
            </a:pPr>
            <a:r>
              <a:rPr lang="en-US" sz="4400" b="1" dirty="0">
                <a:solidFill>
                  <a:srgbClr val="F4F1EC"/>
                </a:solidFill>
                <a:latin typeface="Arial" panose="020B0704020202020204" pitchFamily="34" charset="0"/>
                <a:ea typeface="Arial" panose="020B0704020202020204" pitchFamily="34" charset="-122"/>
                <a:cs typeface="Arial" panose="020B0704020202020204" pitchFamily="34" charset="-120"/>
              </a:rPr>
              <a:t>321 injured</a:t>
            </a:r>
            <a:endParaRPr lang="en-US" sz="4400" dirty="0"/>
          </a:p>
        </p:txBody>
      </p:sp>
      <p:sp>
        <p:nvSpPr>
          <p:cNvPr id="8" name="L1_cause"/>
          <p:cNvSpPr txBox="1"/>
          <p:nvPr/>
        </p:nvSpPr>
        <p:spPr>
          <a:xfrm>
            <a:off x="731520" y="4069080"/>
            <a:ext cx="5486400" cy="914400"/>
          </a:xfrm>
          <a:prstGeom prst="rect">
            <a:avLst/>
          </a:prstGeom>
          <a:noFill/>
        </p:spPr>
        <p:txBody>
          <a:bodyPr wrap="square" lIns="0" tIns="0" rIns="0" bIns="0" rtlCol="0" anchor="t"/>
          <a:lstStyle/>
          <a:p>
            <a:pPr marL="0" indent="0">
              <a:buNone/>
            </a:pPr>
            <a:r>
              <a:rPr lang="en-US" sz="2200" i="1" dirty="0">
                <a:solidFill>
                  <a:srgbClr val="F4F1EC"/>
                </a:solidFill>
                <a:latin typeface="Arial" panose="020B0704020202020204" pitchFamily="34" charset="0"/>
                <a:ea typeface="Arial" panose="020B0704020202020204" pitchFamily="34" charset="-122"/>
                <a:cs typeface="Arial" panose="020B0704020202020204" pitchFamily="34" charset="-120"/>
              </a:rPr>
              <a:t>A leaking pipe under the street.</a:t>
            </a:r>
            <a:endParaRPr lang="en-US" sz="2200" dirty="0"/>
          </a:p>
          <a:p>
            <a:pPr marL="0" indent="0">
              <a:buNone/>
            </a:pPr>
            <a:r>
              <a:rPr lang="en-US" sz="2200" i="1" dirty="0">
                <a:solidFill>
                  <a:srgbClr val="F4F1EC"/>
                </a:solidFill>
                <a:latin typeface="Arial" panose="020B0704020202020204" pitchFamily="34" charset="0"/>
                <a:ea typeface="Arial" panose="020B0704020202020204" pitchFamily="34" charset="-122"/>
                <a:cs typeface="Arial" panose="020B0704020202020204" pitchFamily="34" charset="-120"/>
              </a:rPr>
              <a:t>Nobody could see it.</a:t>
            </a:r>
            <a:endParaRPr lang="en-US" sz="2200" dirty="0"/>
          </a:p>
        </p:txBody>
      </p:sp>
      <p:sp>
        <p:nvSpPr>
          <p:cNvPr id="9" name="L1_credit"/>
          <p:cNvSpPr txBox="1"/>
          <p:nvPr/>
        </p:nvSpPr>
        <p:spPr>
          <a:xfrm>
            <a:off x="5303520" y="6446520"/>
            <a:ext cx="6583680" cy="274320"/>
          </a:xfrm>
          <a:prstGeom prst="rect">
            <a:avLst/>
          </a:prstGeom>
          <a:noFill/>
        </p:spPr>
        <p:txBody>
          <a:bodyPr wrap="square" lIns="0" tIns="0" rIns="0" bIns="0" rtlCol="0" anchor="t"/>
          <a:lstStyle/>
          <a:p>
            <a:pPr marL="0" indent="0" algn="r">
              <a:buNone/>
            </a:pPr>
            <a:r>
              <a:rPr lang="en-US" sz="1000" dirty="0">
                <a:solidFill>
                  <a:srgbClr val="D0D0D0"/>
                </a:solidFill>
                <a:latin typeface="Arial" panose="020B0704020202020204" pitchFamily="34" charset="0"/>
                <a:ea typeface="Arial" panose="020B0704020202020204" pitchFamily="34" charset="-122"/>
                <a:cs typeface="Arial" panose="020B0704020202020204" pitchFamily="34" charset="-120"/>
              </a:rPr>
              <a:t>Sanduo 1st Rd, Kaohsiung, 11 Aug 2014 · Photo: </a:t>
            </a:r>
            <a:r>
              <a:rPr lang="en-US" sz="1000" dirty="0">
                <a:solidFill>
                  <a:srgbClr val="D0D0D0"/>
                </a:solidFill>
                <a:latin typeface="PingFang TC" pitchFamily="34" charset="0"/>
                <a:ea typeface="PingFang TC" pitchFamily="34" charset="-122"/>
                <a:cs typeface="PingFang TC" pitchFamily="34" charset="-120"/>
              </a:rPr>
              <a:t>玄史生</a:t>
            </a:r>
            <a:r>
              <a:rPr lang="en-US" sz="1000" dirty="0">
                <a:solidFill>
                  <a:srgbClr val="D0D0D0"/>
                </a:solidFill>
                <a:latin typeface="Arial" panose="020B0704020202020204" pitchFamily="34" charset="0"/>
                <a:ea typeface="Arial" panose="020B0704020202020204" pitchFamily="34" charset="-122"/>
                <a:cs typeface="Arial" panose="020B0704020202020204" pitchFamily="34" charset="-120"/>
              </a:rPr>
              <a:t> / Wikimedia Commons · CC BY-SA 4.0</a:t>
            </a:r>
            <a:endParaRPr lang="en-US" sz="1000" dirty="0"/>
          </a:p>
        </p:txBody>
      </p:sp>
      <p:sp>
        <p:nvSpPr>
          <p:cNvPr id="10" name="L2_bg"/>
          <p:cNvSpPr/>
          <p:nvPr/>
        </p:nvSpPr>
        <p:spPr>
          <a:xfrm>
            <a:off x="0" y="0"/>
            <a:ext cx="12191695" cy="6858000"/>
          </a:xfrm>
          <a:prstGeom prst="rect">
            <a:avLst/>
          </a:prstGeom>
          <a:solidFill>
            <a:srgbClr val="0A0A0B"/>
          </a:solidFill>
          <a:ln w="12700">
            <a:solidFill>
              <a:srgbClr val="0A0A0B"/>
            </a:solidFill>
            <a:prstDash val="solid"/>
          </a:ln>
        </p:spPr>
      </p:sp>
      <p:sp>
        <p:nvSpPr>
          <p:cNvPr id="11" name="L2_lead"/>
          <p:cNvSpPr txBox="1"/>
          <p:nvPr/>
        </p:nvSpPr>
        <p:spPr>
          <a:xfrm>
            <a:off x="822960" y="685800"/>
            <a:ext cx="10515600" cy="457200"/>
          </a:xfrm>
          <a:prstGeom prst="rect">
            <a:avLst/>
          </a:prstGeom>
          <a:noFill/>
        </p:spPr>
        <p:txBody>
          <a:bodyPr wrap="square" lIns="0" tIns="0" rIns="0" bIns="0" rtlCol="0" anchor="t"/>
          <a:lstStyle/>
          <a:p>
            <a:pPr marL="0" indent="0">
              <a:buNone/>
            </a:pPr>
            <a:r>
              <a:rPr lang="en-US" sz="2200" dirty="0">
                <a:solidFill>
                  <a:srgbClr val="9A9A9A"/>
                </a:solidFill>
                <a:latin typeface="Arial" panose="020B0704020202020204" pitchFamily="34" charset="0"/>
                <a:ea typeface="Arial" panose="020B0704020202020204" pitchFamily="34" charset="-122"/>
                <a:cs typeface="Arial" panose="020B0704020202020204" pitchFamily="34" charset="-120"/>
              </a:rPr>
              <a:t>And this is not rare.</a:t>
            </a:r>
            <a:endParaRPr lang="en-US" sz="2200" dirty="0"/>
          </a:p>
        </p:txBody>
      </p:sp>
      <p:sp>
        <p:nvSpPr>
          <p:cNvPr id="12" name="L2_n1"/>
          <p:cNvSpPr txBox="1"/>
          <p:nvPr/>
        </p:nvSpPr>
        <p:spPr>
          <a:xfrm>
            <a:off x="822960" y="1325880"/>
            <a:ext cx="5486400" cy="1280160"/>
          </a:xfrm>
          <a:prstGeom prst="rect">
            <a:avLst/>
          </a:prstGeom>
          <a:noFill/>
        </p:spPr>
        <p:txBody>
          <a:bodyPr wrap="square" lIns="0" tIns="0" rIns="0" bIns="0" rtlCol="0" anchor="t"/>
          <a:lstStyle/>
          <a:p>
            <a:pPr marL="0" indent="0">
              <a:buNone/>
            </a:pPr>
            <a:r>
              <a:rPr lang="en-US" sz="8000" b="1" dirty="0">
                <a:solidFill>
                  <a:srgbClr val="F4F1EC"/>
                </a:solidFill>
                <a:latin typeface="Arial" panose="020B0704020202020204" pitchFamily="34" charset="0"/>
                <a:ea typeface="Arial" panose="020B0704020202020204" pitchFamily="34" charset="-122"/>
                <a:cs typeface="Arial" panose="020B0704020202020204" pitchFamily="34" charset="-120"/>
              </a:rPr>
              <a:t>500,000+</a:t>
            </a:r>
            <a:endParaRPr lang="en-US" sz="8000" dirty="0"/>
          </a:p>
        </p:txBody>
      </p:sp>
      <p:sp>
        <p:nvSpPr>
          <p:cNvPr id="13" name="L2_n1lab"/>
          <p:cNvSpPr txBox="1"/>
          <p:nvPr/>
        </p:nvSpPr>
        <p:spPr>
          <a:xfrm>
            <a:off x="822960" y="2651760"/>
            <a:ext cx="5120640" cy="731520"/>
          </a:xfrm>
          <a:prstGeom prst="rect">
            <a:avLst/>
          </a:prstGeom>
          <a:noFill/>
        </p:spPr>
        <p:txBody>
          <a:bodyPr wrap="square" lIns="0" tIns="0" rIns="0" bIns="0" rtlCol="0" anchor="t"/>
          <a:lstStyle/>
          <a:p>
            <a:pPr marL="0" indent="0">
              <a:buNone/>
            </a:pPr>
            <a:r>
              <a:rPr lang="en-US" sz="1800" dirty="0">
                <a:solidFill>
                  <a:srgbClr val="9A9A9A"/>
                </a:solidFill>
                <a:latin typeface="Arial" panose="020B0704020202020204" pitchFamily="34" charset="0"/>
                <a:ea typeface="Arial" panose="020B0704020202020204" pitchFamily="34" charset="-122"/>
                <a:cs typeface="Arial" panose="020B0704020202020204" pitchFamily="34" charset="-120"/>
              </a:rPr>
              <a:t>buried utilities hit by digging each year (US)</a:t>
            </a:r>
            <a:endParaRPr lang="en-US" sz="1800" dirty="0"/>
          </a:p>
        </p:txBody>
      </p:sp>
      <p:sp>
        <p:nvSpPr>
          <p:cNvPr id="14" name="L2_n2"/>
          <p:cNvSpPr txBox="1"/>
          <p:nvPr/>
        </p:nvSpPr>
        <p:spPr>
          <a:xfrm>
            <a:off x="6675120" y="1325880"/>
            <a:ext cx="4754880" cy="1280160"/>
          </a:xfrm>
          <a:prstGeom prst="rect">
            <a:avLst/>
          </a:prstGeom>
          <a:noFill/>
        </p:spPr>
        <p:txBody>
          <a:bodyPr wrap="square" lIns="0" tIns="0" rIns="0" bIns="0" rtlCol="0" anchor="t"/>
          <a:lstStyle/>
          <a:p>
            <a:pPr marL="0" indent="0">
              <a:buNone/>
            </a:pPr>
            <a:r>
              <a:rPr lang="en-US" sz="8000" b="1" dirty="0">
                <a:solidFill>
                  <a:srgbClr val="F2C94C"/>
                </a:solidFill>
                <a:latin typeface="Arial" panose="020B0704020202020204" pitchFamily="34" charset="0"/>
                <a:ea typeface="Arial" panose="020B0704020202020204" pitchFamily="34" charset="-122"/>
                <a:cs typeface="Arial" panose="020B0704020202020204" pitchFamily="34" charset="-120"/>
              </a:rPr>
              <a:t>$30B</a:t>
            </a:r>
            <a:endParaRPr lang="en-US" sz="8000" dirty="0"/>
          </a:p>
        </p:txBody>
      </p:sp>
      <p:sp>
        <p:nvSpPr>
          <p:cNvPr id="15" name="L2_n2lab"/>
          <p:cNvSpPr txBox="1"/>
          <p:nvPr/>
        </p:nvSpPr>
        <p:spPr>
          <a:xfrm>
            <a:off x="6675120" y="2651760"/>
            <a:ext cx="4754880" cy="731520"/>
          </a:xfrm>
          <a:prstGeom prst="rect">
            <a:avLst/>
          </a:prstGeom>
          <a:noFill/>
        </p:spPr>
        <p:txBody>
          <a:bodyPr wrap="square" lIns="0" tIns="0" rIns="0" bIns="0" rtlCol="0" anchor="t"/>
          <a:lstStyle/>
          <a:p>
            <a:pPr marL="0" indent="0">
              <a:buNone/>
            </a:pPr>
            <a:r>
              <a:rPr lang="en-US" sz="1800" dirty="0">
                <a:solidFill>
                  <a:srgbClr val="9A9A9A"/>
                </a:solidFill>
                <a:latin typeface="Arial" panose="020B0704020202020204" pitchFamily="34" charset="0"/>
                <a:ea typeface="Arial" panose="020B0704020202020204" pitchFamily="34" charset="-122"/>
                <a:cs typeface="Arial" panose="020B0704020202020204" pitchFamily="34" charset="-120"/>
              </a:rPr>
              <a:t>in damage, every year</a:t>
            </a:r>
            <a:endParaRPr lang="en-US" sz="1800" dirty="0"/>
          </a:p>
        </p:txBody>
      </p:sp>
      <p:sp>
        <p:nvSpPr>
          <p:cNvPr id="16" name="L2_quote"/>
          <p:cNvSpPr txBox="1"/>
          <p:nvPr/>
        </p:nvSpPr>
        <p:spPr>
          <a:xfrm>
            <a:off x="822960" y="3977640"/>
            <a:ext cx="10607040" cy="822960"/>
          </a:xfrm>
          <a:prstGeom prst="rect">
            <a:avLst/>
          </a:prstGeom>
          <a:noFill/>
        </p:spPr>
        <p:txBody>
          <a:bodyPr wrap="square" lIns="0" tIns="0" rIns="0" bIns="0" rtlCol="0" anchor="t"/>
          <a:lstStyle/>
          <a:p>
            <a:pPr marL="0" indent="0">
              <a:buNone/>
            </a:pPr>
            <a:r>
              <a:rPr lang="en-US" sz="3400" i="1" dirty="0">
                <a:solidFill>
                  <a:srgbClr val="F4F1EC"/>
                </a:solidFill>
                <a:latin typeface="Arial" panose="020B0704020202020204" pitchFamily="34" charset="0"/>
                <a:ea typeface="Arial" panose="020B0704020202020204" pitchFamily="34" charset="-122"/>
                <a:cs typeface="Arial" panose="020B0704020202020204" pitchFamily="34" charset="-120"/>
              </a:rPr>
              <a:t>“Dig up any street, and you hit a spider web.”</a:t>
            </a:r>
            <a:endParaRPr lang="en-US" sz="3400" dirty="0"/>
          </a:p>
        </p:txBody>
      </p:sp>
      <p:sp>
        <p:nvSpPr>
          <p:cNvPr id="17" name="L2_quoteby"/>
          <p:cNvSpPr txBox="1"/>
          <p:nvPr/>
        </p:nvSpPr>
        <p:spPr>
          <a:xfrm>
            <a:off x="822960" y="4846320"/>
            <a:ext cx="10607040" cy="457200"/>
          </a:xfrm>
          <a:prstGeom prst="rect">
            <a:avLst/>
          </a:prstGeom>
          <a:noFill/>
        </p:spPr>
        <p:txBody>
          <a:bodyPr wrap="square" lIns="0" tIns="0" rIns="0" bIns="0" rtlCol="0" anchor="t"/>
          <a:lstStyle/>
          <a:p>
            <a:pPr marL="0" indent="0">
              <a:buNone/>
            </a:pPr>
            <a:r>
              <a:rPr lang="en-US" sz="1600" dirty="0">
                <a:solidFill>
                  <a:srgbClr val="9A9A9A"/>
                </a:solidFill>
                <a:latin typeface="Arial" panose="020B0704020202020204" pitchFamily="34" charset="0"/>
                <a:ea typeface="Arial" panose="020B0704020202020204" pitchFamily="34" charset="-122"/>
                <a:cs typeface="Arial" panose="020B0704020202020204" pitchFamily="34" charset="-120"/>
              </a:rPr>
              <a:t>— headline, Người Lao Động newspaper, Ho Chi Minh City (translated)</a:t>
            </a:r>
            <a:endParaRPr lang="en-US" sz="1600" dirty="0"/>
          </a:p>
        </p:txBody>
      </p:sp>
      <p:sp>
        <p:nvSpPr>
          <p:cNvPr id="18" name="L2_src"/>
          <p:cNvSpPr txBox="1"/>
          <p:nvPr/>
        </p:nvSpPr>
        <p:spPr>
          <a:xfrm>
            <a:off x="822960" y="6355080"/>
            <a:ext cx="10607040" cy="274320"/>
          </a:xfrm>
          <a:prstGeom prst="rect">
            <a:avLst/>
          </a:prstGeom>
          <a:noFill/>
        </p:spPr>
        <p:txBody>
          <a:bodyPr wrap="square" lIns="0" tIns="0" rIns="0" bIns="0" rtlCol="0" anchor="t"/>
          <a:lstStyle/>
          <a:p>
            <a:pPr marL="0" indent="0">
              <a:buNone/>
            </a:pPr>
            <a:r>
              <a:rPr lang="en-US" sz="1000" dirty="0">
                <a:solidFill>
                  <a:srgbClr val="6E6E6E"/>
                </a:solidFill>
                <a:latin typeface="Arial" panose="020B0704020202020204" pitchFamily="34" charset="0"/>
                <a:ea typeface="Arial" panose="020B0704020202020204" pitchFamily="34" charset="-122"/>
                <a:cs typeface="Arial" panose="020B0704020202020204" pitchFamily="34" charset="-120"/>
              </a:rPr>
              <a:t>Sources: Common Ground Alliance, DIRT Report 2019 · nld.com.vn</a:t>
            </a:r>
            <a:endParaRPr lang="en-US" sz="1000" dirty="0"/>
          </a:p>
        </p:txBody>
      </p:sp>
      <p:pic>
        <p:nvPicPr>
          <p:cNvPr id="19" name="L3_photo" descr="Asphalt courtyard and stone benches on the HCMUS campus"/>
          <p:cNvPicPr>
            <a:picLocks noChangeAspect="1"/>
          </p:cNvPicPr>
          <p:nvPr/>
        </p:nvPicPr>
        <p:blipFill>
          <a:blip r:embed="rId3"/>
          <a:stretch>
            <a:fillRect/>
          </a:stretch>
        </p:blipFill>
        <p:spPr>
          <a:xfrm>
            <a:off x="0" y="0"/>
            <a:ext cx="12191695" cy="6858000"/>
          </a:xfrm>
          <a:prstGeom prst="rect">
            <a:avLst/>
          </a:prstGeom>
        </p:spPr>
      </p:pic>
      <p:pic>
        <p:nvPicPr>
          <p:cNvPr id="20" name="L3_shade" descr="/Users/leequoclong/Documents/Kỳ 1 - 26 27/Các Phương Pháp NDT/01_Slide/_build/grad_bottom.png"/>
          <p:cNvPicPr>
            <a:picLocks noChangeAspect="1"/>
          </p:cNvPicPr>
          <p:nvPr/>
        </p:nvPicPr>
        <p:blipFill>
          <a:blip r:embed="rId4"/>
          <a:stretch>
            <a:fillRect/>
          </a:stretch>
        </p:blipFill>
        <p:spPr>
          <a:xfrm>
            <a:off x="0" y="0"/>
            <a:ext cx="12191695" cy="6858000"/>
          </a:xfrm>
          <a:prstGeom prst="rect">
            <a:avLst/>
          </a:prstGeom>
        </p:spPr>
      </p:pic>
      <p:sp>
        <p:nvSpPr>
          <p:cNvPr id="21" name="L3_tag"/>
          <p:cNvSpPr txBox="1"/>
          <p:nvPr/>
        </p:nvSpPr>
        <p:spPr>
          <a:xfrm>
            <a:off x="731520" y="457200"/>
            <a:ext cx="3383280" cy="411480"/>
          </a:xfrm>
          <a:prstGeom prst="roundRect">
            <a:avLst>
              <a:gd name="adj" fmla="val 22222"/>
            </a:avLst>
          </a:prstGeom>
          <a:solidFill>
            <a:srgbClr val="000000">
              <a:alpha val="65000"/>
            </a:srgbClr>
          </a:solidFill>
        </p:spPr>
        <p:txBody>
          <a:bodyPr wrap="square" lIns="0" tIns="0" rIns="0" bIns="0" rtlCol="0" anchor="ctr"/>
          <a:lstStyle/>
          <a:p>
            <a:pPr marL="0" indent="0" algn="ctr">
              <a:buNone/>
            </a:pPr>
            <a:r>
              <a:rPr lang="en-US" sz="1400" dirty="0">
                <a:solidFill>
                  <a:srgbClr val="FFFFFF"/>
                </a:solidFill>
                <a:latin typeface="Arial" panose="020B0704020202020204" pitchFamily="34" charset="0"/>
                <a:ea typeface="Arial" panose="020B0704020202020204" pitchFamily="34" charset="-122"/>
                <a:cs typeface="Arial" panose="020B0704020202020204" pitchFamily="34" charset="-120"/>
              </a:rPr>
              <a:t>This courtyard · HCMUS campus</a:t>
            </a:r>
            <a:endParaRPr lang="en-US" sz="1400" dirty="0"/>
          </a:p>
        </p:txBody>
      </p:sp>
      <p:pic>
        <p:nvPicPr>
          <p:cNvPr id="22" name="L3_logo" descr="HCMUS logo"/>
          <p:cNvPicPr>
            <a:picLocks noChangeAspect="1"/>
          </p:cNvPicPr>
          <p:nvPr/>
        </p:nvPicPr>
        <p:blipFill>
          <a:blip r:embed="rId5"/>
          <a:stretch>
            <a:fillRect/>
          </a:stretch>
        </p:blipFill>
        <p:spPr>
          <a:xfrm>
            <a:off x="10744200" y="365760"/>
            <a:ext cx="914400" cy="749808"/>
          </a:xfrm>
          <a:prstGeom prst="rect">
            <a:avLst/>
          </a:prstGeom>
        </p:spPr>
      </p:pic>
      <p:sp>
        <p:nvSpPr>
          <p:cNvPr id="23" name="L3_q"/>
          <p:cNvSpPr txBox="1"/>
          <p:nvPr/>
        </p:nvSpPr>
        <p:spPr>
          <a:xfrm>
            <a:off x="731520" y="3611880"/>
            <a:ext cx="10789920" cy="1005840"/>
          </a:xfrm>
          <a:prstGeom prst="rect">
            <a:avLst/>
          </a:prstGeom>
          <a:noFill/>
        </p:spPr>
        <p:txBody>
          <a:bodyPr wrap="square" lIns="0" tIns="0" rIns="0" bIns="0" rtlCol="0" anchor="t"/>
          <a:lstStyle/>
          <a:p>
            <a:pPr marL="0" indent="0">
              <a:buNone/>
            </a:pPr>
            <a:r>
              <a:rPr lang="en-US" sz="5800" b="1" dirty="0">
                <a:solidFill>
                  <a:srgbClr val="FFFFFF"/>
                </a:solidFill>
                <a:latin typeface="Arial" panose="020B0704020202020204" pitchFamily="34" charset="0"/>
                <a:ea typeface="Arial" panose="020B0704020202020204" pitchFamily="34" charset="-122"/>
                <a:cs typeface="Arial" panose="020B0704020202020204" pitchFamily="34" charset="-120"/>
              </a:rPr>
              <a:t>What is under our feet?</a:t>
            </a:r>
            <a:endParaRPr lang="en-US" sz="5800" dirty="0"/>
          </a:p>
        </p:txBody>
      </p:sp>
      <p:sp>
        <p:nvSpPr>
          <p:cNvPr id="24" name="L3_title"/>
          <p:cNvSpPr txBox="1"/>
          <p:nvPr/>
        </p:nvSpPr>
        <p:spPr>
          <a:xfrm>
            <a:off x="731520" y="4709160"/>
            <a:ext cx="10789920" cy="457200"/>
          </a:xfrm>
          <a:prstGeom prst="rect">
            <a:avLst/>
          </a:prstGeom>
          <a:noFill/>
        </p:spPr>
        <p:txBody>
          <a:bodyPr wrap="square" lIns="0" tIns="0" rIns="0" bIns="0" rtlCol="0" anchor="t"/>
          <a:lstStyle/>
          <a:p>
            <a:pPr marL="0" indent="0">
              <a:buNone/>
            </a:pPr>
            <a:r>
              <a:rPr lang="en-US" sz="2400" b="1" dirty="0">
                <a:solidFill>
                  <a:srgbClr val="F2C94C"/>
                </a:solidFill>
                <a:latin typeface="Arial" panose="020B0704020202020204" pitchFamily="34" charset="0"/>
                <a:ea typeface="Arial" panose="020B0704020202020204" pitchFamily="34" charset="-122"/>
                <a:cs typeface="Arial" panose="020B0704020202020204" pitchFamily="34" charset="-120"/>
              </a:rPr>
              <a:t>Application of GPR in Surveying Underground Cables and Utilities</a:t>
            </a:r>
            <a:endParaRPr lang="en-US" sz="2400" dirty="0"/>
          </a:p>
        </p:txBody>
      </p:sp>
      <p:sp>
        <p:nvSpPr>
          <p:cNvPr id="25" name="L3_team"/>
          <p:cNvSpPr txBox="1"/>
          <p:nvPr/>
        </p:nvSpPr>
        <p:spPr>
          <a:xfrm>
            <a:off x="731520" y="5303520"/>
            <a:ext cx="10789920" cy="365760"/>
          </a:xfrm>
          <a:prstGeom prst="rect">
            <a:avLst/>
          </a:prstGeom>
          <a:noFill/>
        </p:spPr>
        <p:txBody>
          <a:bodyPr wrap="square" lIns="0" tIns="0" rIns="0" bIns="0" rtlCol="0" anchor="t"/>
          <a:lstStyle/>
          <a:p>
            <a:pPr marL="0" indent="0">
              <a:buNone/>
            </a:pPr>
            <a:r>
              <a:rPr lang="en-US" sz="1600" b="1" dirty="0">
                <a:solidFill>
                  <a:srgbClr val="FFFFFF"/>
                </a:solidFill>
                <a:latin typeface="Arial" panose="020B0704020202020204" pitchFamily="34" charset="0"/>
                <a:ea typeface="Arial" panose="020B0704020202020204" pitchFamily="34" charset="-122"/>
                <a:cs typeface="Arial" panose="020B0704020202020204" pitchFamily="34" charset="-120"/>
              </a:rPr>
              <a:t>Quốc Long  ·  Quốc Tài  ·  Thành Trung  ·  Đăng Khoa  ·  Đăng Quang</a:t>
            </a:r>
            <a:endParaRPr lang="en-US" sz="1600" dirty="0"/>
          </a:p>
        </p:txBody>
      </p:sp>
      <p:sp>
        <p:nvSpPr>
          <p:cNvPr id="26" name="L3_info"/>
          <p:cNvSpPr txBox="1"/>
          <p:nvPr/>
        </p:nvSpPr>
        <p:spPr>
          <a:xfrm>
            <a:off x="731520" y="5760720"/>
            <a:ext cx="10789920" cy="365760"/>
          </a:xfrm>
          <a:prstGeom prst="rect">
            <a:avLst/>
          </a:prstGeom>
          <a:noFill/>
        </p:spPr>
        <p:txBody>
          <a:bodyPr wrap="square" lIns="0" tIns="0" rIns="0" bIns="0" rtlCol="0" anchor="t"/>
          <a:lstStyle/>
          <a:p>
            <a:pPr marL="0" indent="0">
              <a:buNone/>
            </a:pPr>
            <a:r>
              <a:rPr lang="en-US" sz="1300" dirty="0">
                <a:solidFill>
                  <a:srgbClr val="D8D8D8"/>
                </a:solidFill>
                <a:latin typeface="Arial" panose="020B0704020202020204" pitchFamily="34" charset="0"/>
                <a:ea typeface="Arial" panose="020B0704020202020204" pitchFamily="34" charset="-122"/>
                <a:cs typeface="Arial" panose="020B0704020202020204" pitchFamily="34" charset="-120"/>
              </a:rPr>
              <a:t>Group [ ]   ·   Supervisor: [ ]   ·   Non-Destructive Testing Methods   ·   Faculty of Physics &amp; Engineering Physics – HCMUS</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9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9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9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9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9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9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9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9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9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9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9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90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90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9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900"/>
                                        <p:tgtEl>
                                          <p:spTgt spid="18"/>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900"/>
                                        <p:tgtEl>
                                          <p:spTgt spid="1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900"/>
                                        <p:tgtEl>
                                          <p:spTgt spid="20"/>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900"/>
                                        <p:tgtEl>
                                          <p:spTgt spid="21"/>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900"/>
                                        <p:tgtEl>
                                          <p:spTgt spid="22"/>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900"/>
                                        <p:tgtEl>
                                          <p:spTgt spid="2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900"/>
                                        <p:tgtEl>
                                          <p:spTgt spid="2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90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9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21" grpId="0" animBg="1"/>
      <p:bldP spid="23" grpId="0" animBg="1"/>
      <p:bldP spid="24" grpId="0" animBg="1"/>
      <p:bldP spid="25" grpId="0" animBg="1"/>
      <p:bldP spid="2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10058400" cy="731520"/>
          </a:xfrm>
          <a:prstGeom prst="rect">
            <a:avLst/>
          </a:prstGeom>
          <a:noFill/>
        </p:spPr>
        <p:txBody>
          <a:bodyPr wrap="square" lIns="0" tIns="0" rIns="0" bIns="0" rtlCol="0" anchor="ctr"/>
          <a:lstStyle/>
          <a:p>
            <a:pPr marL="0" indent="0" algn="l">
              <a:buNone/>
            </a:pPr>
            <a:r>
              <a:rPr lang="en-US" sz="2800" b="1" dirty="0">
                <a:solidFill>
                  <a:srgbClr val="0B4A9E"/>
                </a:solidFill>
                <a:latin typeface="Arial" panose="020B0704020202020204" pitchFamily="34" charset="0"/>
                <a:ea typeface="Arial" panose="020B0704020202020204" pitchFamily="34" charset="-122"/>
                <a:cs typeface="Arial" panose="020B0704020202020204" pitchFamily="34" charset="-120"/>
              </a:rPr>
              <a:t>GPR for buried utilities: abroad and in Vietnam</a:t>
            </a:r>
            <a:endParaRPr lang="en-US" sz="2800" dirty="0"/>
          </a:p>
        </p:txBody>
      </p:sp>
      <p:sp>
        <p:nvSpPr>
          <p:cNvPr id="3" name="Text 1"/>
          <p:cNvSpPr txBox="1"/>
          <p:nvPr/>
        </p:nvSpPr>
        <p:spPr>
          <a:xfrm>
            <a:off x="548640" y="1234440"/>
            <a:ext cx="5394960" cy="365760"/>
          </a:xfrm>
          <a:prstGeom prst="rect">
            <a:avLst/>
          </a:prstGeom>
          <a:noFill/>
        </p:spPr>
        <p:txBody>
          <a:bodyPr wrap="square" lIns="0" tIns="0" rIns="0" bIns="0" rtlCol="0" anchor="t"/>
          <a:lstStyle/>
          <a:p>
            <a:pPr marL="0" indent="0">
              <a:buNone/>
            </a:pPr>
            <a:r>
              <a:rPr lang="en-US" sz="1800" b="1" dirty="0">
                <a:solidFill>
                  <a:srgbClr val="0B4A9E"/>
                </a:solidFill>
                <a:latin typeface="Arial" panose="020B0704020202020204" pitchFamily="34" charset="0"/>
                <a:ea typeface="Arial" panose="020B0704020202020204" pitchFamily="34" charset="-122"/>
                <a:cs typeface="Arial" panose="020B0704020202020204" pitchFamily="34" charset="-120"/>
              </a:rPr>
              <a:t>International</a:t>
            </a:r>
            <a:endParaRPr lang="en-US" sz="1800" dirty="0"/>
          </a:p>
        </p:txBody>
      </p:sp>
      <p:sp>
        <p:nvSpPr>
          <p:cNvPr id="4" name="Shape 2"/>
          <p:cNvSpPr/>
          <p:nvPr/>
        </p:nvSpPr>
        <p:spPr>
          <a:xfrm>
            <a:off x="548640" y="1737360"/>
            <a:ext cx="5394960" cy="1078992"/>
          </a:xfrm>
          <a:prstGeom prst="roundRect">
            <a:avLst>
              <a:gd name="adj" fmla="val 6780"/>
            </a:avLst>
          </a:prstGeom>
          <a:solidFill>
            <a:srgbClr val="EEF3FA"/>
          </a:solidFill>
          <a:ln w="12700">
            <a:solidFill>
              <a:srgbClr val="EEF3FA"/>
            </a:solidFill>
            <a:prstDash val="solid"/>
          </a:ln>
        </p:spPr>
      </p:sp>
      <p:sp>
        <p:nvSpPr>
          <p:cNvPr id="5" name="Text 3"/>
          <p:cNvSpPr txBox="1"/>
          <p:nvPr/>
        </p:nvSpPr>
        <p:spPr>
          <a:xfrm>
            <a:off x="731520" y="1856232"/>
            <a:ext cx="5029200" cy="292608"/>
          </a:xfrm>
          <a:prstGeom prst="rect">
            <a:avLst/>
          </a:prstGeom>
          <a:noFill/>
        </p:spPr>
        <p:txBody>
          <a:bodyPr wrap="square" lIns="0" tIns="0" rIns="0" bIns="0" rtlCol="0" anchor="t"/>
          <a:lstStyle/>
          <a:p>
            <a:pPr marL="0" indent="0">
              <a:buNone/>
            </a:pPr>
            <a:r>
              <a:rPr lang="en-US" sz="1400" b="1" dirty="0">
                <a:solidFill>
                  <a:srgbClr val="1B1B1D"/>
                </a:solidFill>
                <a:latin typeface="Arial" panose="020B0704020202020204" pitchFamily="34" charset="0"/>
                <a:ea typeface="Arial" panose="020B0704020202020204" pitchFamily="34" charset="-122"/>
                <a:cs typeface="Arial" panose="020B0704020202020204" pitchFamily="34" charset="-120"/>
              </a:rPr>
              <a:t>Metje et al. (2007) · UK, Mapping the Underworld</a:t>
            </a:r>
            <a:endParaRPr lang="en-US" sz="1400" dirty="0"/>
          </a:p>
        </p:txBody>
      </p:sp>
      <p:sp>
        <p:nvSpPr>
          <p:cNvPr id="6" name="Text 4"/>
          <p:cNvSpPr txBox="1"/>
          <p:nvPr/>
        </p:nvSpPr>
        <p:spPr>
          <a:xfrm>
            <a:off x="731520" y="2167128"/>
            <a:ext cx="5029200" cy="594360"/>
          </a:xfrm>
          <a:prstGeom prst="rect">
            <a:avLst/>
          </a:prstGeom>
          <a:noFill/>
        </p:spPr>
        <p:txBody>
          <a:bodyPr wrap="square" lIns="0" tIns="0" rIns="0" bIns="0" rtlCol="0" anchor="t"/>
          <a:lstStyle/>
          <a:p>
            <a:pPr marL="0" indent="0">
              <a:buNone/>
            </a:pPr>
            <a:r>
              <a:rPr lang="en-US" sz="1300" dirty="0">
                <a:solidFill>
                  <a:srgbClr val="5F6368"/>
                </a:solidFill>
                <a:latin typeface="Arial" panose="020B0704020202020204" pitchFamily="34" charset="0"/>
                <a:ea typeface="Arial" panose="020B0704020202020204" pitchFamily="34" charset="-122"/>
                <a:cs typeface="Arial" panose="020B0704020202020204" pitchFamily="34" charset="-120"/>
              </a:rPr>
              <a:t>Review of utility-locating methods: no single sensor finds every utility, so GPR and EM locators are combined.</a:t>
            </a:r>
            <a:endParaRPr lang="en-US" sz="1300" dirty="0"/>
          </a:p>
        </p:txBody>
      </p:sp>
      <p:sp>
        <p:nvSpPr>
          <p:cNvPr id="7" name="Shape 5"/>
          <p:cNvSpPr/>
          <p:nvPr/>
        </p:nvSpPr>
        <p:spPr>
          <a:xfrm>
            <a:off x="548640" y="2944368"/>
            <a:ext cx="5394960" cy="1078992"/>
          </a:xfrm>
          <a:prstGeom prst="roundRect">
            <a:avLst>
              <a:gd name="adj" fmla="val 6780"/>
            </a:avLst>
          </a:prstGeom>
          <a:solidFill>
            <a:srgbClr val="EEF3FA"/>
          </a:solidFill>
          <a:ln w="12700">
            <a:solidFill>
              <a:srgbClr val="EEF3FA"/>
            </a:solidFill>
            <a:prstDash val="solid"/>
          </a:ln>
        </p:spPr>
      </p:sp>
      <p:sp>
        <p:nvSpPr>
          <p:cNvPr id="8" name="Text 6"/>
          <p:cNvSpPr txBox="1"/>
          <p:nvPr/>
        </p:nvSpPr>
        <p:spPr>
          <a:xfrm>
            <a:off x="731520" y="3063240"/>
            <a:ext cx="5029200" cy="292608"/>
          </a:xfrm>
          <a:prstGeom prst="rect">
            <a:avLst/>
          </a:prstGeom>
          <a:noFill/>
        </p:spPr>
        <p:txBody>
          <a:bodyPr wrap="square" lIns="0" tIns="0" rIns="0" bIns="0" rtlCol="0" anchor="t"/>
          <a:lstStyle/>
          <a:p>
            <a:pPr marL="0" indent="0">
              <a:buNone/>
            </a:pPr>
            <a:r>
              <a:rPr lang="en-US" sz="1400" b="1" dirty="0">
                <a:solidFill>
                  <a:srgbClr val="1B1B1D"/>
                </a:solidFill>
                <a:latin typeface="Arial" panose="020B0704020202020204" pitchFamily="34" charset="0"/>
                <a:ea typeface="Arial" panose="020B0704020202020204" pitchFamily="34" charset="-122"/>
                <a:cs typeface="Arial" panose="020B0704020202020204" pitchFamily="34" charset="-120"/>
              </a:rPr>
              <a:t>Royal et al. (2011) · UK</a:t>
            </a:r>
            <a:endParaRPr lang="en-US" sz="1400" dirty="0"/>
          </a:p>
        </p:txBody>
      </p:sp>
      <p:sp>
        <p:nvSpPr>
          <p:cNvPr id="9" name="Text 7"/>
          <p:cNvSpPr txBox="1"/>
          <p:nvPr/>
        </p:nvSpPr>
        <p:spPr>
          <a:xfrm>
            <a:off x="731520" y="3374136"/>
            <a:ext cx="5029200" cy="594360"/>
          </a:xfrm>
          <a:prstGeom prst="rect">
            <a:avLst/>
          </a:prstGeom>
          <a:noFill/>
        </p:spPr>
        <p:txBody>
          <a:bodyPr wrap="square" lIns="0" tIns="0" rIns="0" bIns="0" rtlCol="0" anchor="t"/>
          <a:lstStyle/>
          <a:p>
            <a:pPr marL="0" indent="0">
              <a:buNone/>
            </a:pPr>
            <a:r>
              <a:rPr lang="en-US" sz="1300" dirty="0">
                <a:solidFill>
                  <a:srgbClr val="5F6368"/>
                </a:solidFill>
                <a:latin typeface="Arial" panose="020B0704020202020204" pitchFamily="34" charset="0"/>
                <a:ea typeface="Arial" panose="020B0704020202020204" pitchFamily="34" charset="-122"/>
                <a:cs typeface="Arial" panose="020B0704020202020204" pitchFamily="34" charset="-120"/>
              </a:rPr>
              <a:t>Site trials of multi-sensor approaches for buried utility detection.</a:t>
            </a:r>
            <a:endParaRPr lang="en-US" sz="1300" dirty="0"/>
          </a:p>
        </p:txBody>
      </p:sp>
      <p:sp>
        <p:nvSpPr>
          <p:cNvPr id="10" name="Shape 8"/>
          <p:cNvSpPr/>
          <p:nvPr/>
        </p:nvSpPr>
        <p:spPr>
          <a:xfrm>
            <a:off x="548640" y="4151376"/>
            <a:ext cx="5394960" cy="1078992"/>
          </a:xfrm>
          <a:prstGeom prst="roundRect">
            <a:avLst>
              <a:gd name="adj" fmla="val 6780"/>
            </a:avLst>
          </a:prstGeom>
          <a:solidFill>
            <a:srgbClr val="EEF3FA"/>
          </a:solidFill>
          <a:ln w="12700">
            <a:solidFill>
              <a:srgbClr val="EEF3FA"/>
            </a:solidFill>
            <a:prstDash val="solid"/>
          </a:ln>
        </p:spPr>
      </p:sp>
      <p:sp>
        <p:nvSpPr>
          <p:cNvPr id="11" name="Text 9"/>
          <p:cNvSpPr txBox="1"/>
          <p:nvPr/>
        </p:nvSpPr>
        <p:spPr>
          <a:xfrm>
            <a:off x="731520" y="4270248"/>
            <a:ext cx="5029200" cy="292608"/>
          </a:xfrm>
          <a:prstGeom prst="rect">
            <a:avLst/>
          </a:prstGeom>
          <a:noFill/>
        </p:spPr>
        <p:txBody>
          <a:bodyPr wrap="square" lIns="0" tIns="0" rIns="0" bIns="0" rtlCol="0" anchor="t"/>
          <a:lstStyle/>
          <a:p>
            <a:pPr marL="0" indent="0">
              <a:buNone/>
            </a:pPr>
            <a:r>
              <a:rPr lang="en-US" sz="1400" b="1" dirty="0">
                <a:solidFill>
                  <a:srgbClr val="1B1B1D"/>
                </a:solidFill>
                <a:latin typeface="Arial" panose="020B0704020202020204" pitchFamily="34" charset="0"/>
                <a:ea typeface="Arial" panose="020B0704020202020204" pitchFamily="34" charset="-122"/>
                <a:cs typeface="Arial" panose="020B0704020202020204" pitchFamily="34" charset="-120"/>
              </a:rPr>
              <a:t>Lai, Dérobert &amp; Annan (2018)</a:t>
            </a:r>
            <a:endParaRPr lang="en-US" sz="1400" dirty="0"/>
          </a:p>
        </p:txBody>
      </p:sp>
      <p:sp>
        <p:nvSpPr>
          <p:cNvPr id="12" name="Text 10"/>
          <p:cNvSpPr txBox="1"/>
          <p:nvPr/>
        </p:nvSpPr>
        <p:spPr>
          <a:xfrm>
            <a:off x="731520" y="4581144"/>
            <a:ext cx="5029200" cy="594360"/>
          </a:xfrm>
          <a:prstGeom prst="rect">
            <a:avLst/>
          </a:prstGeom>
          <a:noFill/>
        </p:spPr>
        <p:txBody>
          <a:bodyPr wrap="square" lIns="0" tIns="0" rIns="0" bIns="0" rtlCol="0" anchor="t"/>
          <a:lstStyle/>
          <a:p>
            <a:pPr marL="0" indent="0">
              <a:buNone/>
            </a:pPr>
            <a:r>
              <a:rPr lang="en-US" sz="1300" dirty="0">
                <a:solidFill>
                  <a:srgbClr val="5F6368"/>
                </a:solidFill>
                <a:latin typeface="Arial" panose="020B0704020202020204" pitchFamily="34" charset="0"/>
                <a:ea typeface="Arial" panose="020B0704020202020204" pitchFamily="34" charset="-122"/>
                <a:cs typeface="Arial" panose="020B0704020202020204" pitchFamily="34" charset="-120"/>
              </a:rPr>
              <a:t>30 years of GPR in civil engineering: from locating and testing to imaging and diagnosis.</a:t>
            </a:r>
            <a:endParaRPr lang="en-US" sz="1300" dirty="0"/>
          </a:p>
        </p:txBody>
      </p:sp>
      <p:sp>
        <p:nvSpPr>
          <p:cNvPr id="13" name="Text 11"/>
          <p:cNvSpPr txBox="1"/>
          <p:nvPr/>
        </p:nvSpPr>
        <p:spPr>
          <a:xfrm>
            <a:off x="6217920" y="1234440"/>
            <a:ext cx="5394960" cy="365760"/>
          </a:xfrm>
          <a:prstGeom prst="rect">
            <a:avLst/>
          </a:prstGeom>
          <a:noFill/>
        </p:spPr>
        <p:txBody>
          <a:bodyPr wrap="square" lIns="0" tIns="0" rIns="0" bIns="0" rtlCol="0" anchor="t"/>
          <a:lstStyle/>
          <a:p>
            <a:pPr marL="0" indent="0">
              <a:buNone/>
            </a:pPr>
            <a:r>
              <a:rPr lang="en-US" sz="1800" b="1" dirty="0">
                <a:solidFill>
                  <a:srgbClr val="0B4A9E"/>
                </a:solidFill>
                <a:latin typeface="Arial" panose="020B0704020202020204" pitchFamily="34" charset="0"/>
                <a:ea typeface="Arial" panose="020B0704020202020204" pitchFamily="34" charset="-122"/>
                <a:cs typeface="Arial" panose="020B0704020202020204" pitchFamily="34" charset="-120"/>
              </a:rPr>
              <a:t>Vietnam · HCMUS Geophysics group</a:t>
            </a:r>
            <a:endParaRPr lang="en-US" sz="1800" dirty="0"/>
          </a:p>
        </p:txBody>
      </p:sp>
      <p:sp>
        <p:nvSpPr>
          <p:cNvPr id="14" name="Shape 12"/>
          <p:cNvSpPr/>
          <p:nvPr/>
        </p:nvSpPr>
        <p:spPr>
          <a:xfrm>
            <a:off x="6217920" y="1737360"/>
            <a:ext cx="5394960" cy="1078992"/>
          </a:xfrm>
          <a:prstGeom prst="roundRect">
            <a:avLst>
              <a:gd name="adj" fmla="val 6780"/>
            </a:avLst>
          </a:prstGeom>
          <a:solidFill>
            <a:srgbClr val="EEF3FA"/>
          </a:solidFill>
          <a:ln w="12700">
            <a:solidFill>
              <a:srgbClr val="EEF3FA"/>
            </a:solidFill>
            <a:prstDash val="solid"/>
          </a:ln>
        </p:spPr>
      </p:sp>
      <p:sp>
        <p:nvSpPr>
          <p:cNvPr id="15" name="Text 13"/>
          <p:cNvSpPr txBox="1"/>
          <p:nvPr/>
        </p:nvSpPr>
        <p:spPr>
          <a:xfrm>
            <a:off x="6400800" y="1856232"/>
            <a:ext cx="5029200" cy="292608"/>
          </a:xfrm>
          <a:prstGeom prst="rect">
            <a:avLst/>
          </a:prstGeom>
          <a:noFill/>
        </p:spPr>
        <p:txBody>
          <a:bodyPr wrap="square" lIns="0" tIns="0" rIns="0" bIns="0" rtlCol="0" anchor="t"/>
          <a:lstStyle/>
          <a:p>
            <a:pPr marL="0" indent="0">
              <a:buNone/>
            </a:pPr>
            <a:r>
              <a:rPr lang="en-US" sz="1400" b="1" dirty="0">
                <a:solidFill>
                  <a:srgbClr val="1B1B1D"/>
                </a:solidFill>
                <a:latin typeface="Arial" panose="020B0704020202020204" pitchFamily="34" charset="0"/>
                <a:ea typeface="Arial" panose="020B0704020202020204" pitchFamily="34" charset="-122"/>
                <a:cs typeface="Arial" panose="020B0704020202020204" pitchFamily="34" charset="-120"/>
              </a:rPr>
              <a:t>Nguyễn Thành Vấn et al. (2018)</a:t>
            </a:r>
            <a:endParaRPr lang="en-US" sz="1400" dirty="0"/>
          </a:p>
        </p:txBody>
      </p:sp>
      <p:sp>
        <p:nvSpPr>
          <p:cNvPr id="16" name="Text 14"/>
          <p:cNvSpPr txBox="1"/>
          <p:nvPr/>
        </p:nvSpPr>
        <p:spPr>
          <a:xfrm>
            <a:off x="6400800" y="2167128"/>
            <a:ext cx="5029200" cy="594360"/>
          </a:xfrm>
          <a:prstGeom prst="rect">
            <a:avLst/>
          </a:prstGeom>
          <a:noFill/>
        </p:spPr>
        <p:txBody>
          <a:bodyPr wrap="square" lIns="0" tIns="0" rIns="0" bIns="0" rtlCol="0" anchor="t"/>
          <a:lstStyle/>
          <a:p>
            <a:pPr marL="0" indent="0">
              <a:buNone/>
            </a:pPr>
            <a:r>
              <a:rPr lang="en-US" sz="1300" dirty="0">
                <a:solidFill>
                  <a:srgbClr val="5F6368"/>
                </a:solidFill>
                <a:latin typeface="Arial" panose="020B0704020202020204" pitchFamily="34" charset="0"/>
                <a:ea typeface="Arial" panose="020B0704020202020204" pitchFamily="34" charset="-122"/>
                <a:cs typeface="Arial" panose="020B0704020202020204" pitchFamily="34" charset="-120"/>
              </a:rPr>
              <a:t>GPRTVN processing software; water pipe Φ0.2 m on Nguyễn Hồng St. with the IDS Detector Duo 250/700 MHz.</a:t>
            </a:r>
            <a:endParaRPr lang="en-US" sz="1300" dirty="0"/>
          </a:p>
        </p:txBody>
      </p:sp>
      <p:sp>
        <p:nvSpPr>
          <p:cNvPr id="17" name="Shape 15"/>
          <p:cNvSpPr/>
          <p:nvPr/>
        </p:nvSpPr>
        <p:spPr>
          <a:xfrm>
            <a:off x="6217920" y="2944368"/>
            <a:ext cx="5394960" cy="1078992"/>
          </a:xfrm>
          <a:prstGeom prst="roundRect">
            <a:avLst>
              <a:gd name="adj" fmla="val 6780"/>
            </a:avLst>
          </a:prstGeom>
          <a:solidFill>
            <a:srgbClr val="EEF3FA"/>
          </a:solidFill>
          <a:ln w="12700">
            <a:solidFill>
              <a:srgbClr val="EEF3FA"/>
            </a:solidFill>
            <a:prstDash val="solid"/>
          </a:ln>
        </p:spPr>
      </p:sp>
      <p:sp>
        <p:nvSpPr>
          <p:cNvPr id="18" name="Text 16"/>
          <p:cNvSpPr txBox="1"/>
          <p:nvPr/>
        </p:nvSpPr>
        <p:spPr>
          <a:xfrm>
            <a:off x="6400800" y="3063240"/>
            <a:ext cx="5029200" cy="292608"/>
          </a:xfrm>
          <a:prstGeom prst="rect">
            <a:avLst/>
          </a:prstGeom>
          <a:noFill/>
        </p:spPr>
        <p:txBody>
          <a:bodyPr wrap="square" lIns="0" tIns="0" rIns="0" bIns="0" rtlCol="0" anchor="t"/>
          <a:lstStyle/>
          <a:p>
            <a:pPr marL="0" indent="0">
              <a:buNone/>
            </a:pPr>
            <a:r>
              <a:rPr lang="en-US" sz="1400" b="1" dirty="0">
                <a:solidFill>
                  <a:srgbClr val="1B1B1D"/>
                </a:solidFill>
                <a:latin typeface="Arial" panose="020B0704020202020204" pitchFamily="34" charset="0"/>
                <a:ea typeface="Arial" panose="020B0704020202020204" pitchFamily="34" charset="-122"/>
                <a:cs typeface="Arial" panose="020B0704020202020204" pitchFamily="34" charset="-120"/>
              </a:rPr>
              <a:t>Nguyễn Văn Thuận &amp; Lê Văn Anh Cường (2021)</a:t>
            </a:r>
            <a:endParaRPr lang="en-US" sz="1400" dirty="0"/>
          </a:p>
        </p:txBody>
      </p:sp>
      <p:sp>
        <p:nvSpPr>
          <p:cNvPr id="19" name="Text 17"/>
          <p:cNvSpPr txBox="1"/>
          <p:nvPr/>
        </p:nvSpPr>
        <p:spPr>
          <a:xfrm>
            <a:off x="6400800" y="3374136"/>
            <a:ext cx="5029200" cy="594360"/>
          </a:xfrm>
          <a:prstGeom prst="rect">
            <a:avLst/>
          </a:prstGeom>
          <a:noFill/>
        </p:spPr>
        <p:txBody>
          <a:bodyPr wrap="square" lIns="0" tIns="0" rIns="0" bIns="0" rtlCol="0" anchor="t"/>
          <a:lstStyle/>
          <a:p>
            <a:pPr marL="0" indent="0">
              <a:buNone/>
            </a:pPr>
            <a:r>
              <a:rPr lang="en-US" sz="1300" dirty="0">
                <a:solidFill>
                  <a:srgbClr val="5F6368"/>
                </a:solidFill>
                <a:latin typeface="Arial" panose="020B0704020202020204" pitchFamily="34" charset="0"/>
                <a:ea typeface="Arial" panose="020B0704020202020204" pitchFamily="34" charset="-122"/>
                <a:cs typeface="Arial" panose="020B0704020202020204" pitchFamily="34" charset="-120"/>
              </a:rPr>
              <a:t>Kirchhoff migration and energy analysis to find the wave velocity; power, telecom and water lines in Gò Vấp.</a:t>
            </a:r>
            <a:endParaRPr lang="en-US" sz="1300" dirty="0"/>
          </a:p>
        </p:txBody>
      </p:sp>
      <p:sp>
        <p:nvSpPr>
          <p:cNvPr id="20" name="Shape 18"/>
          <p:cNvSpPr/>
          <p:nvPr/>
        </p:nvSpPr>
        <p:spPr>
          <a:xfrm>
            <a:off x="6217920" y="4151376"/>
            <a:ext cx="5394960" cy="1078992"/>
          </a:xfrm>
          <a:prstGeom prst="roundRect">
            <a:avLst>
              <a:gd name="adj" fmla="val 6780"/>
            </a:avLst>
          </a:prstGeom>
          <a:solidFill>
            <a:srgbClr val="EEF3FA"/>
          </a:solidFill>
          <a:ln w="12700">
            <a:solidFill>
              <a:srgbClr val="EEF3FA"/>
            </a:solidFill>
            <a:prstDash val="solid"/>
          </a:ln>
        </p:spPr>
      </p:sp>
      <p:sp>
        <p:nvSpPr>
          <p:cNvPr id="21" name="Text 19"/>
          <p:cNvSpPr txBox="1"/>
          <p:nvPr/>
        </p:nvSpPr>
        <p:spPr>
          <a:xfrm>
            <a:off x="6400800" y="4270248"/>
            <a:ext cx="5029200" cy="292608"/>
          </a:xfrm>
          <a:prstGeom prst="rect">
            <a:avLst/>
          </a:prstGeom>
          <a:noFill/>
        </p:spPr>
        <p:txBody>
          <a:bodyPr wrap="square" lIns="0" tIns="0" rIns="0" bIns="0" rtlCol="0" anchor="t"/>
          <a:lstStyle/>
          <a:p>
            <a:pPr marL="0" indent="0">
              <a:buNone/>
            </a:pPr>
            <a:r>
              <a:rPr lang="en-US" sz="1400" b="1" dirty="0">
                <a:solidFill>
                  <a:srgbClr val="1B1B1D"/>
                </a:solidFill>
                <a:latin typeface="Arial" panose="020B0704020202020204" pitchFamily="34" charset="0"/>
                <a:ea typeface="Arial" panose="020B0704020202020204" pitchFamily="34" charset="-122"/>
                <a:cs typeface="Arial" panose="020B0704020202020204" pitchFamily="34" charset="-120"/>
              </a:rPr>
              <a:t>Đặng Hoàng Duy et al. (2020)</a:t>
            </a:r>
            <a:endParaRPr lang="en-US" sz="1400" dirty="0"/>
          </a:p>
        </p:txBody>
      </p:sp>
      <p:sp>
        <p:nvSpPr>
          <p:cNvPr id="22" name="Text 20"/>
          <p:cNvSpPr txBox="1"/>
          <p:nvPr/>
        </p:nvSpPr>
        <p:spPr>
          <a:xfrm>
            <a:off x="6400800" y="4581144"/>
            <a:ext cx="5029200" cy="594360"/>
          </a:xfrm>
          <a:prstGeom prst="rect">
            <a:avLst/>
          </a:prstGeom>
          <a:noFill/>
        </p:spPr>
        <p:txBody>
          <a:bodyPr wrap="square" lIns="0" tIns="0" rIns="0" bIns="0" rtlCol="0" anchor="t"/>
          <a:lstStyle/>
          <a:p>
            <a:pPr marL="0" indent="0">
              <a:buNone/>
            </a:pPr>
            <a:r>
              <a:rPr lang="en-US" sz="1300" dirty="0">
                <a:solidFill>
                  <a:srgbClr val="5F6368"/>
                </a:solidFill>
                <a:latin typeface="Arial" panose="020B0704020202020204" pitchFamily="34" charset="0"/>
                <a:ea typeface="Arial" panose="020B0704020202020204" pitchFamily="34" charset="-122"/>
                <a:cs typeface="Arial" panose="020B0704020202020204" pitchFamily="34" charset="-120"/>
              </a:rPr>
              <a:t>2D profiles assembled in 3D: 10 objects 0.45–1 m deep, cross-checked with an EM method.</a:t>
            </a:r>
            <a:endParaRPr lang="en-US" sz="1300" dirty="0"/>
          </a:p>
        </p:txBody>
      </p:sp>
      <p:sp>
        <p:nvSpPr>
          <p:cNvPr id="23" name="Text 21"/>
          <p:cNvSpPr txBox="1"/>
          <p:nvPr/>
        </p:nvSpPr>
        <p:spPr>
          <a:xfrm>
            <a:off x="548640" y="5440680"/>
            <a:ext cx="11064240" cy="411480"/>
          </a:xfrm>
          <a:prstGeom prst="rect">
            <a:avLst/>
          </a:prstGeom>
          <a:noFill/>
        </p:spPr>
        <p:txBody>
          <a:bodyPr wrap="square" lIns="0" tIns="0" rIns="0" bIns="0" rtlCol="0" anchor="t"/>
          <a:lstStyle/>
          <a:p>
            <a:pPr marL="0" indent="0">
              <a:buNone/>
            </a:pPr>
            <a:r>
              <a:rPr lang="en-US" sz="1600" b="1" dirty="0">
                <a:solidFill>
                  <a:srgbClr val="0B4A9E"/>
                </a:solidFill>
                <a:latin typeface="Arial" panose="020B0704020202020204" pitchFamily="34" charset="0"/>
                <a:ea typeface="Arial" panose="020B0704020202020204" pitchFamily="34" charset="-122"/>
                <a:cs typeface="Arial" panose="020B0704020202020204" pitchFamily="34" charset="-120"/>
              </a:rPr>
              <a:t>Our work: </a:t>
            </a:r>
            <a:r>
              <a:rPr lang="en-US" sz="1600" dirty="0">
                <a:solidFill>
                  <a:srgbClr val="1B1B1D"/>
                </a:solidFill>
                <a:latin typeface="Arial" panose="020B0704020202020204" pitchFamily="34" charset="0"/>
                <a:ea typeface="Arial" panose="020B0704020202020204" pitchFamily="34" charset="-122"/>
                <a:cs typeface="Arial" panose="020B0704020202020204" pitchFamily="34" charset="-120"/>
              </a:rPr>
              <a:t>the same IDS Detector Duo on our own campus — the full chain from field scan to a utility map.</a:t>
            </a:r>
            <a:endParaRPr lang="en-US" sz="1600" dirty="0"/>
          </a:p>
        </p:txBody>
      </p:sp>
      <p:sp>
        <p:nvSpPr>
          <p:cNvPr id="24" name="Text 22"/>
          <p:cNvSpPr txBox="1"/>
          <p:nvPr/>
        </p:nvSpPr>
        <p:spPr>
          <a:xfrm>
            <a:off x="548640" y="6144768"/>
            <a:ext cx="11064240" cy="237744"/>
          </a:xfrm>
          <a:prstGeom prst="rect">
            <a:avLst/>
          </a:prstGeom>
          <a:noFill/>
        </p:spPr>
        <p:txBody>
          <a:bodyPr wrap="square" lIns="0" tIns="0" rIns="0" bIns="0" rtlCol="0" anchor="t"/>
          <a:lstStyle/>
          <a:p>
            <a:pPr marL="0" indent="0">
              <a:buNone/>
            </a:pPr>
            <a:r>
              <a:rPr lang="en-US" sz="1000" dirty="0">
                <a:solidFill>
                  <a:srgbClr val="5F6368"/>
                </a:solidFill>
                <a:latin typeface="Arial" panose="020B0704020202020204" pitchFamily="34" charset="0"/>
                <a:ea typeface="Arial" panose="020B0704020202020204" pitchFamily="34" charset="-122"/>
                <a:cs typeface="Arial" panose="020B0704020202020204" pitchFamily="34" charset="-120"/>
              </a:rPr>
              <a:t>Full references in the report: Metje 2007, Royal 2011, Lai 2018 (international); Nguyễn T.V. 2018, Nguyễn V.T. 2021, Đặng H.D. 2020 (Vietnam)</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p:spPr>
        <p:txBody>
          <a:bodyPr/>
          <a:lstStyle>
            <a:lvl1pPr>
              <a:defRPr sz="1000">
                <a:solidFill>
                  <a:srgbClr val="5F6368"/>
                </a:solidFill>
                <a:latin typeface="Arial" panose="020B0704020202020204"/>
                <a:ea typeface="Arial" panose="020B0704020202020204"/>
                <a:cs typeface="Arial" panose="020B0704020202020204"/>
              </a:defRPr>
            </a:lvl1pPr>
          </a:lstStyle>
          <a:p>
            <a:pPr algn="r"/>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10058400" cy="731520"/>
          </a:xfrm>
          <a:prstGeom prst="rect">
            <a:avLst/>
          </a:prstGeom>
          <a:noFill/>
        </p:spPr>
        <p:txBody>
          <a:bodyPr wrap="square" lIns="0" tIns="0" rIns="0" bIns="0" rtlCol="0" anchor="ctr"/>
          <a:lstStyle/>
          <a:p>
            <a:pPr marL="0" indent="0" algn="l">
              <a:buNone/>
            </a:pPr>
            <a:r>
              <a:rPr lang="en-US" sz="2800" b="1" dirty="0">
                <a:solidFill>
                  <a:srgbClr val="0B4A9E"/>
                </a:solidFill>
                <a:latin typeface="Arial" panose="020B0704020202020204" pitchFamily="34" charset="0"/>
                <a:ea typeface="Arial" panose="020B0704020202020204" pitchFamily="34" charset="-122"/>
                <a:cs typeface="Arial" panose="020B0704020202020204" pitchFamily="34" charset="-120"/>
              </a:rPr>
              <a:t>Two NDT methods: radar echoes and induced currents</a:t>
            </a:r>
            <a:endParaRPr lang="en-US" sz="2800" dirty="0"/>
          </a:p>
        </p:txBody>
      </p:sp>
      <p:sp>
        <p:nvSpPr>
          <p:cNvPr id="3" name="Text 1"/>
          <p:cNvSpPr txBox="1"/>
          <p:nvPr/>
        </p:nvSpPr>
        <p:spPr>
          <a:xfrm>
            <a:off x="548640" y="1234440"/>
            <a:ext cx="6766560" cy="365760"/>
          </a:xfrm>
          <a:prstGeom prst="rect">
            <a:avLst/>
          </a:prstGeom>
          <a:noFill/>
        </p:spPr>
        <p:txBody>
          <a:bodyPr wrap="square" lIns="0" tIns="0" rIns="0" bIns="0" rtlCol="0" anchor="t"/>
          <a:lstStyle/>
          <a:p>
            <a:pPr marL="0" indent="0">
              <a:buNone/>
            </a:pPr>
            <a:r>
              <a:rPr lang="en-US" sz="1800" b="1" dirty="0">
                <a:solidFill>
                  <a:srgbClr val="0B4A9E"/>
                </a:solidFill>
                <a:latin typeface="Arial" panose="020B0704020202020204" pitchFamily="34" charset="0"/>
                <a:ea typeface="Arial" panose="020B0704020202020204" pitchFamily="34" charset="-122"/>
                <a:cs typeface="Arial" panose="020B0704020202020204" pitchFamily="34" charset="-120"/>
              </a:rPr>
              <a:t>GPR · ground penetrating radar</a:t>
            </a:r>
            <a:endParaRPr lang="en-US" sz="1800" dirty="0"/>
          </a:p>
        </p:txBody>
      </p:sp>
      <p:sp>
        <p:nvSpPr>
          <p:cNvPr id="4" name="Text 2"/>
          <p:cNvSpPr txBox="1"/>
          <p:nvPr/>
        </p:nvSpPr>
        <p:spPr>
          <a:xfrm>
            <a:off x="548640" y="1645920"/>
            <a:ext cx="6766560" cy="292608"/>
          </a:xfrm>
          <a:prstGeom prst="rect">
            <a:avLst/>
          </a:prstGeom>
          <a:noFill/>
        </p:spPr>
        <p:txBody>
          <a:bodyPr wrap="square" lIns="0" tIns="0" rIns="0" bIns="0" rtlCol="0" anchor="t"/>
          <a:lstStyle/>
          <a:p>
            <a:pPr marL="0" indent="0">
              <a:buNone/>
            </a:pPr>
            <a:r>
              <a:rPr lang="en-US" sz="1300" b="1" dirty="0">
                <a:solidFill>
                  <a:srgbClr val="5F6368"/>
                </a:solidFill>
                <a:latin typeface="Arial" panose="020B0704020202020204" pitchFamily="34" charset="0"/>
                <a:ea typeface="Arial" panose="020B0704020202020204" pitchFamily="34" charset="-122"/>
                <a:cs typeface="Arial" panose="020B0704020202020204" pitchFamily="34" charset="-120"/>
              </a:rPr>
              <a:t>Ultrasonic pulse–echo  →  electromagnetic pulse  →  GPR</a:t>
            </a:r>
            <a:endParaRPr lang="en-US" sz="1300" dirty="0"/>
          </a:p>
        </p:txBody>
      </p:sp>
      <p:pic>
        <p:nvPicPr>
          <p:cNvPr id="5" name="Image 0" descr="Antenna positions above a buried pipe and the resulting hyperbola in travel time"/>
          <p:cNvPicPr>
            <a:picLocks noChangeAspect="1"/>
          </p:cNvPicPr>
          <p:nvPr/>
        </p:nvPicPr>
        <p:blipFill>
          <a:blip r:embed="rId1"/>
          <a:stretch>
            <a:fillRect/>
          </a:stretch>
        </p:blipFill>
        <p:spPr>
          <a:xfrm>
            <a:off x="548640" y="2057400"/>
            <a:ext cx="6766560" cy="2926080"/>
          </a:xfrm>
          <a:prstGeom prst="rect">
            <a:avLst/>
          </a:prstGeom>
        </p:spPr>
      </p:pic>
      <p:sp>
        <p:nvSpPr>
          <p:cNvPr id="6" name="Shape 3"/>
          <p:cNvSpPr/>
          <p:nvPr/>
        </p:nvSpPr>
        <p:spPr>
          <a:xfrm>
            <a:off x="548640" y="5120640"/>
            <a:ext cx="6766560" cy="914400"/>
          </a:xfrm>
          <a:prstGeom prst="roundRect">
            <a:avLst>
              <a:gd name="adj" fmla="val 8000"/>
            </a:avLst>
          </a:prstGeom>
          <a:solidFill>
            <a:srgbClr val="EEF3FA"/>
          </a:solidFill>
          <a:ln w="12700">
            <a:solidFill>
              <a:srgbClr val="EEF3FA"/>
            </a:solidFill>
            <a:prstDash val="solid"/>
          </a:ln>
        </p:spPr>
      </p:sp>
      <p:sp>
        <p:nvSpPr>
          <p:cNvPr id="7" name="Text 4"/>
          <p:cNvSpPr txBox="1"/>
          <p:nvPr/>
        </p:nvSpPr>
        <p:spPr>
          <a:xfrm>
            <a:off x="731520" y="5230368"/>
            <a:ext cx="6400800" cy="731520"/>
          </a:xfrm>
          <a:prstGeom prst="rect">
            <a:avLst/>
          </a:prstGeom>
          <a:noFill/>
        </p:spPr>
        <p:txBody>
          <a:bodyPr wrap="square" lIns="0" tIns="0" rIns="0" bIns="0" rtlCol="0" anchor="t"/>
          <a:lstStyle/>
          <a:p>
            <a:pPr marL="0" indent="0">
              <a:spcAft>
                <a:spcPts val="400"/>
              </a:spcAft>
              <a:buNone/>
            </a:pPr>
            <a:r>
              <a:rPr lang="en-US" sz="1500" b="1" dirty="0">
                <a:solidFill>
                  <a:srgbClr val="1B1B1D"/>
                </a:solidFill>
                <a:latin typeface="Arial" panose="020B0704020202020204" pitchFamily="34" charset="0"/>
                <a:ea typeface="Arial" panose="020B0704020202020204" pitchFamily="34" charset="-122"/>
                <a:cs typeface="Arial" panose="020B0704020202020204" pitchFamily="34" charset="-120"/>
              </a:rPr>
              <a:t>v = c / √εr</a:t>
            </a:r>
            <a:r>
              <a:rPr lang="en-US" sz="1500" dirty="0">
                <a:solidFill>
                  <a:srgbClr val="5F6368"/>
                </a:solidFill>
                <a:latin typeface="Arial" panose="020B0704020202020204" pitchFamily="34" charset="0"/>
                <a:ea typeface="Arial" panose="020B0704020202020204" pitchFamily="34" charset="-122"/>
                <a:cs typeface="Arial" panose="020B0704020202020204" pitchFamily="34" charset="-120"/>
              </a:rPr>
              <a:t>   speed set by soil permittivity</a:t>
            </a:r>
            <a:endParaRPr lang="en-US" sz="1500" dirty="0"/>
          </a:p>
          <a:p>
            <a:pPr marL="0" indent="0">
              <a:spcAft>
                <a:spcPts val="400"/>
              </a:spcAft>
              <a:buNone/>
            </a:pPr>
            <a:r>
              <a:rPr lang="en-US" sz="1500" b="1" dirty="0">
                <a:solidFill>
                  <a:srgbClr val="1B1B1D"/>
                </a:solidFill>
                <a:latin typeface="Arial" panose="020B0704020202020204" pitchFamily="34" charset="0"/>
                <a:ea typeface="Arial" panose="020B0704020202020204" pitchFamily="34" charset="-122"/>
                <a:cs typeface="Arial" panose="020B0704020202020204" pitchFamily="34" charset="-120"/>
              </a:rPr>
              <a:t>d = v · t / 2</a:t>
            </a:r>
            <a:r>
              <a:rPr lang="en-US" sz="1500" dirty="0">
                <a:solidFill>
                  <a:srgbClr val="5F6368"/>
                </a:solidFill>
                <a:latin typeface="Arial" panose="020B0704020202020204" pitchFamily="34" charset="0"/>
                <a:ea typeface="Arial" panose="020B0704020202020204" pitchFamily="34" charset="-122"/>
                <a:cs typeface="Arial" panose="020B0704020202020204" pitchFamily="34" charset="-120"/>
              </a:rPr>
              <a:t>   two-way time · site: </a:t>
            </a:r>
            <a:r>
              <a:rPr lang="en-US" sz="1500" b="1" dirty="0">
                <a:solidFill>
                  <a:srgbClr val="0B4A9E"/>
                </a:solidFill>
                <a:latin typeface="Arial" panose="020B0704020202020204" pitchFamily="34" charset="0"/>
                <a:ea typeface="Arial" panose="020B0704020202020204" pitchFamily="34" charset="-122"/>
                <a:cs typeface="Arial" panose="020B0704020202020204" pitchFamily="34" charset="-120"/>
              </a:rPr>
              <a:t>0.12 concrete | 0.10 soil (m/ns)</a:t>
            </a:r>
            <a:endParaRPr lang="en-US" sz="1500" dirty="0"/>
          </a:p>
        </p:txBody>
      </p:sp>
      <p:sp>
        <p:nvSpPr>
          <p:cNvPr id="8" name="Text 5"/>
          <p:cNvSpPr txBox="1"/>
          <p:nvPr/>
        </p:nvSpPr>
        <p:spPr>
          <a:xfrm>
            <a:off x="7680960" y="1234440"/>
            <a:ext cx="4023360" cy="365760"/>
          </a:xfrm>
          <a:prstGeom prst="rect">
            <a:avLst/>
          </a:prstGeom>
          <a:noFill/>
        </p:spPr>
        <p:txBody>
          <a:bodyPr wrap="square" lIns="0" tIns="0" rIns="0" bIns="0" rtlCol="0" anchor="t"/>
          <a:lstStyle/>
          <a:p>
            <a:pPr marL="0" indent="0">
              <a:buNone/>
            </a:pPr>
            <a:r>
              <a:rPr lang="en-US" sz="1800" b="1" dirty="0">
                <a:solidFill>
                  <a:srgbClr val="0B4A9E"/>
                </a:solidFill>
                <a:latin typeface="Arial" panose="020B0704020202020204" pitchFamily="34" charset="0"/>
                <a:ea typeface="Arial" panose="020B0704020202020204" pitchFamily="34" charset="-122"/>
                <a:cs typeface="Arial" panose="020B0704020202020204" pitchFamily="34" charset="-120"/>
              </a:rPr>
              <a:t>RD7000 · electromagnetic locator</a:t>
            </a:r>
            <a:endParaRPr lang="en-US" sz="1800" dirty="0"/>
          </a:p>
        </p:txBody>
      </p:sp>
      <p:sp>
        <p:nvSpPr>
          <p:cNvPr id="9" name="Text 6"/>
          <p:cNvSpPr txBox="1"/>
          <p:nvPr/>
        </p:nvSpPr>
        <p:spPr>
          <a:xfrm>
            <a:off x="7680960" y="1645920"/>
            <a:ext cx="4023360" cy="292608"/>
          </a:xfrm>
          <a:prstGeom prst="rect">
            <a:avLst/>
          </a:prstGeom>
          <a:noFill/>
        </p:spPr>
        <p:txBody>
          <a:bodyPr wrap="square" lIns="0" tIns="0" rIns="0" bIns="0" rtlCol="0" anchor="t"/>
          <a:lstStyle/>
          <a:p>
            <a:pPr marL="0" indent="0">
              <a:buNone/>
            </a:pPr>
            <a:r>
              <a:rPr lang="en-US" sz="1300" b="1" dirty="0">
                <a:solidFill>
                  <a:srgbClr val="5F6368"/>
                </a:solidFill>
                <a:latin typeface="Arial" panose="020B0704020202020204" pitchFamily="34" charset="0"/>
                <a:ea typeface="Arial" panose="020B0704020202020204" pitchFamily="34" charset="-122"/>
                <a:cs typeface="Arial" panose="020B0704020202020204" pitchFamily="34" charset="-120"/>
              </a:rPr>
              <a:t>AC current  →  induced magnetic field  →  coils</a:t>
            </a:r>
            <a:endParaRPr lang="en-US" sz="1300" dirty="0"/>
          </a:p>
        </p:txBody>
      </p:sp>
      <p:pic>
        <p:nvPicPr>
          <p:cNvPr id="10" name="Image 1" descr="Magnetic field around a current-carrying cable and the peak and null responses of the receiver"/>
          <p:cNvPicPr>
            <a:picLocks noChangeAspect="1"/>
          </p:cNvPicPr>
          <p:nvPr/>
        </p:nvPicPr>
        <p:blipFill>
          <a:blip r:embed="rId2"/>
          <a:stretch>
            <a:fillRect/>
          </a:stretch>
        </p:blipFill>
        <p:spPr>
          <a:xfrm>
            <a:off x="7680960" y="2057400"/>
            <a:ext cx="3931920" cy="2926080"/>
          </a:xfrm>
          <a:prstGeom prst="rect">
            <a:avLst/>
          </a:prstGeom>
        </p:spPr>
      </p:pic>
      <p:sp>
        <p:nvSpPr>
          <p:cNvPr id="11" name="Shape 7"/>
          <p:cNvSpPr/>
          <p:nvPr/>
        </p:nvSpPr>
        <p:spPr>
          <a:xfrm>
            <a:off x="7680960" y="5120640"/>
            <a:ext cx="3931920" cy="914400"/>
          </a:xfrm>
          <a:prstGeom prst="roundRect">
            <a:avLst>
              <a:gd name="adj" fmla="val 8000"/>
            </a:avLst>
          </a:prstGeom>
          <a:solidFill>
            <a:srgbClr val="EEF3FA"/>
          </a:solidFill>
          <a:ln w="12700">
            <a:solidFill>
              <a:srgbClr val="EEF3FA"/>
            </a:solidFill>
            <a:prstDash val="solid"/>
          </a:ln>
        </p:spPr>
      </p:sp>
      <p:sp>
        <p:nvSpPr>
          <p:cNvPr id="12" name="Text 8"/>
          <p:cNvSpPr txBox="1"/>
          <p:nvPr/>
        </p:nvSpPr>
        <p:spPr>
          <a:xfrm>
            <a:off x="7863840" y="5230368"/>
            <a:ext cx="3611880" cy="731520"/>
          </a:xfrm>
          <a:prstGeom prst="rect">
            <a:avLst/>
          </a:prstGeom>
          <a:noFill/>
        </p:spPr>
        <p:txBody>
          <a:bodyPr wrap="square" lIns="0" tIns="0" rIns="0" bIns="0" rtlCol="0" anchor="t"/>
          <a:lstStyle/>
          <a:p>
            <a:pPr marL="0" indent="0">
              <a:spcAft>
                <a:spcPts val="400"/>
              </a:spcAft>
              <a:buNone/>
            </a:pPr>
            <a:r>
              <a:rPr lang="en-US" sz="1400" b="1" dirty="0">
                <a:solidFill>
                  <a:srgbClr val="1B1B1D"/>
                </a:solidFill>
                <a:latin typeface="Arial" panose="020B0704020202020204" pitchFamily="34" charset="0"/>
                <a:ea typeface="Arial" panose="020B0704020202020204" pitchFamily="34" charset="-122"/>
                <a:cs typeface="Arial" panose="020B0704020202020204" pitchFamily="34" charset="-120"/>
              </a:rPr>
              <a:t>Finds metallic lines only</a:t>
            </a:r>
            <a:endParaRPr lang="en-US" sz="1400" dirty="0"/>
          </a:p>
          <a:p>
            <a:pPr marL="0" indent="0">
              <a:spcAft>
                <a:spcPts val="400"/>
              </a:spcAft>
              <a:buNone/>
            </a:pPr>
            <a:r>
              <a:rPr lang="en-US" sz="1400" dirty="0">
                <a:solidFill>
                  <a:srgbClr val="5F6368"/>
                </a:solidFill>
                <a:latin typeface="Arial" panose="020B0704020202020204" pitchFamily="34" charset="0"/>
                <a:ea typeface="Arial" panose="020B0704020202020204" pitchFamily="34" charset="-122"/>
                <a:cs typeface="Arial" panose="020B0704020202020204" pitchFamily="34" charset="-120"/>
              </a:rPr>
              <a:t>plastic pipes are invisible → GPR needed</a:t>
            </a:r>
            <a:endParaRPr lang="en-US" sz="1400" dirty="0"/>
          </a:p>
        </p:txBody>
      </p:sp>
      <p:sp>
        <p:nvSpPr>
          <p:cNvPr id="13" name="Text 9"/>
          <p:cNvSpPr txBox="1"/>
          <p:nvPr/>
        </p:nvSpPr>
        <p:spPr>
          <a:xfrm>
            <a:off x="548640" y="6144768"/>
            <a:ext cx="11064240" cy="237744"/>
          </a:xfrm>
          <a:prstGeom prst="rect">
            <a:avLst/>
          </a:prstGeom>
          <a:noFill/>
        </p:spPr>
        <p:txBody>
          <a:bodyPr wrap="square" lIns="0" tIns="0" rIns="0" bIns="0" rtlCol="0" anchor="t"/>
          <a:lstStyle/>
          <a:p>
            <a:pPr marL="0" indent="0">
              <a:buNone/>
            </a:pPr>
            <a:r>
              <a:rPr lang="en-US" sz="1000" dirty="0">
                <a:solidFill>
                  <a:srgbClr val="5F6368"/>
                </a:solidFill>
                <a:latin typeface="Arial" panose="020B0704020202020204" pitchFamily="34" charset="0"/>
                <a:ea typeface="Arial" panose="020B0704020202020204" pitchFamily="34" charset="-122"/>
                <a:cs typeface="Arial" panose="020B0704020202020204" pitchFamily="34" charset="-120"/>
              </a:rPr>
              <a:t>Daniels (2004), Ground Penetrating Radar, 2nd ed. · Jol (2009) · Radiodetection RD7000+ manual</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p:spPr>
        <p:txBody>
          <a:bodyPr/>
          <a:lstStyle>
            <a:lvl1pPr>
              <a:defRPr sz="1000">
                <a:solidFill>
                  <a:srgbClr val="5F6368"/>
                </a:solidFill>
                <a:latin typeface="Arial" panose="020B0704020202020204"/>
                <a:ea typeface="Arial" panose="020B0704020202020204"/>
                <a:cs typeface="Arial" panose="020B0704020202020204"/>
              </a:defRPr>
            </a:lvl1pPr>
          </a:lstStyle>
          <a:p>
            <a:pPr algn="r"/>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10058400" cy="731520"/>
          </a:xfrm>
          <a:prstGeom prst="rect">
            <a:avLst/>
          </a:prstGeom>
          <a:noFill/>
        </p:spPr>
        <p:txBody>
          <a:bodyPr wrap="square" lIns="0" tIns="0" rIns="0" bIns="0" rtlCol="0" anchor="ctr"/>
          <a:lstStyle/>
          <a:p>
            <a:pPr marL="0" indent="0" algn="l">
              <a:buNone/>
            </a:pPr>
            <a:r>
              <a:rPr lang="en-US" sz="2800" b="1" dirty="0">
                <a:solidFill>
                  <a:srgbClr val="0B4A9E"/>
                </a:solidFill>
                <a:latin typeface="Arial" panose="020B0704020202020204" pitchFamily="34" charset="0"/>
                <a:ea typeface="Arial" panose="020B0704020202020204" pitchFamily="34" charset="-122"/>
                <a:cs typeface="Arial" panose="020B0704020202020204" pitchFamily="34" charset="-120"/>
              </a:rPr>
              <a:t>We scanned a 10 m × 3.5 m grid with 9 lines</a:t>
            </a:r>
            <a:endParaRPr lang="en-US" sz="2800" dirty="0"/>
          </a:p>
        </p:txBody>
      </p:sp>
      <p:pic>
        <p:nvPicPr>
          <p:cNvPr id="3" name="Image 0" descr="Top view of the courtyard with survey lines C1–C4 and N1–N5"/>
          <p:cNvPicPr>
            <a:picLocks noChangeAspect="1"/>
          </p:cNvPicPr>
          <p:nvPr/>
        </p:nvPicPr>
        <p:blipFill>
          <a:blip r:embed="rId1"/>
          <a:stretch>
            <a:fillRect/>
          </a:stretch>
        </p:blipFill>
        <p:spPr>
          <a:xfrm>
            <a:off x="548640" y="1234440"/>
            <a:ext cx="4059936" cy="4754880"/>
          </a:xfrm>
          <a:prstGeom prst="rect">
            <a:avLst/>
          </a:prstGeom>
        </p:spPr>
      </p:pic>
      <p:sp>
        <p:nvSpPr>
          <p:cNvPr id="4" name="Text 1"/>
          <p:cNvSpPr txBox="1"/>
          <p:nvPr/>
        </p:nvSpPr>
        <p:spPr>
          <a:xfrm>
            <a:off x="548640" y="6035040"/>
            <a:ext cx="4206240" cy="384048"/>
          </a:xfrm>
          <a:prstGeom prst="rect">
            <a:avLst/>
          </a:prstGeom>
          <a:noFill/>
        </p:spPr>
        <p:txBody>
          <a:bodyPr wrap="square" lIns="0" tIns="0" rIns="0" bIns="0" rtlCol="0" anchor="t"/>
          <a:lstStyle/>
          <a:p>
            <a:pPr marL="0" indent="0">
              <a:buNone/>
            </a:pPr>
            <a:r>
              <a:rPr lang="en-US" sz="1100" b="1" dirty="0">
                <a:solidFill>
                  <a:srgbClr val="B98900"/>
                </a:solidFill>
                <a:latin typeface="Arial" panose="020B0704020202020204" pitchFamily="34" charset="0"/>
                <a:ea typeface="Arial" panose="020B0704020202020204" pitchFamily="34" charset="-122"/>
                <a:cs typeface="Arial" panose="020B0704020202020204" pitchFamily="34" charset="-120"/>
              </a:rPr>
              <a:t>C1–C4</a:t>
            </a:r>
            <a:r>
              <a:rPr lang="en-US" sz="1100" dirty="0">
                <a:solidFill>
                  <a:srgbClr val="1B1B1D"/>
                </a:solidFill>
                <a:latin typeface="Arial" panose="020B0704020202020204" pitchFamily="34" charset="0"/>
                <a:ea typeface="Arial" panose="020B0704020202020204" pitchFamily="34" charset="-122"/>
                <a:cs typeface="Arial" panose="020B0704020202020204" pitchFamily="34" charset="-120"/>
              </a:rPr>
              <a:t> along the road, 1 m apart → cable</a:t>
            </a:r>
            <a:endParaRPr lang="en-US" sz="1100" dirty="0"/>
          </a:p>
          <a:p>
            <a:pPr marL="0" indent="0">
              <a:buNone/>
            </a:pPr>
            <a:r>
              <a:rPr lang="en-US" sz="1100" b="1" dirty="0">
                <a:solidFill>
                  <a:srgbClr val="1E8E3E"/>
                </a:solidFill>
                <a:latin typeface="Arial" panose="020B0704020202020204" pitchFamily="34" charset="0"/>
                <a:ea typeface="Arial" panose="020B0704020202020204" pitchFamily="34" charset="-122"/>
                <a:cs typeface="Arial" panose="020B0704020202020204" pitchFamily="34" charset="-120"/>
              </a:rPr>
              <a:t>N1–N5</a:t>
            </a:r>
            <a:r>
              <a:rPr lang="en-US" sz="1100" dirty="0">
                <a:solidFill>
                  <a:srgbClr val="1B1B1D"/>
                </a:solidFill>
                <a:latin typeface="Arial" panose="020B0704020202020204" pitchFamily="34" charset="0"/>
                <a:ea typeface="Arial" panose="020B0704020202020204" pitchFamily="34" charset="-122"/>
                <a:cs typeface="Arial" panose="020B0704020202020204" pitchFamily="34" charset="-120"/>
              </a:rPr>
              <a:t> across the road, ~0.8 m apart → pipe</a:t>
            </a:r>
            <a:endParaRPr lang="en-US" sz="1100" dirty="0"/>
          </a:p>
        </p:txBody>
      </p:sp>
      <p:pic>
        <p:nvPicPr>
          <p:cNvPr id="5" name="Image 1" descr="Measuring tape and chalk marks on the asphalt"/>
          <p:cNvPicPr>
            <a:picLocks noChangeAspect="1"/>
          </p:cNvPicPr>
          <p:nvPr/>
        </p:nvPicPr>
        <p:blipFill>
          <a:blip r:embed="rId2"/>
          <a:stretch>
            <a:fillRect/>
          </a:stretch>
        </p:blipFill>
        <p:spPr>
          <a:xfrm>
            <a:off x="5074920" y="1234440"/>
            <a:ext cx="3108960" cy="2331720"/>
          </a:xfrm>
          <a:prstGeom prst="rect">
            <a:avLst/>
          </a:prstGeom>
        </p:spPr>
      </p:pic>
      <p:sp>
        <p:nvSpPr>
          <p:cNvPr id="6" name="Text 2"/>
          <p:cNvSpPr txBox="1"/>
          <p:nvPr/>
        </p:nvSpPr>
        <p:spPr>
          <a:xfrm>
            <a:off x="5184648" y="1344168"/>
            <a:ext cx="2057400" cy="365760"/>
          </a:xfrm>
          <a:prstGeom prst="roundRect">
            <a:avLst>
              <a:gd name="adj" fmla="val 20000"/>
            </a:avLst>
          </a:prstGeom>
          <a:solidFill>
            <a:srgbClr val="0B4A9E">
              <a:alpha val="90000"/>
            </a:srgbClr>
          </a:solidFill>
        </p:spPr>
        <p:txBody>
          <a:bodyPr wrap="square" lIns="0" tIns="0" rIns="0" bIns="0" rtlCol="0" anchor="ctr"/>
          <a:lstStyle/>
          <a:p>
            <a:pPr marL="0" indent="0" algn="ctr">
              <a:buNone/>
            </a:pPr>
            <a:r>
              <a:rPr lang="en-US" sz="1400" b="1" dirty="0">
                <a:solidFill>
                  <a:srgbClr val="FFFFFF"/>
                </a:solidFill>
                <a:latin typeface="Arial" panose="020B0704020202020204" pitchFamily="34" charset="0"/>
                <a:ea typeface="Arial" panose="020B0704020202020204" pitchFamily="34" charset="-122"/>
                <a:cs typeface="Arial" panose="020B0704020202020204" pitchFamily="34" charset="-120"/>
              </a:rPr>
              <a:t>1  Mark the grid</a:t>
            </a:r>
            <a:endParaRPr lang="en-US" sz="1400" dirty="0"/>
          </a:p>
        </p:txBody>
      </p:sp>
      <p:pic>
        <p:nvPicPr>
          <p:cNvPr id="7" name="Image 2" descr="Assembling the dual-antenna GPR cart"/>
          <p:cNvPicPr>
            <a:picLocks noChangeAspect="1"/>
          </p:cNvPicPr>
          <p:nvPr/>
        </p:nvPicPr>
        <p:blipFill>
          <a:blip r:embed="rId3"/>
          <a:stretch>
            <a:fillRect/>
          </a:stretch>
        </p:blipFill>
        <p:spPr>
          <a:xfrm>
            <a:off x="8366760" y="1234440"/>
            <a:ext cx="3108960" cy="2331720"/>
          </a:xfrm>
          <a:prstGeom prst="rect">
            <a:avLst/>
          </a:prstGeom>
        </p:spPr>
      </p:pic>
      <p:sp>
        <p:nvSpPr>
          <p:cNvPr id="8" name="Text 3"/>
          <p:cNvSpPr txBox="1"/>
          <p:nvPr/>
        </p:nvSpPr>
        <p:spPr>
          <a:xfrm>
            <a:off x="8476488" y="1344168"/>
            <a:ext cx="2057400" cy="365760"/>
          </a:xfrm>
          <a:prstGeom prst="roundRect">
            <a:avLst>
              <a:gd name="adj" fmla="val 20000"/>
            </a:avLst>
          </a:prstGeom>
          <a:solidFill>
            <a:srgbClr val="0B4A9E">
              <a:alpha val="90000"/>
            </a:srgbClr>
          </a:solidFill>
        </p:spPr>
        <p:txBody>
          <a:bodyPr wrap="square" lIns="0" tIns="0" rIns="0" bIns="0" rtlCol="0" anchor="ctr"/>
          <a:lstStyle/>
          <a:p>
            <a:pPr marL="0" indent="0" algn="ctr">
              <a:buNone/>
            </a:pPr>
            <a:r>
              <a:rPr lang="en-US" sz="1400" b="1" dirty="0">
                <a:solidFill>
                  <a:srgbClr val="FFFFFF"/>
                </a:solidFill>
                <a:latin typeface="Arial" panose="020B0704020202020204" pitchFamily="34" charset="0"/>
                <a:ea typeface="Arial" panose="020B0704020202020204" pitchFamily="34" charset="-122"/>
                <a:cs typeface="Arial" panose="020B0704020202020204" pitchFamily="34" charset="-120"/>
              </a:rPr>
              <a:t>2  Set up the radar</a:t>
            </a:r>
            <a:endParaRPr lang="en-US" sz="1400" dirty="0"/>
          </a:p>
        </p:txBody>
      </p:sp>
      <p:pic>
        <p:nvPicPr>
          <p:cNvPr id="9" name="Image 3" descr="Pushing the GPR cart along one survey line"/>
          <p:cNvPicPr>
            <a:picLocks noChangeAspect="1"/>
          </p:cNvPicPr>
          <p:nvPr/>
        </p:nvPicPr>
        <p:blipFill>
          <a:blip r:embed="rId4"/>
          <a:stretch>
            <a:fillRect/>
          </a:stretch>
        </p:blipFill>
        <p:spPr>
          <a:xfrm>
            <a:off x="5074920" y="3703320"/>
            <a:ext cx="3108960" cy="2331720"/>
          </a:xfrm>
          <a:prstGeom prst="rect">
            <a:avLst/>
          </a:prstGeom>
        </p:spPr>
      </p:pic>
      <p:sp>
        <p:nvSpPr>
          <p:cNvPr id="10" name="Text 4"/>
          <p:cNvSpPr txBox="1"/>
          <p:nvPr/>
        </p:nvSpPr>
        <p:spPr>
          <a:xfrm>
            <a:off x="5184648" y="3813048"/>
            <a:ext cx="2057400" cy="365760"/>
          </a:xfrm>
          <a:prstGeom prst="roundRect">
            <a:avLst>
              <a:gd name="adj" fmla="val 20000"/>
            </a:avLst>
          </a:prstGeom>
          <a:solidFill>
            <a:srgbClr val="0B4A9E">
              <a:alpha val="90000"/>
            </a:srgbClr>
          </a:solidFill>
        </p:spPr>
        <p:txBody>
          <a:bodyPr wrap="square" lIns="0" tIns="0" rIns="0" bIns="0" rtlCol="0" anchor="ctr"/>
          <a:lstStyle/>
          <a:p>
            <a:pPr marL="0" indent="0" algn="ctr">
              <a:buNone/>
            </a:pPr>
            <a:r>
              <a:rPr lang="en-US" sz="1400" b="1" dirty="0">
                <a:solidFill>
                  <a:srgbClr val="FFFFFF"/>
                </a:solidFill>
                <a:latin typeface="Arial" panose="020B0704020202020204" pitchFamily="34" charset="0"/>
                <a:ea typeface="Arial" panose="020B0704020202020204" pitchFamily="34" charset="-122"/>
                <a:cs typeface="Arial" panose="020B0704020202020204" pitchFamily="34" charset="-120"/>
              </a:rPr>
              <a:t>3  Scan each line</a:t>
            </a:r>
            <a:endParaRPr lang="en-US" sz="1400" dirty="0"/>
          </a:p>
        </p:txBody>
      </p:sp>
      <p:pic>
        <p:nvPicPr>
          <p:cNvPr id="11" name="Image 4" descr="Checking the radargram on the laptop in the field"/>
          <p:cNvPicPr>
            <a:picLocks noChangeAspect="1"/>
          </p:cNvPicPr>
          <p:nvPr/>
        </p:nvPicPr>
        <p:blipFill>
          <a:blip r:embed="rId5"/>
          <a:stretch>
            <a:fillRect/>
          </a:stretch>
        </p:blipFill>
        <p:spPr>
          <a:xfrm>
            <a:off x="8366760" y="3703320"/>
            <a:ext cx="3108960" cy="2331720"/>
          </a:xfrm>
          <a:prstGeom prst="rect">
            <a:avLst/>
          </a:prstGeom>
        </p:spPr>
      </p:pic>
      <p:sp>
        <p:nvSpPr>
          <p:cNvPr id="12" name="Text 5"/>
          <p:cNvSpPr txBox="1"/>
          <p:nvPr/>
        </p:nvSpPr>
        <p:spPr>
          <a:xfrm>
            <a:off x="8476488" y="3813048"/>
            <a:ext cx="2057400" cy="365760"/>
          </a:xfrm>
          <a:prstGeom prst="roundRect">
            <a:avLst>
              <a:gd name="adj" fmla="val 20000"/>
            </a:avLst>
          </a:prstGeom>
          <a:solidFill>
            <a:srgbClr val="0B4A9E">
              <a:alpha val="90000"/>
            </a:srgbClr>
          </a:solidFill>
        </p:spPr>
        <p:txBody>
          <a:bodyPr wrap="square" lIns="0" tIns="0" rIns="0" bIns="0" rtlCol="0" anchor="ctr"/>
          <a:lstStyle/>
          <a:p>
            <a:pPr marL="0" indent="0" algn="ctr">
              <a:buNone/>
            </a:pPr>
            <a:r>
              <a:rPr lang="en-US" sz="1400" b="1" dirty="0">
                <a:solidFill>
                  <a:srgbClr val="FFFFFF"/>
                </a:solidFill>
                <a:latin typeface="Arial" panose="020B0704020202020204" pitchFamily="34" charset="0"/>
                <a:ea typeface="Arial" panose="020B0704020202020204" pitchFamily="34" charset="-122"/>
                <a:cs typeface="Arial" panose="020B0704020202020204" pitchFamily="34" charset="-120"/>
              </a:rPr>
              <a:t>4  Check data on site</a:t>
            </a:r>
            <a:endParaRPr lang="en-US" sz="1400" dirty="0"/>
          </a:p>
        </p:txBody>
      </p:sp>
      <p:sp>
        <p:nvSpPr>
          <p:cNvPr id="13" name="Text 6"/>
          <p:cNvSpPr txBox="1"/>
          <p:nvPr/>
        </p:nvSpPr>
        <p:spPr>
          <a:xfrm>
            <a:off x="5074920" y="6217920"/>
            <a:ext cx="6537960" cy="228600"/>
          </a:xfrm>
          <a:prstGeom prst="rect">
            <a:avLst/>
          </a:prstGeom>
          <a:noFill/>
        </p:spPr>
        <p:txBody>
          <a:bodyPr wrap="square" lIns="0" tIns="0" rIns="0" bIns="0" rtlCol="0" anchor="t"/>
          <a:lstStyle/>
          <a:p>
            <a:pPr marL="0" indent="0">
              <a:buNone/>
            </a:pPr>
            <a:r>
              <a:rPr lang="en-US" sz="1100" dirty="0">
                <a:solidFill>
                  <a:srgbClr val="5F6368"/>
                </a:solidFill>
                <a:latin typeface="Arial" panose="020B0704020202020204" pitchFamily="34" charset="0"/>
                <a:ea typeface="Arial" panose="020B0704020202020204" pitchFamily="34" charset="-122"/>
                <a:cs typeface="Arial" panose="020B0704020202020204" pitchFamily="34" charset="-120"/>
              </a:rPr>
              <a:t>IDS Detector Duo · 250 + 700 MHz antennas · one trace every 2.78 cm · 10 scans (incl. 1 repeat of N5)</a:t>
            </a:r>
            <a:endParaRPr lang="en-US" sz="1100" dirty="0"/>
          </a:p>
        </p:txBody>
      </p:sp>
      <p:sp>
        <p:nvSpPr>
          <p:cNvPr id="25" name="Slide Number Placeholder 0"/>
          <p:cNvSpPr>
            <a:spLocks noGrp="1"/>
          </p:cNvSpPr>
          <p:nvPr>
            <p:ph type="sldNum" sz="quarter" idx="4294967295"/>
          </p:nvPr>
        </p:nvSpPr>
        <p:spPr>
          <a:xfrm>
            <a:off x="11155680" y="6419088"/>
            <a:ext cx="457200" cy="256032"/>
          </a:xfrm>
          <a:prstGeom prst="rect">
            <a:avLst/>
          </a:prstGeom>
        </p:spPr>
        <p:txBody>
          <a:bodyPr/>
          <a:lstStyle>
            <a:lvl1pPr>
              <a:defRPr sz="1000">
                <a:solidFill>
                  <a:srgbClr val="5F6368"/>
                </a:solidFill>
                <a:latin typeface="Arial" panose="020B0704020202020204"/>
                <a:ea typeface="Arial" panose="020B0704020202020204"/>
                <a:cs typeface="Arial" panose="020B0704020202020204"/>
              </a:defRPr>
            </a:lvl1pPr>
          </a:lstStyle>
          <a:p>
            <a:pPr algn="r"/>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10058400" cy="731520"/>
          </a:xfrm>
          <a:prstGeom prst="rect">
            <a:avLst/>
          </a:prstGeom>
          <a:noFill/>
        </p:spPr>
        <p:txBody>
          <a:bodyPr wrap="square" lIns="0" tIns="0" rIns="0" bIns="0" rtlCol="0" anchor="ctr"/>
          <a:lstStyle/>
          <a:p>
            <a:pPr marL="0" indent="0" algn="l">
              <a:buNone/>
            </a:pPr>
            <a:r>
              <a:rPr lang="en-US" sz="2800" b="1" dirty="0">
                <a:solidFill>
                  <a:srgbClr val="0B4A9E"/>
                </a:solidFill>
                <a:latin typeface="Arial" panose="020B0704020202020204" pitchFamily="34" charset="0"/>
                <a:ea typeface="Arial" panose="020B0704020202020204" pitchFamily="34" charset="-122"/>
                <a:cs typeface="Arial" panose="020B0704020202020204" pitchFamily="34" charset="-120"/>
              </a:rPr>
              <a:t>Processing reveals the hidden hyperbola</a:t>
            </a:r>
            <a:endParaRPr lang="en-US" sz="2800" dirty="0"/>
          </a:p>
        </p:txBody>
      </p:sp>
      <p:pic>
        <p:nvPicPr>
          <p:cNvPr id="3" name="Image 0" descr="Raw and processed radargram of line N5, with the processing chain and the fitted hyperbola of the water pipe"/>
          <p:cNvPicPr>
            <a:picLocks noChangeAspect="1"/>
          </p:cNvPicPr>
          <p:nvPr/>
        </p:nvPicPr>
        <p:blipFill>
          <a:blip r:embed="rId1"/>
          <a:stretch>
            <a:fillRect/>
          </a:stretch>
        </p:blipFill>
        <p:spPr>
          <a:xfrm>
            <a:off x="1554480" y="1143000"/>
            <a:ext cx="9079992" cy="5102352"/>
          </a:xfrm>
          <a:prstGeom prst="rect">
            <a:avLst/>
          </a:prstGeom>
        </p:spPr>
      </p:pic>
      <p:sp>
        <p:nvSpPr>
          <p:cNvPr id="25" name="Slide Number Placeholder 0"/>
          <p:cNvSpPr>
            <a:spLocks noGrp="1"/>
          </p:cNvSpPr>
          <p:nvPr>
            <p:ph type="sldNum" sz="quarter" idx="4294967295"/>
          </p:nvPr>
        </p:nvSpPr>
        <p:spPr>
          <a:xfrm>
            <a:off x="11155680" y="6419088"/>
            <a:ext cx="457200" cy="256032"/>
          </a:xfrm>
          <a:prstGeom prst="rect">
            <a:avLst/>
          </a:prstGeom>
        </p:spPr>
        <p:txBody>
          <a:bodyPr/>
          <a:lstStyle>
            <a:lvl1pPr>
              <a:defRPr sz="1000">
                <a:solidFill>
                  <a:srgbClr val="5F6368"/>
                </a:solidFill>
                <a:latin typeface="Arial" panose="020B0704020202020204"/>
                <a:ea typeface="Arial" panose="020B0704020202020204"/>
                <a:cs typeface="Arial" panose="020B0704020202020204"/>
              </a:defRPr>
            </a:lvl1pPr>
          </a:lstStyle>
          <a:p>
            <a:pPr algn="r"/>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10058400" cy="731520"/>
          </a:xfrm>
          <a:prstGeom prst="rect">
            <a:avLst/>
          </a:prstGeom>
          <a:noFill/>
        </p:spPr>
        <p:txBody>
          <a:bodyPr wrap="square" lIns="0" tIns="0" rIns="0" bIns="0" rtlCol="0" anchor="ctr"/>
          <a:lstStyle/>
          <a:p>
            <a:pPr marL="0" indent="0" algn="l">
              <a:buNone/>
            </a:pPr>
            <a:r>
              <a:rPr lang="en-US" sz="2800" b="1" dirty="0">
                <a:solidFill>
                  <a:srgbClr val="0B4A9E"/>
                </a:solidFill>
                <a:latin typeface="Arial" panose="020B0704020202020204" pitchFamily="34" charset="0"/>
                <a:ea typeface="Arial" panose="020B0704020202020204" pitchFamily="34" charset="-122"/>
                <a:cs typeface="Arial" panose="020B0704020202020204" pitchFamily="34" charset="-120"/>
              </a:rPr>
              <a:t>A simple model reproduces the measured hyperbolas</a:t>
            </a:r>
            <a:endParaRPr lang="en-US" sz="2800" dirty="0"/>
          </a:p>
        </p:txBody>
      </p:sp>
      <p:pic>
        <p:nvPicPr>
          <p:cNvPr id="3" name="Image 0" descr="Synthetic radargram of a metal cable and a PVC pipe compared with field lines C1 and N5"/>
          <p:cNvPicPr>
            <a:picLocks noChangeAspect="1"/>
          </p:cNvPicPr>
          <p:nvPr/>
        </p:nvPicPr>
        <p:blipFill>
          <a:blip r:embed="rId1"/>
          <a:stretch>
            <a:fillRect/>
          </a:stretch>
        </p:blipFill>
        <p:spPr>
          <a:xfrm>
            <a:off x="548640" y="1188720"/>
            <a:ext cx="11064240" cy="5038344"/>
          </a:xfrm>
          <a:prstGeom prst="rect">
            <a:avLst/>
          </a:prstGeom>
        </p:spPr>
      </p:pic>
      <p:sp>
        <p:nvSpPr>
          <p:cNvPr id="25" name="Slide Number Placeholder 0"/>
          <p:cNvSpPr>
            <a:spLocks noGrp="1"/>
          </p:cNvSpPr>
          <p:nvPr>
            <p:ph type="sldNum" sz="quarter" idx="4294967295"/>
          </p:nvPr>
        </p:nvSpPr>
        <p:spPr>
          <a:xfrm>
            <a:off x="11155680" y="6419088"/>
            <a:ext cx="457200" cy="256032"/>
          </a:xfrm>
          <a:prstGeom prst="rect">
            <a:avLst/>
          </a:prstGeom>
        </p:spPr>
        <p:txBody>
          <a:bodyPr/>
          <a:lstStyle>
            <a:lvl1pPr>
              <a:defRPr sz="1000">
                <a:solidFill>
                  <a:srgbClr val="5F6368"/>
                </a:solidFill>
                <a:latin typeface="Arial" panose="020B0704020202020204"/>
                <a:ea typeface="Arial" panose="020B0704020202020204"/>
                <a:cs typeface="Arial" panose="020B0704020202020204"/>
              </a:defRPr>
            </a:lvl1pPr>
          </a:lstStyle>
          <a:p>
            <a:pPr algn="r"/>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GPR sections over the cable: line C1 with anomaly P1 and anomalies O1–O3, line C3 with P1 and O5, line C1 after migration, apparent size of the target, and a small map of the survey lines"/>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10058400" cy="731520"/>
          </a:xfrm>
          <a:prstGeom prst="rect">
            <a:avLst/>
          </a:prstGeom>
          <a:noFill/>
        </p:spPr>
        <p:txBody>
          <a:bodyPr wrap="square" lIns="0" tIns="0" rIns="0" bIns="0" rtlCol="0" anchor="ctr"/>
          <a:lstStyle/>
          <a:p>
            <a:pPr marL="0" indent="0" algn="l">
              <a:buNone/>
            </a:pPr>
            <a:r>
              <a:rPr lang="en-US" sz="2800" b="1" dirty="0">
                <a:solidFill>
                  <a:srgbClr val="0B4A9E"/>
                </a:solidFill>
                <a:latin typeface="Arial" panose="020B0704020202020204" pitchFamily="34" charset="0"/>
                <a:ea typeface="Arial" panose="020B0704020202020204" pitchFamily="34" charset="-122"/>
                <a:cs typeface="Arial" panose="020B0704020202020204" pitchFamily="34" charset="-120"/>
              </a:rPr>
              <a:t>Four aligned anomalies trace one buried cable</a:t>
            </a:r>
            <a:endParaRPr lang="en-US" sz="2800" dirty="0"/>
          </a:p>
        </p:txBody>
      </p:sp>
      <p:pic>
        <p:nvPicPr>
          <p:cNvPr id="3" name="Image 0" descr="Radargrams of parallel lines C1, C2, C3 and C4 (250 MHz) drawn on the same position axis. Anomaly P1 sits at 2.5 m along the road on every line, at depths 0.65, 0.45, 0.46 and 0.43 m; a dashed orange vertical line joins the four hyperbola apexes."/>
          <p:cNvPicPr>
            <a:picLocks noChangeAspect="1"/>
          </p:cNvPicPr>
          <p:nvPr/>
        </p:nvPicPr>
        <p:blipFill>
          <a:blip r:embed="rId1"/>
          <a:stretch>
            <a:fillRect/>
          </a:stretch>
        </p:blipFill>
        <p:spPr>
          <a:xfrm>
            <a:off x="548640" y="1188720"/>
            <a:ext cx="5797296" cy="4800600"/>
          </a:xfrm>
          <a:prstGeom prst="rect">
            <a:avLst/>
          </a:prstGeom>
        </p:spPr>
      </p:pic>
      <p:sp>
        <p:nvSpPr>
          <p:cNvPr id="4" name="Text 1"/>
          <p:cNvSpPr txBox="1"/>
          <p:nvPr/>
        </p:nvSpPr>
        <p:spPr>
          <a:xfrm>
            <a:off x="7269480" y="1188720"/>
            <a:ext cx="4343400" cy="320040"/>
          </a:xfrm>
          <a:prstGeom prst="rect">
            <a:avLst/>
          </a:prstGeom>
          <a:noFill/>
        </p:spPr>
        <p:txBody>
          <a:bodyPr wrap="square" lIns="0" tIns="0" rIns="0" bIns="0" rtlCol="0" anchor="t"/>
          <a:lstStyle/>
          <a:p>
            <a:pPr marL="0" indent="0">
              <a:buNone/>
            </a:pPr>
            <a:r>
              <a:rPr lang="en-US" sz="1400" b="1" dirty="0">
                <a:solidFill>
                  <a:srgbClr val="5F6368"/>
                </a:solidFill>
                <a:latin typeface="Arial" panose="020B0704020202020204" pitchFamily="34" charset="0"/>
                <a:ea typeface="Arial" panose="020B0704020202020204" pitchFamily="34" charset="-122"/>
                <a:cs typeface="Arial" panose="020B0704020202020204" pitchFamily="34" charset="-120"/>
              </a:rPr>
              <a:t>Plan view</a:t>
            </a:r>
            <a:endParaRPr lang="en-US" sz="1400" dirty="0"/>
          </a:p>
        </p:txBody>
      </p:sp>
      <p:pic>
        <p:nvPicPr>
          <p:cNvPr id="5" name="Image 1" descr="Plan view: lines C1 to C4 run parallel 1 m apart, C2 and C4 walked in the opposite direction; the four P1 points fall on one dashed orange line straight across the road, the cable."/>
          <p:cNvPicPr>
            <a:picLocks noChangeAspect="1"/>
          </p:cNvPicPr>
          <p:nvPr/>
        </p:nvPicPr>
        <p:blipFill>
          <a:blip r:embed="rId2"/>
          <a:stretch>
            <a:fillRect/>
          </a:stretch>
        </p:blipFill>
        <p:spPr>
          <a:xfrm>
            <a:off x="7498080" y="1554480"/>
            <a:ext cx="3566160" cy="2185416"/>
          </a:xfrm>
          <a:prstGeom prst="rect">
            <a:avLst/>
          </a:prstGeom>
        </p:spPr>
      </p:pic>
      <p:sp>
        <p:nvSpPr>
          <p:cNvPr id="6" name="Shape 2"/>
          <p:cNvSpPr/>
          <p:nvPr/>
        </p:nvSpPr>
        <p:spPr>
          <a:xfrm>
            <a:off x="7269480" y="3840480"/>
            <a:ext cx="4343400" cy="658368"/>
          </a:xfrm>
          <a:prstGeom prst="roundRect">
            <a:avLst>
              <a:gd name="adj" fmla="val 11111"/>
            </a:avLst>
          </a:prstGeom>
          <a:solidFill>
            <a:srgbClr val="EEF3FA"/>
          </a:solidFill>
          <a:ln w="12700">
            <a:solidFill>
              <a:srgbClr val="EEF3FA"/>
            </a:solidFill>
            <a:prstDash val="solid"/>
          </a:ln>
        </p:spPr>
      </p:sp>
      <p:sp>
        <p:nvSpPr>
          <p:cNvPr id="7" name="Text 3"/>
          <p:cNvSpPr txBox="1"/>
          <p:nvPr/>
        </p:nvSpPr>
        <p:spPr>
          <a:xfrm>
            <a:off x="7452360" y="3840480"/>
            <a:ext cx="1463040" cy="658368"/>
          </a:xfrm>
          <a:prstGeom prst="rect">
            <a:avLst/>
          </a:prstGeom>
          <a:noFill/>
        </p:spPr>
        <p:txBody>
          <a:bodyPr wrap="square" lIns="0" tIns="0" rIns="0" bIns="0" rtlCol="0" anchor="ctr"/>
          <a:lstStyle/>
          <a:p>
            <a:pPr marL="0" indent="0">
              <a:buNone/>
            </a:pPr>
            <a:r>
              <a:rPr lang="en-US" sz="2200" b="1" dirty="0">
                <a:solidFill>
                  <a:srgbClr val="E8590C"/>
                </a:solidFill>
                <a:latin typeface="Arial" panose="020B0704020202020204" pitchFamily="34" charset="0"/>
                <a:ea typeface="Arial" panose="020B0704020202020204" pitchFamily="34" charset="-122"/>
                <a:cs typeface="Arial" panose="020B0704020202020204" pitchFamily="34" charset="-120"/>
              </a:rPr>
              <a:t>4 / 4</a:t>
            </a:r>
            <a:endParaRPr lang="en-US" sz="2200" dirty="0"/>
          </a:p>
        </p:txBody>
      </p:sp>
      <p:sp>
        <p:nvSpPr>
          <p:cNvPr id="8" name="Text 4"/>
          <p:cNvSpPr txBox="1"/>
          <p:nvPr/>
        </p:nvSpPr>
        <p:spPr>
          <a:xfrm>
            <a:off x="9006840" y="3913632"/>
            <a:ext cx="2514600" cy="274320"/>
          </a:xfrm>
          <a:prstGeom prst="rect">
            <a:avLst/>
          </a:prstGeom>
          <a:noFill/>
        </p:spPr>
        <p:txBody>
          <a:bodyPr wrap="square" lIns="0" tIns="0" rIns="0" bIns="0" rtlCol="0" anchor="t"/>
          <a:lstStyle/>
          <a:p>
            <a:pPr marL="0" indent="0">
              <a:buNone/>
            </a:pPr>
            <a:r>
              <a:rPr lang="en-US" sz="1500" b="1" dirty="0">
                <a:solidFill>
                  <a:srgbClr val="1B1B1D"/>
                </a:solidFill>
                <a:latin typeface="Arial" panose="020B0704020202020204" pitchFamily="34" charset="0"/>
                <a:ea typeface="Arial" panose="020B0704020202020204" pitchFamily="34" charset="-122"/>
                <a:cs typeface="Arial" panose="020B0704020202020204" pitchFamily="34" charset="-120"/>
              </a:rPr>
              <a:t>Same echo on every line</a:t>
            </a:r>
            <a:endParaRPr lang="en-US" sz="1500" dirty="0"/>
          </a:p>
        </p:txBody>
      </p:sp>
      <p:sp>
        <p:nvSpPr>
          <p:cNvPr id="9" name="Text 5"/>
          <p:cNvSpPr txBox="1"/>
          <p:nvPr/>
        </p:nvSpPr>
        <p:spPr>
          <a:xfrm>
            <a:off x="9006840" y="4206240"/>
            <a:ext cx="2514600" cy="256032"/>
          </a:xfrm>
          <a:prstGeom prst="rect">
            <a:avLst/>
          </a:prstGeom>
          <a:noFill/>
        </p:spPr>
        <p:txBody>
          <a:bodyPr wrap="square" lIns="0" tIns="0" rIns="0" bIns="0" rtlCol="0" anchor="t"/>
          <a:lstStyle/>
          <a:p>
            <a:pPr marL="0" indent="0">
              <a:buNone/>
            </a:pPr>
            <a:r>
              <a:rPr lang="en-US" sz="1150" dirty="0">
                <a:solidFill>
                  <a:srgbClr val="5F6368"/>
                </a:solidFill>
                <a:latin typeface="Arial" panose="020B0704020202020204" pitchFamily="34" charset="0"/>
                <a:ea typeface="Arial" panose="020B0704020202020204" pitchFamily="34" charset="-122"/>
                <a:cs typeface="Arial" panose="020B0704020202020204" pitchFamily="34" charset="-120"/>
              </a:rPr>
              <a:t>strong, ringing hyperbola → metal</a:t>
            </a:r>
            <a:endParaRPr lang="en-US" sz="1150" dirty="0"/>
          </a:p>
        </p:txBody>
      </p:sp>
      <p:sp>
        <p:nvSpPr>
          <p:cNvPr id="10" name="Shape 6"/>
          <p:cNvSpPr/>
          <p:nvPr/>
        </p:nvSpPr>
        <p:spPr>
          <a:xfrm>
            <a:off x="7269480" y="4590288"/>
            <a:ext cx="4343400" cy="658368"/>
          </a:xfrm>
          <a:prstGeom prst="roundRect">
            <a:avLst>
              <a:gd name="adj" fmla="val 11111"/>
            </a:avLst>
          </a:prstGeom>
          <a:solidFill>
            <a:srgbClr val="EEF3FA"/>
          </a:solidFill>
          <a:ln w="12700">
            <a:solidFill>
              <a:srgbClr val="EEF3FA"/>
            </a:solidFill>
            <a:prstDash val="solid"/>
          </a:ln>
        </p:spPr>
      </p:sp>
      <p:sp>
        <p:nvSpPr>
          <p:cNvPr id="11" name="Text 7"/>
          <p:cNvSpPr txBox="1"/>
          <p:nvPr/>
        </p:nvSpPr>
        <p:spPr>
          <a:xfrm>
            <a:off x="7452360" y="4590288"/>
            <a:ext cx="1463040" cy="658368"/>
          </a:xfrm>
          <a:prstGeom prst="rect">
            <a:avLst/>
          </a:prstGeom>
          <a:noFill/>
        </p:spPr>
        <p:txBody>
          <a:bodyPr wrap="square" lIns="0" tIns="0" rIns="0" bIns="0" rtlCol="0" anchor="ctr"/>
          <a:lstStyle/>
          <a:p>
            <a:pPr marL="0" indent="0">
              <a:buNone/>
            </a:pPr>
            <a:r>
              <a:rPr lang="en-US" sz="2200" b="1" dirty="0">
                <a:solidFill>
                  <a:srgbClr val="E8590C"/>
                </a:solidFill>
                <a:latin typeface="Arial" panose="020B0704020202020204" pitchFamily="34" charset="0"/>
                <a:ea typeface="Arial" panose="020B0704020202020204" pitchFamily="34" charset="-122"/>
                <a:cs typeface="Arial" panose="020B0704020202020204" pitchFamily="34" charset="-120"/>
              </a:rPr>
              <a:t>90°</a:t>
            </a:r>
            <a:endParaRPr lang="en-US" sz="2200" dirty="0"/>
          </a:p>
        </p:txBody>
      </p:sp>
      <p:sp>
        <p:nvSpPr>
          <p:cNvPr id="12" name="Text 8"/>
          <p:cNvSpPr txBox="1"/>
          <p:nvPr/>
        </p:nvSpPr>
        <p:spPr>
          <a:xfrm>
            <a:off x="9006840" y="4663440"/>
            <a:ext cx="2514600" cy="274320"/>
          </a:xfrm>
          <a:prstGeom prst="rect">
            <a:avLst/>
          </a:prstGeom>
          <a:noFill/>
        </p:spPr>
        <p:txBody>
          <a:bodyPr wrap="square" lIns="0" tIns="0" rIns="0" bIns="0" rtlCol="0" anchor="t"/>
          <a:lstStyle/>
          <a:p>
            <a:pPr marL="0" indent="0">
              <a:buNone/>
            </a:pPr>
            <a:r>
              <a:rPr lang="en-US" sz="1500" b="1" dirty="0">
                <a:solidFill>
                  <a:srgbClr val="1B1B1D"/>
                </a:solidFill>
                <a:latin typeface="Arial" panose="020B0704020202020204" pitchFamily="34" charset="0"/>
                <a:ea typeface="Arial" panose="020B0704020202020204" pitchFamily="34" charset="-122"/>
                <a:cs typeface="Arial" panose="020B0704020202020204" pitchFamily="34" charset="-120"/>
              </a:rPr>
              <a:t>Straight across the road</a:t>
            </a:r>
            <a:endParaRPr lang="en-US" sz="1500" dirty="0"/>
          </a:p>
        </p:txBody>
      </p:sp>
      <p:sp>
        <p:nvSpPr>
          <p:cNvPr id="13" name="Text 9"/>
          <p:cNvSpPr txBox="1"/>
          <p:nvPr/>
        </p:nvSpPr>
        <p:spPr>
          <a:xfrm>
            <a:off x="9006840" y="4956048"/>
            <a:ext cx="2514600" cy="256032"/>
          </a:xfrm>
          <a:prstGeom prst="rect">
            <a:avLst/>
          </a:prstGeom>
          <a:noFill/>
        </p:spPr>
        <p:txBody>
          <a:bodyPr wrap="square" lIns="0" tIns="0" rIns="0" bIns="0" rtlCol="0" anchor="t"/>
          <a:lstStyle/>
          <a:p>
            <a:pPr marL="0" indent="0">
              <a:buNone/>
            </a:pPr>
            <a:r>
              <a:rPr lang="en-US" sz="1150" dirty="0">
                <a:solidFill>
                  <a:srgbClr val="5F6368"/>
                </a:solidFill>
                <a:latin typeface="Arial" panose="020B0704020202020204" pitchFamily="34" charset="0"/>
                <a:ea typeface="Arial" panose="020B0704020202020204" pitchFamily="34" charset="-122"/>
                <a:cs typeface="Arial" panose="020B0704020202020204" pitchFamily="34" charset="-120"/>
              </a:rPr>
              <a:t>C1, C3 at 2.50 m · field marks agree</a:t>
            </a:r>
            <a:endParaRPr lang="en-US" sz="1150" dirty="0"/>
          </a:p>
        </p:txBody>
      </p:sp>
      <p:sp>
        <p:nvSpPr>
          <p:cNvPr id="14" name="Shape 10"/>
          <p:cNvSpPr/>
          <p:nvPr/>
        </p:nvSpPr>
        <p:spPr>
          <a:xfrm>
            <a:off x="7269480" y="5340096"/>
            <a:ext cx="4343400" cy="658368"/>
          </a:xfrm>
          <a:prstGeom prst="roundRect">
            <a:avLst>
              <a:gd name="adj" fmla="val 11111"/>
            </a:avLst>
          </a:prstGeom>
          <a:solidFill>
            <a:srgbClr val="EEF3FA"/>
          </a:solidFill>
          <a:ln w="12700">
            <a:solidFill>
              <a:srgbClr val="EEF3FA"/>
            </a:solidFill>
            <a:prstDash val="solid"/>
          </a:ln>
        </p:spPr>
      </p:sp>
      <p:sp>
        <p:nvSpPr>
          <p:cNvPr id="15" name="Text 11"/>
          <p:cNvSpPr txBox="1"/>
          <p:nvPr/>
        </p:nvSpPr>
        <p:spPr>
          <a:xfrm>
            <a:off x="7452360" y="5340096"/>
            <a:ext cx="1463040" cy="658368"/>
          </a:xfrm>
          <a:prstGeom prst="rect">
            <a:avLst/>
          </a:prstGeom>
          <a:noFill/>
        </p:spPr>
        <p:txBody>
          <a:bodyPr wrap="square" lIns="0" tIns="0" rIns="0" bIns="0" rtlCol="0" anchor="ctr"/>
          <a:lstStyle/>
          <a:p>
            <a:pPr marL="0" indent="0">
              <a:buNone/>
            </a:pPr>
            <a:r>
              <a:rPr lang="en-US" sz="2200" b="1" dirty="0">
                <a:solidFill>
                  <a:srgbClr val="E8590C"/>
                </a:solidFill>
                <a:latin typeface="Arial" panose="020B0704020202020204" pitchFamily="34" charset="0"/>
                <a:ea typeface="Arial" panose="020B0704020202020204" pitchFamily="34" charset="-122"/>
                <a:cs typeface="Arial" panose="020B0704020202020204" pitchFamily="34" charset="-120"/>
              </a:rPr>
              <a:t>≈ 0.45 m</a:t>
            </a:r>
            <a:endParaRPr lang="en-US" sz="2200" dirty="0"/>
          </a:p>
        </p:txBody>
      </p:sp>
      <p:sp>
        <p:nvSpPr>
          <p:cNvPr id="16" name="Text 12"/>
          <p:cNvSpPr txBox="1"/>
          <p:nvPr/>
        </p:nvSpPr>
        <p:spPr>
          <a:xfrm>
            <a:off x="9006840" y="5413248"/>
            <a:ext cx="2514600" cy="274320"/>
          </a:xfrm>
          <a:prstGeom prst="rect">
            <a:avLst/>
          </a:prstGeom>
          <a:noFill/>
        </p:spPr>
        <p:txBody>
          <a:bodyPr wrap="square" lIns="0" tIns="0" rIns="0" bIns="0" rtlCol="0" anchor="t"/>
          <a:lstStyle/>
          <a:p>
            <a:pPr marL="0" indent="0">
              <a:buNone/>
            </a:pPr>
            <a:r>
              <a:rPr lang="en-US" sz="1500" b="1" dirty="0">
                <a:solidFill>
                  <a:srgbClr val="1B1B1D"/>
                </a:solidFill>
                <a:latin typeface="Arial" panose="020B0704020202020204" pitchFamily="34" charset="0"/>
                <a:ea typeface="Arial" panose="020B0704020202020204" pitchFamily="34" charset="-122"/>
                <a:cs typeface="Arial" panose="020B0704020202020204" pitchFamily="34" charset="-120"/>
              </a:rPr>
              <a:t>Depth to the top</a:t>
            </a:r>
            <a:endParaRPr lang="en-US" sz="1500" dirty="0"/>
          </a:p>
        </p:txBody>
      </p:sp>
      <p:sp>
        <p:nvSpPr>
          <p:cNvPr id="17" name="Text 13"/>
          <p:cNvSpPr txBox="1"/>
          <p:nvPr/>
        </p:nvSpPr>
        <p:spPr>
          <a:xfrm>
            <a:off x="9006840" y="5705856"/>
            <a:ext cx="2514600" cy="256032"/>
          </a:xfrm>
          <a:prstGeom prst="rect">
            <a:avLst/>
          </a:prstGeom>
          <a:noFill/>
        </p:spPr>
        <p:txBody>
          <a:bodyPr wrap="square" lIns="0" tIns="0" rIns="0" bIns="0" rtlCol="0" anchor="t"/>
          <a:lstStyle/>
          <a:p>
            <a:pPr marL="0" indent="0">
              <a:buNone/>
            </a:pPr>
            <a:r>
              <a:rPr lang="en-US" sz="1150" dirty="0">
                <a:solidFill>
                  <a:srgbClr val="5F6368"/>
                </a:solidFill>
                <a:latin typeface="Arial" panose="020B0704020202020204" pitchFamily="34" charset="0"/>
                <a:ea typeface="Arial" panose="020B0704020202020204" pitchFamily="34" charset="-122"/>
                <a:cs typeface="Arial" panose="020B0704020202020204" pitchFamily="34" charset="-120"/>
              </a:rPr>
              <a:t>C2–C4: 0.43–0.46 m · C1: 0.65 m</a:t>
            </a:r>
            <a:endParaRPr lang="en-US" sz="1150" dirty="0"/>
          </a:p>
        </p:txBody>
      </p:sp>
      <p:sp>
        <p:nvSpPr>
          <p:cNvPr id="18" name="Text 14"/>
          <p:cNvSpPr txBox="1"/>
          <p:nvPr/>
        </p:nvSpPr>
        <p:spPr>
          <a:xfrm>
            <a:off x="548640" y="6144768"/>
            <a:ext cx="11064240" cy="237744"/>
          </a:xfrm>
          <a:prstGeom prst="rect">
            <a:avLst/>
          </a:prstGeom>
          <a:noFill/>
        </p:spPr>
        <p:txBody>
          <a:bodyPr wrap="square" lIns="0" tIns="0" rIns="0" bIns="0" rtlCol="0" anchor="t"/>
          <a:lstStyle/>
          <a:p>
            <a:pPr marL="0" indent="0">
              <a:buNone/>
            </a:pPr>
            <a:r>
              <a:rPr lang="en-US" sz="1000" dirty="0">
                <a:solidFill>
                  <a:srgbClr val="5F6368"/>
                </a:solidFill>
                <a:latin typeface="Arial" panose="020B0704020202020204" pitchFamily="34" charset="0"/>
                <a:ea typeface="Arial" panose="020B0704020202020204" pitchFamily="34" charset="-122"/>
                <a:cs typeface="Arial" panose="020B0704020202020204" pitchFamily="34" charset="-120"/>
              </a:rPr>
              <a:t>250 MHz, lines C1–C4 (LZZ20001–20004; C3 = LZZ20003.11 flipped back), team picks. Depth: 0.12 m/ns concrete, 0.10 m/ns soil. C2, C4 walked in reverse, placed from the cable marked on site.</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p:spPr>
        <p:txBody>
          <a:bodyPr/>
          <a:lstStyle>
            <a:lvl1pPr>
              <a:defRPr sz="1000">
                <a:solidFill>
                  <a:srgbClr val="5F6368"/>
                </a:solidFill>
                <a:latin typeface="Arial" panose="020B0704020202020204"/>
                <a:ea typeface="Arial" panose="020B0704020202020204"/>
                <a:cs typeface="Arial" panose="020B0704020202020204"/>
              </a:defRPr>
            </a:lvl1pPr>
          </a:lstStyle>
          <a:p>
            <a:pPr algn="r"/>
            <a:fld id="{F7021451-1387-4CA6-816F-3879F97B5CBC}" type="slidenum">
              <a:rPr lang="en-US" b="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GPR sections over the water pipe: line N2 with the pipe hyperbola A1, line N1 with no clear hyperbola, line N2 after migration, and a zoom on the pipe hyperbola"/>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10058400" cy="731520"/>
          </a:xfrm>
          <a:prstGeom prst="rect">
            <a:avLst/>
          </a:prstGeom>
          <a:noFill/>
        </p:spPr>
        <p:txBody>
          <a:bodyPr wrap="square" lIns="0" tIns="0" rIns="0" bIns="0" rtlCol="0" anchor="ctr"/>
          <a:lstStyle/>
          <a:p>
            <a:pPr marL="0" indent="0" algn="l">
              <a:buNone/>
            </a:pPr>
            <a:r>
              <a:rPr lang="en-US" sz="2800" b="1" dirty="0">
                <a:solidFill>
                  <a:srgbClr val="0B4A9E"/>
                </a:solidFill>
                <a:latin typeface="Arial" panose="020B0704020202020204" pitchFamily="34" charset="0"/>
                <a:ea typeface="Arial" panose="020B0704020202020204" pitchFamily="34" charset="-122"/>
                <a:cs typeface="Arial" panose="020B0704020202020204" pitchFamily="34" charset="-120"/>
              </a:rPr>
              <a:t>One cable crosses the road; one pipe runs along it</a:t>
            </a:r>
            <a:endParaRPr lang="en-US" sz="2800" dirty="0"/>
          </a:p>
        </p:txBody>
      </p:sp>
      <p:pic>
        <p:nvPicPr>
          <p:cNvPr id="3" name="Image 0" descr="Animated 360-degree view of the survey area with the ground made transparent, showing the water pipe in blue and the power cable in orange with depth labels"/>
          <p:cNvPicPr>
            <a:picLocks noChangeAspect="1"/>
          </p:cNvPicPr>
          <p:nvPr/>
        </p:nvPicPr>
        <p:blipFill>
          <a:blip r:embed="rId1"/>
          <a:stretch>
            <a:fillRect/>
          </a:stretch>
        </p:blipFill>
        <p:spPr>
          <a:xfrm>
            <a:off x="548640" y="1234440"/>
            <a:ext cx="6492240" cy="3648456"/>
          </a:xfrm>
          <a:prstGeom prst="rect">
            <a:avLst/>
          </a:prstGeom>
        </p:spPr>
      </p:pic>
      <p:sp>
        <p:nvSpPr>
          <p:cNvPr id="4" name="Text 1"/>
          <p:cNvSpPr txBox="1"/>
          <p:nvPr/>
        </p:nvSpPr>
        <p:spPr>
          <a:xfrm>
            <a:off x="548640" y="4983480"/>
            <a:ext cx="6492240" cy="457200"/>
          </a:xfrm>
          <a:prstGeom prst="rect">
            <a:avLst/>
          </a:prstGeom>
          <a:noFill/>
        </p:spPr>
        <p:txBody>
          <a:bodyPr wrap="square" lIns="0" tIns="0" rIns="0" bIns="0" rtlCol="0" anchor="t"/>
          <a:lstStyle/>
          <a:p>
            <a:pPr marL="0" indent="0">
              <a:buNone/>
            </a:pPr>
            <a:r>
              <a:rPr lang="en-US" sz="1200" i="1" dirty="0">
                <a:solidFill>
                  <a:srgbClr val="5F6368"/>
                </a:solidFill>
                <a:latin typeface="Arial" panose="020B0704020202020204" pitchFamily="34" charset="0"/>
                <a:ea typeface="Arial" panose="020B0704020202020204" pitchFamily="34" charset="-122"/>
                <a:cs typeface="Arial" panose="020B0704020202020204" pitchFamily="34" charset="-120"/>
              </a:rPr>
              <a:t>360° view, ground made transparent · blue = water pipe · orange = power cable · labels = depth to top</a:t>
            </a:r>
            <a:endParaRPr lang="en-US" sz="1200" dirty="0"/>
          </a:p>
        </p:txBody>
      </p:sp>
      <p:sp>
        <p:nvSpPr>
          <p:cNvPr id="5" name="Shape 2"/>
          <p:cNvSpPr/>
          <p:nvPr/>
        </p:nvSpPr>
        <p:spPr>
          <a:xfrm>
            <a:off x="7269480" y="1234440"/>
            <a:ext cx="4343400" cy="1188720"/>
          </a:xfrm>
          <a:prstGeom prst="roundRect">
            <a:avLst>
              <a:gd name="adj" fmla="val 6154"/>
            </a:avLst>
          </a:prstGeom>
          <a:solidFill>
            <a:srgbClr val="EEF3FA"/>
          </a:solidFill>
          <a:ln w="12700">
            <a:solidFill>
              <a:srgbClr val="EEF3FA"/>
            </a:solidFill>
            <a:prstDash val="solid"/>
          </a:ln>
        </p:spPr>
      </p:sp>
      <p:sp>
        <p:nvSpPr>
          <p:cNvPr id="6" name="Shape 3"/>
          <p:cNvSpPr/>
          <p:nvPr/>
        </p:nvSpPr>
        <p:spPr>
          <a:xfrm>
            <a:off x="7470648" y="1453896"/>
            <a:ext cx="237744" cy="237744"/>
          </a:xfrm>
          <a:prstGeom prst="ellipse">
            <a:avLst/>
          </a:prstGeom>
          <a:solidFill>
            <a:srgbClr val="E8590C"/>
          </a:solidFill>
          <a:ln w="12700">
            <a:solidFill>
              <a:srgbClr val="E8590C"/>
            </a:solidFill>
            <a:prstDash val="solid"/>
          </a:ln>
        </p:spPr>
      </p:sp>
      <p:sp>
        <p:nvSpPr>
          <p:cNvPr id="7" name="Text 4"/>
          <p:cNvSpPr txBox="1"/>
          <p:nvPr/>
        </p:nvSpPr>
        <p:spPr>
          <a:xfrm>
            <a:off x="7818120" y="1371600"/>
            <a:ext cx="2377440" cy="411480"/>
          </a:xfrm>
          <a:prstGeom prst="rect">
            <a:avLst/>
          </a:prstGeom>
          <a:noFill/>
        </p:spPr>
        <p:txBody>
          <a:bodyPr wrap="square" lIns="0" tIns="0" rIns="0" bIns="0" rtlCol="0" anchor="t"/>
          <a:lstStyle/>
          <a:p>
            <a:pPr marL="0" indent="0">
              <a:buNone/>
            </a:pPr>
            <a:r>
              <a:rPr lang="en-US" sz="1800" b="1" dirty="0">
                <a:solidFill>
                  <a:srgbClr val="1B1B1D"/>
                </a:solidFill>
                <a:latin typeface="Arial" panose="020B0704020202020204" pitchFamily="34" charset="0"/>
                <a:ea typeface="Arial" panose="020B0704020202020204" pitchFamily="34" charset="-122"/>
                <a:cs typeface="Arial" panose="020B0704020202020204" pitchFamily="34" charset="-120"/>
              </a:rPr>
              <a:t>Power cable</a:t>
            </a:r>
            <a:endParaRPr lang="en-US" sz="1800" dirty="0"/>
          </a:p>
        </p:txBody>
      </p:sp>
      <p:sp>
        <p:nvSpPr>
          <p:cNvPr id="8" name="Text 5"/>
          <p:cNvSpPr txBox="1"/>
          <p:nvPr/>
        </p:nvSpPr>
        <p:spPr>
          <a:xfrm>
            <a:off x="9646920" y="1344168"/>
            <a:ext cx="1783080" cy="457200"/>
          </a:xfrm>
          <a:prstGeom prst="rect">
            <a:avLst/>
          </a:prstGeom>
          <a:noFill/>
        </p:spPr>
        <p:txBody>
          <a:bodyPr wrap="square" lIns="0" tIns="0" rIns="0" bIns="0" rtlCol="0" anchor="t"/>
          <a:lstStyle/>
          <a:p>
            <a:pPr marL="0" indent="0" algn="r">
              <a:buNone/>
            </a:pPr>
            <a:r>
              <a:rPr lang="en-US" sz="2200" b="1" dirty="0">
                <a:solidFill>
                  <a:srgbClr val="0B4A9E"/>
                </a:solidFill>
                <a:latin typeface="Arial" panose="020B0704020202020204" pitchFamily="34" charset="0"/>
                <a:ea typeface="Arial" panose="020B0704020202020204" pitchFamily="34" charset="-122"/>
                <a:cs typeface="Arial" panose="020B0704020202020204" pitchFamily="34" charset="-120"/>
              </a:rPr>
              <a:t>0.43–0.65 m</a:t>
            </a:r>
            <a:endParaRPr lang="en-US" sz="2200" dirty="0"/>
          </a:p>
        </p:txBody>
      </p:sp>
      <p:sp>
        <p:nvSpPr>
          <p:cNvPr id="9" name="Text 6"/>
          <p:cNvSpPr txBox="1"/>
          <p:nvPr/>
        </p:nvSpPr>
        <p:spPr>
          <a:xfrm>
            <a:off x="7818120" y="1856232"/>
            <a:ext cx="2514600" cy="457200"/>
          </a:xfrm>
          <a:prstGeom prst="rect">
            <a:avLst/>
          </a:prstGeom>
          <a:noFill/>
        </p:spPr>
        <p:txBody>
          <a:bodyPr wrap="square" lIns="0" tIns="0" rIns="0" bIns="0" rtlCol="0" anchor="t"/>
          <a:lstStyle/>
          <a:p>
            <a:pPr marL="0" indent="0">
              <a:buNone/>
            </a:pPr>
            <a:r>
              <a:rPr lang="en-US" sz="1200" dirty="0">
                <a:solidFill>
                  <a:srgbClr val="5F6368"/>
                </a:solidFill>
                <a:latin typeface="Arial" panose="020B0704020202020204" pitchFamily="34" charset="0"/>
                <a:ea typeface="Arial" panose="020B0704020202020204" pitchFamily="34" charset="-122"/>
                <a:cs typeface="Arial" panose="020B0704020202020204" pitchFamily="34" charset="-120"/>
              </a:rPr>
              <a:t>straight across the road · on C1–C4</a:t>
            </a:r>
            <a:endParaRPr lang="en-US" sz="1200" dirty="0"/>
          </a:p>
        </p:txBody>
      </p:sp>
      <p:sp>
        <p:nvSpPr>
          <p:cNvPr id="10" name="Text 7"/>
          <p:cNvSpPr txBox="1"/>
          <p:nvPr/>
        </p:nvSpPr>
        <p:spPr>
          <a:xfrm>
            <a:off x="10332720" y="1856232"/>
            <a:ext cx="1097280" cy="274320"/>
          </a:xfrm>
          <a:prstGeom prst="rect">
            <a:avLst/>
          </a:prstGeom>
          <a:noFill/>
        </p:spPr>
        <p:txBody>
          <a:bodyPr wrap="square" lIns="0" tIns="0" rIns="0" bIns="0" rtlCol="0" anchor="t"/>
          <a:lstStyle/>
          <a:p>
            <a:pPr marL="0" indent="0" algn="r">
              <a:buNone/>
            </a:pPr>
            <a:r>
              <a:rPr lang="en-US" sz="1100" dirty="0">
                <a:solidFill>
                  <a:srgbClr val="5F6368"/>
                </a:solidFill>
                <a:latin typeface="Arial" panose="020B0704020202020204" pitchFamily="34" charset="0"/>
                <a:ea typeface="Arial" panose="020B0704020202020204" pitchFamily="34" charset="-122"/>
                <a:cs typeface="Arial" panose="020B0704020202020204" pitchFamily="34" charset="-120"/>
              </a:rPr>
              <a:t>depth to top</a:t>
            </a:r>
            <a:endParaRPr lang="en-US" sz="1100" dirty="0"/>
          </a:p>
        </p:txBody>
      </p:sp>
      <p:sp>
        <p:nvSpPr>
          <p:cNvPr id="11" name="Shape 8"/>
          <p:cNvSpPr/>
          <p:nvPr/>
        </p:nvSpPr>
        <p:spPr>
          <a:xfrm>
            <a:off x="7269480" y="2560320"/>
            <a:ext cx="4343400" cy="1188720"/>
          </a:xfrm>
          <a:prstGeom prst="roundRect">
            <a:avLst>
              <a:gd name="adj" fmla="val 6154"/>
            </a:avLst>
          </a:prstGeom>
          <a:solidFill>
            <a:srgbClr val="EEF3FA"/>
          </a:solidFill>
          <a:ln w="12700">
            <a:solidFill>
              <a:srgbClr val="EEF3FA"/>
            </a:solidFill>
            <a:prstDash val="solid"/>
          </a:ln>
        </p:spPr>
      </p:sp>
      <p:sp>
        <p:nvSpPr>
          <p:cNvPr id="12" name="Shape 9"/>
          <p:cNvSpPr/>
          <p:nvPr/>
        </p:nvSpPr>
        <p:spPr>
          <a:xfrm>
            <a:off x="7470648" y="2779776"/>
            <a:ext cx="237744" cy="237744"/>
          </a:xfrm>
          <a:prstGeom prst="ellipse">
            <a:avLst/>
          </a:prstGeom>
          <a:solidFill>
            <a:srgbClr val="1E7BD9"/>
          </a:solidFill>
          <a:ln w="12700">
            <a:solidFill>
              <a:srgbClr val="1E7BD9"/>
            </a:solidFill>
            <a:prstDash val="solid"/>
          </a:ln>
        </p:spPr>
      </p:sp>
      <p:sp>
        <p:nvSpPr>
          <p:cNvPr id="13" name="Text 10"/>
          <p:cNvSpPr txBox="1"/>
          <p:nvPr/>
        </p:nvSpPr>
        <p:spPr>
          <a:xfrm>
            <a:off x="7818120" y="2697480"/>
            <a:ext cx="2377440" cy="411480"/>
          </a:xfrm>
          <a:prstGeom prst="rect">
            <a:avLst/>
          </a:prstGeom>
          <a:noFill/>
        </p:spPr>
        <p:txBody>
          <a:bodyPr wrap="square" lIns="0" tIns="0" rIns="0" bIns="0" rtlCol="0" anchor="t"/>
          <a:lstStyle/>
          <a:p>
            <a:pPr marL="0" indent="0">
              <a:buNone/>
            </a:pPr>
            <a:r>
              <a:rPr lang="en-US" sz="1800" b="1" dirty="0">
                <a:solidFill>
                  <a:srgbClr val="1B1B1D"/>
                </a:solidFill>
                <a:latin typeface="Arial" panose="020B0704020202020204" pitchFamily="34" charset="0"/>
                <a:ea typeface="Arial" panose="020B0704020202020204" pitchFamily="34" charset="-122"/>
                <a:cs typeface="Arial" panose="020B0704020202020204" pitchFamily="34" charset="-120"/>
              </a:rPr>
              <a:t>Water pipe</a:t>
            </a:r>
            <a:endParaRPr lang="en-US" sz="1800" dirty="0"/>
          </a:p>
        </p:txBody>
      </p:sp>
      <p:sp>
        <p:nvSpPr>
          <p:cNvPr id="14" name="Text 11"/>
          <p:cNvSpPr txBox="1"/>
          <p:nvPr/>
        </p:nvSpPr>
        <p:spPr>
          <a:xfrm>
            <a:off x="9646920" y="2670048"/>
            <a:ext cx="1783080" cy="457200"/>
          </a:xfrm>
          <a:prstGeom prst="rect">
            <a:avLst/>
          </a:prstGeom>
          <a:noFill/>
        </p:spPr>
        <p:txBody>
          <a:bodyPr wrap="square" lIns="0" tIns="0" rIns="0" bIns="0" rtlCol="0" anchor="t"/>
          <a:lstStyle/>
          <a:p>
            <a:pPr marL="0" indent="0" algn="r">
              <a:buNone/>
            </a:pPr>
            <a:r>
              <a:rPr lang="en-US" sz="2200" b="1" dirty="0">
                <a:solidFill>
                  <a:srgbClr val="0B4A9E"/>
                </a:solidFill>
                <a:latin typeface="Arial" panose="020B0704020202020204" pitchFamily="34" charset="0"/>
                <a:ea typeface="Arial" panose="020B0704020202020204" pitchFamily="34" charset="-122"/>
                <a:cs typeface="Arial" panose="020B0704020202020204" pitchFamily="34" charset="-120"/>
              </a:rPr>
              <a:t>0.43–0.59 m</a:t>
            </a:r>
            <a:endParaRPr lang="en-US" sz="2200" dirty="0"/>
          </a:p>
        </p:txBody>
      </p:sp>
      <p:sp>
        <p:nvSpPr>
          <p:cNvPr id="15" name="Text 12"/>
          <p:cNvSpPr txBox="1"/>
          <p:nvPr/>
        </p:nvSpPr>
        <p:spPr>
          <a:xfrm>
            <a:off x="7818120" y="3182112"/>
            <a:ext cx="2514600" cy="457200"/>
          </a:xfrm>
          <a:prstGeom prst="rect">
            <a:avLst/>
          </a:prstGeom>
          <a:noFill/>
        </p:spPr>
        <p:txBody>
          <a:bodyPr wrap="square" lIns="0" tIns="0" rIns="0" bIns="0" rtlCol="0" anchor="t"/>
          <a:lstStyle/>
          <a:p>
            <a:pPr marL="0" indent="0">
              <a:buNone/>
            </a:pPr>
            <a:r>
              <a:rPr lang="en-US" sz="1200" dirty="0">
                <a:solidFill>
                  <a:srgbClr val="5F6368"/>
                </a:solidFill>
                <a:latin typeface="Arial" panose="020B0704020202020204" pitchFamily="34" charset="0"/>
                <a:ea typeface="Arial" panose="020B0704020202020204" pitchFamily="34" charset="-122"/>
                <a:cs typeface="Arial" panose="020B0704020202020204" pitchFamily="34" charset="-120"/>
              </a:rPr>
              <a:t>along the road, ~1 m from the benches · N2, N4, N5</a:t>
            </a:r>
            <a:endParaRPr lang="en-US" sz="1200" dirty="0"/>
          </a:p>
        </p:txBody>
      </p:sp>
      <p:sp>
        <p:nvSpPr>
          <p:cNvPr id="16" name="Text 13"/>
          <p:cNvSpPr txBox="1"/>
          <p:nvPr/>
        </p:nvSpPr>
        <p:spPr>
          <a:xfrm>
            <a:off x="10332720" y="3182112"/>
            <a:ext cx="1097280" cy="274320"/>
          </a:xfrm>
          <a:prstGeom prst="rect">
            <a:avLst/>
          </a:prstGeom>
          <a:noFill/>
        </p:spPr>
        <p:txBody>
          <a:bodyPr wrap="square" lIns="0" tIns="0" rIns="0" bIns="0" rtlCol="0" anchor="t"/>
          <a:lstStyle/>
          <a:p>
            <a:pPr marL="0" indent="0" algn="r">
              <a:buNone/>
            </a:pPr>
            <a:r>
              <a:rPr lang="en-US" sz="1100" dirty="0">
                <a:solidFill>
                  <a:srgbClr val="5F6368"/>
                </a:solidFill>
                <a:latin typeface="Arial" panose="020B0704020202020204" pitchFamily="34" charset="0"/>
                <a:ea typeface="Arial" panose="020B0704020202020204" pitchFamily="34" charset="-122"/>
                <a:cs typeface="Arial" panose="020B0704020202020204" pitchFamily="34" charset="-120"/>
              </a:rPr>
              <a:t>depth to top</a:t>
            </a:r>
            <a:endParaRPr lang="en-US" sz="1100" dirty="0"/>
          </a:p>
        </p:txBody>
      </p:sp>
      <p:sp>
        <p:nvSpPr>
          <p:cNvPr id="17" name="Shape 14"/>
          <p:cNvSpPr/>
          <p:nvPr/>
        </p:nvSpPr>
        <p:spPr>
          <a:xfrm>
            <a:off x="7269480" y="3886200"/>
            <a:ext cx="4343400" cy="1188720"/>
          </a:xfrm>
          <a:prstGeom prst="roundRect">
            <a:avLst>
              <a:gd name="adj" fmla="val 6154"/>
            </a:avLst>
          </a:prstGeom>
          <a:solidFill>
            <a:srgbClr val="EEF3FA"/>
          </a:solidFill>
          <a:ln w="12700">
            <a:solidFill>
              <a:srgbClr val="EEF3FA"/>
            </a:solidFill>
            <a:prstDash val="solid"/>
          </a:ln>
        </p:spPr>
      </p:sp>
      <p:sp>
        <p:nvSpPr>
          <p:cNvPr id="18" name="Shape 15"/>
          <p:cNvSpPr/>
          <p:nvPr/>
        </p:nvSpPr>
        <p:spPr>
          <a:xfrm>
            <a:off x="7470648" y="4105656"/>
            <a:ext cx="237744" cy="237744"/>
          </a:xfrm>
          <a:prstGeom prst="ellipse">
            <a:avLst/>
          </a:prstGeom>
          <a:solidFill>
            <a:srgbClr val="9AA0A6"/>
          </a:solidFill>
          <a:ln w="12700">
            <a:solidFill>
              <a:srgbClr val="9AA0A6"/>
            </a:solidFill>
            <a:prstDash val="solid"/>
          </a:ln>
        </p:spPr>
      </p:sp>
      <p:sp>
        <p:nvSpPr>
          <p:cNvPr id="19" name="Text 16"/>
          <p:cNvSpPr txBox="1"/>
          <p:nvPr/>
        </p:nvSpPr>
        <p:spPr>
          <a:xfrm>
            <a:off x="7818120" y="4023360"/>
            <a:ext cx="2377440" cy="411480"/>
          </a:xfrm>
          <a:prstGeom prst="rect">
            <a:avLst/>
          </a:prstGeom>
          <a:noFill/>
        </p:spPr>
        <p:txBody>
          <a:bodyPr wrap="square" lIns="0" tIns="0" rIns="0" bIns="0" rtlCol="0" anchor="t"/>
          <a:lstStyle/>
          <a:p>
            <a:pPr marL="0" indent="0">
              <a:buNone/>
            </a:pPr>
            <a:r>
              <a:rPr lang="en-US" sz="1800" b="1" dirty="0">
                <a:solidFill>
                  <a:srgbClr val="1B1B1D"/>
                </a:solidFill>
                <a:latin typeface="Arial" panose="020B0704020202020204" pitchFamily="34" charset="0"/>
                <a:ea typeface="Arial" panose="020B0704020202020204" pitchFamily="34" charset="-122"/>
                <a:cs typeface="Arial" panose="020B0704020202020204" pitchFamily="34" charset="-120"/>
              </a:rPr>
              <a:t>Other reflectors</a:t>
            </a:r>
            <a:endParaRPr lang="en-US" sz="1800" dirty="0"/>
          </a:p>
        </p:txBody>
      </p:sp>
      <p:sp>
        <p:nvSpPr>
          <p:cNvPr id="20" name="Text 17"/>
          <p:cNvSpPr txBox="1"/>
          <p:nvPr/>
        </p:nvSpPr>
        <p:spPr>
          <a:xfrm>
            <a:off x="9646920" y="3995928"/>
            <a:ext cx="1783080" cy="457200"/>
          </a:xfrm>
          <a:prstGeom prst="rect">
            <a:avLst/>
          </a:prstGeom>
          <a:noFill/>
        </p:spPr>
        <p:txBody>
          <a:bodyPr wrap="square" lIns="0" tIns="0" rIns="0" bIns="0" rtlCol="0" anchor="t"/>
          <a:lstStyle/>
          <a:p>
            <a:pPr marL="0" indent="0" algn="r">
              <a:buNone/>
            </a:pPr>
            <a:r>
              <a:rPr lang="en-US" sz="2200" b="1" dirty="0">
                <a:solidFill>
                  <a:srgbClr val="5F6368"/>
                </a:solidFill>
                <a:latin typeface="Arial" panose="020B0704020202020204" pitchFamily="34" charset="0"/>
                <a:ea typeface="Arial" panose="020B0704020202020204" pitchFamily="34" charset="-122"/>
                <a:cs typeface="Arial" panose="020B0704020202020204" pitchFamily="34" charset="-120"/>
              </a:rPr>
              <a:t>5</a:t>
            </a:r>
            <a:endParaRPr lang="en-US" sz="2200" dirty="0"/>
          </a:p>
        </p:txBody>
      </p:sp>
      <p:sp>
        <p:nvSpPr>
          <p:cNvPr id="21" name="Text 18"/>
          <p:cNvSpPr txBox="1"/>
          <p:nvPr/>
        </p:nvSpPr>
        <p:spPr>
          <a:xfrm>
            <a:off x="7818120" y="4507992"/>
            <a:ext cx="2514600" cy="457200"/>
          </a:xfrm>
          <a:prstGeom prst="rect">
            <a:avLst/>
          </a:prstGeom>
          <a:noFill/>
        </p:spPr>
        <p:txBody>
          <a:bodyPr wrap="square" lIns="0" tIns="0" rIns="0" bIns="0" rtlCol="0" anchor="t"/>
          <a:lstStyle/>
          <a:p>
            <a:pPr marL="0" indent="0">
              <a:buNone/>
            </a:pPr>
            <a:r>
              <a:rPr lang="en-US" sz="1200" dirty="0">
                <a:solidFill>
                  <a:srgbClr val="5F6368"/>
                </a:solidFill>
                <a:latin typeface="Arial" panose="020B0704020202020204" pitchFamily="34" charset="0"/>
                <a:ea typeface="Arial" panose="020B0704020202020204" pitchFamily="34" charset="-122"/>
                <a:cs typeface="Arial" panose="020B0704020202020204" pitchFamily="34" charset="-120"/>
              </a:rPr>
              <a:t>O1–O5 · 1 line each</a:t>
            </a:r>
            <a:endParaRPr lang="en-US" sz="1200" dirty="0"/>
          </a:p>
        </p:txBody>
      </p:sp>
      <p:sp>
        <p:nvSpPr>
          <p:cNvPr id="22" name="Text 19"/>
          <p:cNvSpPr txBox="1"/>
          <p:nvPr/>
        </p:nvSpPr>
        <p:spPr>
          <a:xfrm>
            <a:off x="10332720" y="4507992"/>
            <a:ext cx="1097280" cy="274320"/>
          </a:xfrm>
          <a:prstGeom prst="rect">
            <a:avLst/>
          </a:prstGeom>
          <a:noFill/>
        </p:spPr>
        <p:txBody>
          <a:bodyPr wrap="square" lIns="0" tIns="0" rIns="0" bIns="0" rtlCol="0" anchor="t"/>
          <a:lstStyle/>
          <a:p>
            <a:pPr marL="0" indent="0" algn="r">
              <a:buNone/>
            </a:pPr>
            <a:r>
              <a:rPr lang="en-US" sz="1100" dirty="0">
                <a:solidFill>
                  <a:srgbClr val="5F6368"/>
                </a:solidFill>
                <a:latin typeface="Arial" panose="020B0704020202020204" pitchFamily="34" charset="0"/>
                <a:ea typeface="Arial" panose="020B0704020202020204" pitchFamily="34" charset="-122"/>
                <a:cs typeface="Arial" panose="020B0704020202020204" pitchFamily="34" charset="-120"/>
              </a:rPr>
              <a:t>single-line hits</a:t>
            </a:r>
            <a:endParaRPr lang="en-US" sz="1100" dirty="0"/>
          </a:p>
        </p:txBody>
      </p:sp>
      <p:sp>
        <p:nvSpPr>
          <p:cNvPr id="23" name="Text 20"/>
          <p:cNvSpPr txBox="1"/>
          <p:nvPr/>
        </p:nvSpPr>
        <p:spPr>
          <a:xfrm>
            <a:off x="7269480" y="5257800"/>
            <a:ext cx="4343400" cy="548640"/>
          </a:xfrm>
          <a:prstGeom prst="rect">
            <a:avLst/>
          </a:prstGeom>
          <a:noFill/>
        </p:spPr>
        <p:txBody>
          <a:bodyPr wrap="square" lIns="0" tIns="0" rIns="0" bIns="0" rtlCol="0" anchor="t"/>
          <a:lstStyle/>
          <a:p>
            <a:pPr marL="0" indent="0">
              <a:buNone/>
            </a:pPr>
            <a:r>
              <a:rPr lang="en-US" sz="1100" i="1" dirty="0">
                <a:solidFill>
                  <a:srgbClr val="5F6368"/>
                </a:solidFill>
                <a:latin typeface="Arial" panose="020B0704020202020204" pitchFamily="34" charset="0"/>
                <a:ea typeface="Arial" panose="020B0704020202020204" pitchFamily="34" charset="-122"/>
                <a:cs typeface="Arial" panose="020B0704020202020204" pitchFamily="34" charset="-120"/>
              </a:rPr>
              <a:t>Depth to the top: v = 0.12 m/ns in concrete, 0.10 m/ns in soil. Dashed lines are straight-line extensions, not measurements.</a:t>
            </a:r>
            <a:endParaRPr lang="en-US" sz="1100" dirty="0"/>
          </a:p>
        </p:txBody>
      </p:sp>
      <p:sp>
        <p:nvSpPr>
          <p:cNvPr id="25" name="Slide Number Placeholder 0"/>
          <p:cNvSpPr>
            <a:spLocks noGrp="1"/>
          </p:cNvSpPr>
          <p:nvPr>
            <p:ph type="sldNum" sz="quarter" idx="4294967295"/>
          </p:nvPr>
        </p:nvSpPr>
        <p:spPr>
          <a:xfrm>
            <a:off x="11155680" y="6419088"/>
            <a:ext cx="457200" cy="256032"/>
          </a:xfrm>
          <a:prstGeom prst="rect">
            <a:avLst/>
          </a:prstGeom>
        </p:spPr>
        <p:txBody>
          <a:bodyPr/>
          <a:lstStyle>
            <a:lvl1pPr>
              <a:defRPr sz="1000">
                <a:solidFill>
                  <a:srgbClr val="5F6368"/>
                </a:solidFill>
                <a:latin typeface="Arial" panose="020B0704020202020204"/>
                <a:ea typeface="Arial" panose="020B0704020202020204"/>
                <a:cs typeface="Arial" panose="020B0704020202020204"/>
              </a:defRPr>
            </a:lvl1pPr>
          </a:lstStyle>
          <a:p>
            <a:pPr algn="r"/>
            <a:fld id="{F7021451-1387-4CA6-816F-3879F97B5CBC}" type="slidenum">
              <a:rPr lang="en-US" b="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10058400" cy="731520"/>
          </a:xfrm>
          <a:prstGeom prst="rect">
            <a:avLst/>
          </a:prstGeom>
          <a:noFill/>
        </p:spPr>
        <p:txBody>
          <a:bodyPr wrap="square" lIns="0" tIns="0" rIns="0" bIns="0" rtlCol="0" anchor="ctr"/>
          <a:lstStyle/>
          <a:p>
            <a:pPr marL="0" indent="0" algn="l">
              <a:buNone/>
            </a:pPr>
            <a:r>
              <a:rPr lang="en-US" sz="2800" b="1" dirty="0">
                <a:solidFill>
                  <a:srgbClr val="0B4A9E"/>
                </a:solidFill>
                <a:latin typeface="Arial" panose="020B0704020202020204" pitchFamily="34" charset="0"/>
                <a:ea typeface="Arial" panose="020B0704020202020204" pitchFamily="34" charset="-122"/>
                <a:cs typeface="Arial" panose="020B0704020202020204" pitchFamily="34" charset="-120"/>
              </a:rPr>
              <a:t>What we learned, and what we would do next</a:t>
            </a:r>
            <a:endParaRPr lang="en-US" sz="2800" dirty="0"/>
          </a:p>
        </p:txBody>
      </p:sp>
      <p:sp>
        <p:nvSpPr>
          <p:cNvPr id="3" name="Text 1"/>
          <p:cNvSpPr txBox="1"/>
          <p:nvPr/>
        </p:nvSpPr>
        <p:spPr>
          <a:xfrm>
            <a:off x="548640" y="1280160"/>
            <a:ext cx="5486400" cy="411480"/>
          </a:xfrm>
          <a:prstGeom prst="rect">
            <a:avLst/>
          </a:prstGeom>
          <a:noFill/>
        </p:spPr>
        <p:txBody>
          <a:bodyPr wrap="square" lIns="0" tIns="0" rIns="0" bIns="0" rtlCol="0" anchor="t"/>
          <a:lstStyle/>
          <a:p>
            <a:pPr marL="0" indent="0">
              <a:buNone/>
            </a:pPr>
            <a:r>
              <a:rPr lang="en-US" sz="2000" b="1" dirty="0">
                <a:solidFill>
                  <a:srgbClr val="0B4A9E"/>
                </a:solidFill>
                <a:latin typeface="Arial" panose="020B0704020202020204" pitchFamily="34" charset="0"/>
                <a:ea typeface="Arial" panose="020B0704020202020204" pitchFamily="34" charset="-122"/>
                <a:cs typeface="Arial" panose="020B0704020202020204" pitchFamily="34" charset="-120"/>
              </a:rPr>
              <a:t>Conclusions</a:t>
            </a:r>
            <a:endParaRPr lang="en-US" sz="2000" dirty="0"/>
          </a:p>
        </p:txBody>
      </p:sp>
      <p:sp>
        <p:nvSpPr>
          <p:cNvPr id="4" name="Shape 2"/>
          <p:cNvSpPr/>
          <p:nvPr/>
        </p:nvSpPr>
        <p:spPr>
          <a:xfrm>
            <a:off x="548640" y="1874520"/>
            <a:ext cx="502920" cy="502920"/>
          </a:xfrm>
          <a:prstGeom prst="ellipse">
            <a:avLst/>
          </a:prstGeom>
          <a:solidFill>
            <a:srgbClr val="0B4A9E"/>
          </a:solidFill>
          <a:ln w="12700">
            <a:solidFill>
              <a:srgbClr val="0B4A9E"/>
            </a:solidFill>
            <a:prstDash val="solid"/>
          </a:ln>
        </p:spPr>
      </p:sp>
      <p:sp>
        <p:nvSpPr>
          <p:cNvPr id="5" name="Text 3"/>
          <p:cNvSpPr txBox="1"/>
          <p:nvPr/>
        </p:nvSpPr>
        <p:spPr>
          <a:xfrm>
            <a:off x="548640" y="1874520"/>
            <a:ext cx="502920" cy="502920"/>
          </a:xfrm>
          <a:prstGeom prst="rect">
            <a:avLst/>
          </a:prstGeom>
          <a:noFill/>
        </p:spPr>
        <p:txBody>
          <a:bodyPr wrap="square" lIns="0" tIns="0" rIns="0" bIns="0" rtlCol="0" anchor="ctr"/>
          <a:lstStyle/>
          <a:p>
            <a:pPr marL="0" indent="0" algn="ctr">
              <a:buNone/>
            </a:pPr>
            <a:r>
              <a:rPr lang="en-US" sz="2000" b="1" dirty="0">
                <a:solidFill>
                  <a:srgbClr val="FFFFFF"/>
                </a:solidFill>
                <a:latin typeface="Arial" panose="020B0704020202020204" pitchFamily="34" charset="0"/>
                <a:ea typeface="Arial" panose="020B0704020202020204" pitchFamily="34" charset="-122"/>
                <a:cs typeface="Arial" panose="020B0704020202020204" pitchFamily="34" charset="-120"/>
              </a:rPr>
              <a:t>1</a:t>
            </a:r>
            <a:endParaRPr lang="en-US" sz="2000" dirty="0"/>
          </a:p>
        </p:txBody>
      </p:sp>
      <p:sp>
        <p:nvSpPr>
          <p:cNvPr id="6" name="Text 4"/>
          <p:cNvSpPr txBox="1"/>
          <p:nvPr/>
        </p:nvSpPr>
        <p:spPr>
          <a:xfrm>
            <a:off x="1280160" y="1856232"/>
            <a:ext cx="4754880" cy="822960"/>
          </a:xfrm>
          <a:prstGeom prst="rect">
            <a:avLst/>
          </a:prstGeom>
          <a:noFill/>
        </p:spPr>
        <p:txBody>
          <a:bodyPr wrap="square" lIns="0" tIns="0" rIns="0" bIns="0" rtlCol="0" anchor="t"/>
          <a:lstStyle/>
          <a:p>
            <a:pPr marL="0" indent="0">
              <a:buNone/>
            </a:pPr>
            <a:r>
              <a:rPr lang="en-US" sz="1700" dirty="0">
                <a:solidFill>
                  <a:srgbClr val="1B1B1D"/>
                </a:solidFill>
                <a:latin typeface="Arial" panose="020B0704020202020204" pitchFamily="34" charset="0"/>
                <a:ea typeface="Arial" panose="020B0704020202020204" pitchFamily="34" charset="-122"/>
                <a:cs typeface="Arial" panose="020B0704020202020204" pitchFamily="34" charset="-120"/>
              </a:rPr>
              <a:t>GPR located a cable and a water pipe under asphalt — without digging.</a:t>
            </a:r>
            <a:endParaRPr lang="en-US" sz="1700" dirty="0"/>
          </a:p>
        </p:txBody>
      </p:sp>
      <p:sp>
        <p:nvSpPr>
          <p:cNvPr id="7" name="Shape 5"/>
          <p:cNvSpPr/>
          <p:nvPr/>
        </p:nvSpPr>
        <p:spPr>
          <a:xfrm>
            <a:off x="548640" y="2926080"/>
            <a:ext cx="502920" cy="502920"/>
          </a:xfrm>
          <a:prstGeom prst="ellipse">
            <a:avLst/>
          </a:prstGeom>
          <a:solidFill>
            <a:srgbClr val="0B4A9E"/>
          </a:solidFill>
          <a:ln w="12700">
            <a:solidFill>
              <a:srgbClr val="0B4A9E"/>
            </a:solidFill>
            <a:prstDash val="solid"/>
          </a:ln>
        </p:spPr>
      </p:sp>
      <p:sp>
        <p:nvSpPr>
          <p:cNvPr id="8" name="Text 6"/>
          <p:cNvSpPr txBox="1"/>
          <p:nvPr/>
        </p:nvSpPr>
        <p:spPr>
          <a:xfrm>
            <a:off x="548640" y="2926080"/>
            <a:ext cx="502920" cy="502920"/>
          </a:xfrm>
          <a:prstGeom prst="rect">
            <a:avLst/>
          </a:prstGeom>
          <a:noFill/>
        </p:spPr>
        <p:txBody>
          <a:bodyPr wrap="square" lIns="0" tIns="0" rIns="0" bIns="0" rtlCol="0" anchor="ctr"/>
          <a:lstStyle/>
          <a:p>
            <a:pPr marL="0" indent="0" algn="ctr">
              <a:buNone/>
            </a:pPr>
            <a:r>
              <a:rPr lang="en-US" sz="2000" b="1" dirty="0">
                <a:solidFill>
                  <a:srgbClr val="FFFFFF"/>
                </a:solidFill>
                <a:latin typeface="Arial" panose="020B0704020202020204" pitchFamily="34" charset="0"/>
                <a:ea typeface="Arial" panose="020B0704020202020204" pitchFamily="34" charset="-122"/>
                <a:cs typeface="Arial" panose="020B0704020202020204" pitchFamily="34" charset="-120"/>
              </a:rPr>
              <a:t>2</a:t>
            </a:r>
            <a:endParaRPr lang="en-US" sz="2000" dirty="0"/>
          </a:p>
        </p:txBody>
      </p:sp>
      <p:sp>
        <p:nvSpPr>
          <p:cNvPr id="9" name="Text 7"/>
          <p:cNvSpPr txBox="1"/>
          <p:nvPr/>
        </p:nvSpPr>
        <p:spPr>
          <a:xfrm>
            <a:off x="1280160" y="2907792"/>
            <a:ext cx="4754880" cy="822960"/>
          </a:xfrm>
          <a:prstGeom prst="rect">
            <a:avLst/>
          </a:prstGeom>
          <a:noFill/>
        </p:spPr>
        <p:txBody>
          <a:bodyPr wrap="square" lIns="0" tIns="0" rIns="0" bIns="0" rtlCol="0" anchor="t"/>
          <a:lstStyle/>
          <a:p>
            <a:pPr marL="0" indent="0">
              <a:buNone/>
            </a:pPr>
            <a:r>
              <a:rPr lang="en-US" sz="1700" dirty="0">
                <a:solidFill>
                  <a:srgbClr val="1B1B1D"/>
                </a:solidFill>
                <a:latin typeface="Arial" panose="020B0704020202020204" pitchFamily="34" charset="0"/>
                <a:ea typeface="Arial" panose="020B0704020202020204" pitchFamily="34" charset="-122"/>
                <a:cs typeface="Arial" panose="020B0704020202020204" pitchFamily="34" charset="-120"/>
              </a:rPr>
              <a:t>Cross the target at a right angle: that is what makes the hyperbola visible.</a:t>
            </a:r>
            <a:endParaRPr lang="en-US" sz="1700" dirty="0"/>
          </a:p>
        </p:txBody>
      </p:sp>
      <p:sp>
        <p:nvSpPr>
          <p:cNvPr id="10" name="Shape 8"/>
          <p:cNvSpPr/>
          <p:nvPr/>
        </p:nvSpPr>
        <p:spPr>
          <a:xfrm>
            <a:off x="548640" y="3977640"/>
            <a:ext cx="502920" cy="502920"/>
          </a:xfrm>
          <a:prstGeom prst="ellipse">
            <a:avLst/>
          </a:prstGeom>
          <a:solidFill>
            <a:srgbClr val="0B4A9E"/>
          </a:solidFill>
          <a:ln w="12700">
            <a:solidFill>
              <a:srgbClr val="0B4A9E"/>
            </a:solidFill>
            <a:prstDash val="solid"/>
          </a:ln>
        </p:spPr>
      </p:sp>
      <p:sp>
        <p:nvSpPr>
          <p:cNvPr id="11" name="Text 9"/>
          <p:cNvSpPr txBox="1"/>
          <p:nvPr/>
        </p:nvSpPr>
        <p:spPr>
          <a:xfrm>
            <a:off x="548640" y="3977640"/>
            <a:ext cx="502920" cy="502920"/>
          </a:xfrm>
          <a:prstGeom prst="rect">
            <a:avLst/>
          </a:prstGeom>
          <a:noFill/>
        </p:spPr>
        <p:txBody>
          <a:bodyPr wrap="square" lIns="0" tIns="0" rIns="0" bIns="0" rtlCol="0" anchor="ctr"/>
          <a:lstStyle/>
          <a:p>
            <a:pPr marL="0" indent="0" algn="ctr">
              <a:buNone/>
            </a:pPr>
            <a:r>
              <a:rPr lang="en-US" sz="2000" b="1" dirty="0">
                <a:solidFill>
                  <a:srgbClr val="FFFFFF"/>
                </a:solidFill>
                <a:latin typeface="Arial" panose="020B0704020202020204" pitchFamily="34" charset="0"/>
                <a:ea typeface="Arial" panose="020B0704020202020204" pitchFamily="34" charset="-122"/>
                <a:cs typeface="Arial" panose="020B0704020202020204" pitchFamily="34" charset="-120"/>
              </a:rPr>
              <a:t>3</a:t>
            </a:r>
            <a:endParaRPr lang="en-US" sz="2000" dirty="0"/>
          </a:p>
        </p:txBody>
      </p:sp>
      <p:sp>
        <p:nvSpPr>
          <p:cNvPr id="12" name="Text 10"/>
          <p:cNvSpPr txBox="1"/>
          <p:nvPr/>
        </p:nvSpPr>
        <p:spPr>
          <a:xfrm>
            <a:off x="1280160" y="3959352"/>
            <a:ext cx="4754880" cy="822960"/>
          </a:xfrm>
          <a:prstGeom prst="rect">
            <a:avLst/>
          </a:prstGeom>
          <a:noFill/>
        </p:spPr>
        <p:txBody>
          <a:bodyPr wrap="square" lIns="0" tIns="0" rIns="0" bIns="0" rtlCol="0" anchor="t"/>
          <a:lstStyle/>
          <a:p>
            <a:pPr marL="0" indent="0">
              <a:buNone/>
            </a:pPr>
            <a:r>
              <a:rPr lang="en-US" sz="1700" dirty="0">
                <a:solidFill>
                  <a:srgbClr val="1B1B1D"/>
                </a:solidFill>
                <a:latin typeface="Arial" panose="020B0704020202020204" pitchFamily="34" charset="0"/>
                <a:ea typeface="Arial" panose="020B0704020202020204" pitchFamily="34" charset="-122"/>
                <a:cs typeface="Arial" panose="020B0704020202020204" pitchFamily="34" charset="-120"/>
              </a:rPr>
              <a:t>700 MHz gives sharp images, 250 MHz sees deeper — using both is safer.</a:t>
            </a:r>
            <a:endParaRPr lang="en-US" sz="1700" dirty="0"/>
          </a:p>
        </p:txBody>
      </p:sp>
      <p:sp>
        <p:nvSpPr>
          <p:cNvPr id="13" name="Text 11"/>
          <p:cNvSpPr txBox="1"/>
          <p:nvPr/>
        </p:nvSpPr>
        <p:spPr>
          <a:xfrm>
            <a:off x="6492240" y="1280160"/>
            <a:ext cx="5120640" cy="411480"/>
          </a:xfrm>
          <a:prstGeom prst="rect">
            <a:avLst/>
          </a:prstGeom>
          <a:noFill/>
        </p:spPr>
        <p:txBody>
          <a:bodyPr wrap="square" lIns="0" tIns="0" rIns="0" bIns="0" rtlCol="0" anchor="t"/>
          <a:lstStyle/>
          <a:p>
            <a:pPr marL="0" indent="0">
              <a:buNone/>
            </a:pPr>
            <a:r>
              <a:rPr lang="en-US" sz="2000" b="1" dirty="0">
                <a:solidFill>
                  <a:srgbClr val="0B4A9E"/>
                </a:solidFill>
                <a:latin typeface="Arial" panose="020B0704020202020204" pitchFamily="34" charset="0"/>
                <a:ea typeface="Arial" panose="020B0704020202020204" pitchFamily="34" charset="-122"/>
                <a:cs typeface="Arial" panose="020B0704020202020204" pitchFamily="34" charset="-120"/>
              </a:rPr>
              <a:t>Limits → recommendations</a:t>
            </a:r>
            <a:endParaRPr lang="en-US" sz="2000" dirty="0"/>
          </a:p>
        </p:txBody>
      </p:sp>
      <p:sp>
        <p:nvSpPr>
          <p:cNvPr id="14" name="Shape 12"/>
          <p:cNvSpPr/>
          <p:nvPr/>
        </p:nvSpPr>
        <p:spPr>
          <a:xfrm>
            <a:off x="6492240" y="1874520"/>
            <a:ext cx="5120640" cy="1417320"/>
          </a:xfrm>
          <a:prstGeom prst="roundRect">
            <a:avLst>
              <a:gd name="adj" fmla="val 5161"/>
            </a:avLst>
          </a:prstGeom>
          <a:solidFill>
            <a:srgbClr val="EEF3FA"/>
          </a:solidFill>
          <a:ln w="12700">
            <a:solidFill>
              <a:srgbClr val="EEF3FA"/>
            </a:solidFill>
            <a:prstDash val="solid"/>
          </a:ln>
        </p:spPr>
      </p:sp>
      <p:sp>
        <p:nvSpPr>
          <p:cNvPr id="15" name="Text 13"/>
          <p:cNvSpPr txBox="1"/>
          <p:nvPr/>
        </p:nvSpPr>
        <p:spPr>
          <a:xfrm>
            <a:off x="6720840" y="2039112"/>
            <a:ext cx="4663440" cy="685800"/>
          </a:xfrm>
          <a:prstGeom prst="rect">
            <a:avLst/>
          </a:prstGeom>
          <a:noFill/>
        </p:spPr>
        <p:txBody>
          <a:bodyPr wrap="square" lIns="0" tIns="0" rIns="0" bIns="0" rtlCol="0" anchor="t"/>
          <a:lstStyle/>
          <a:p>
            <a:pPr marL="0" indent="0">
              <a:buNone/>
            </a:pPr>
            <a:r>
              <a:rPr lang="en-US" sz="1500" dirty="0">
                <a:solidFill>
                  <a:srgbClr val="1B1B1D"/>
                </a:solidFill>
                <a:latin typeface="Arial" panose="020B0704020202020204" pitchFamily="34" charset="0"/>
                <a:ea typeface="Arial" panose="020B0704020202020204" pitchFamily="34" charset="-122"/>
                <a:cs typeface="Arial" panose="020B0704020202020204" pitchFamily="34" charset="-120"/>
              </a:rPr>
              <a:t>Depth depends on the velocity: our 2-layer model vs 0.095 m/ns shifts depths by ~20 %.</a:t>
            </a:r>
            <a:endParaRPr lang="en-US" sz="1500" dirty="0"/>
          </a:p>
        </p:txBody>
      </p:sp>
      <p:sp>
        <p:nvSpPr>
          <p:cNvPr id="16" name="Text 14"/>
          <p:cNvSpPr txBox="1"/>
          <p:nvPr/>
        </p:nvSpPr>
        <p:spPr>
          <a:xfrm>
            <a:off x="6720840" y="2770632"/>
            <a:ext cx="4663440" cy="365760"/>
          </a:xfrm>
          <a:prstGeom prst="rect">
            <a:avLst/>
          </a:prstGeom>
          <a:noFill/>
        </p:spPr>
        <p:txBody>
          <a:bodyPr wrap="square" lIns="0" tIns="0" rIns="0" bIns="0" rtlCol="0" anchor="t"/>
          <a:lstStyle/>
          <a:p>
            <a:pPr marL="0" indent="0">
              <a:buNone/>
            </a:pPr>
            <a:r>
              <a:rPr lang="en-US" sz="1500" b="1" dirty="0">
                <a:solidFill>
                  <a:srgbClr val="C9A227"/>
                </a:solidFill>
                <a:latin typeface="Arial" panose="020B0704020202020204" pitchFamily="34" charset="0"/>
                <a:ea typeface="Arial" panose="020B0704020202020204" pitchFamily="34" charset="-122"/>
                <a:cs typeface="Arial" panose="020B0704020202020204" pitchFamily="34" charset="-120"/>
              </a:rPr>
              <a:t>→ </a:t>
            </a:r>
            <a:r>
              <a:rPr lang="en-US" sz="1500" b="1" dirty="0">
                <a:solidFill>
                  <a:srgbClr val="1B1B1D"/>
                </a:solidFill>
                <a:latin typeface="Arial" panose="020B0704020202020204" pitchFamily="34" charset="0"/>
                <a:ea typeface="Arial" panose="020B0704020202020204" pitchFamily="34" charset="-122"/>
                <a:cs typeface="Arial" panose="020B0704020202020204" pitchFamily="34" charset="-120"/>
              </a:rPr>
              <a:t>Calibrate with the RD7000 or one small test pit.</a:t>
            </a:r>
            <a:endParaRPr lang="en-US" sz="1500" dirty="0"/>
          </a:p>
        </p:txBody>
      </p:sp>
      <p:sp>
        <p:nvSpPr>
          <p:cNvPr id="17" name="Shape 15"/>
          <p:cNvSpPr/>
          <p:nvPr/>
        </p:nvSpPr>
        <p:spPr>
          <a:xfrm>
            <a:off x="6492240" y="3474720"/>
            <a:ext cx="5120640" cy="1417320"/>
          </a:xfrm>
          <a:prstGeom prst="roundRect">
            <a:avLst>
              <a:gd name="adj" fmla="val 5161"/>
            </a:avLst>
          </a:prstGeom>
          <a:solidFill>
            <a:srgbClr val="EEF3FA"/>
          </a:solidFill>
          <a:ln w="12700">
            <a:solidFill>
              <a:srgbClr val="EEF3FA"/>
            </a:solidFill>
            <a:prstDash val="solid"/>
          </a:ln>
        </p:spPr>
      </p:sp>
      <p:sp>
        <p:nvSpPr>
          <p:cNvPr id="18" name="Text 16"/>
          <p:cNvSpPr txBox="1"/>
          <p:nvPr/>
        </p:nvSpPr>
        <p:spPr>
          <a:xfrm>
            <a:off x="6720840" y="3639312"/>
            <a:ext cx="4663440" cy="685800"/>
          </a:xfrm>
          <a:prstGeom prst="rect">
            <a:avLst/>
          </a:prstGeom>
          <a:noFill/>
        </p:spPr>
        <p:txBody>
          <a:bodyPr wrap="square" lIns="0" tIns="0" rIns="0" bIns="0" rtlCol="0" anchor="t"/>
          <a:lstStyle/>
          <a:p>
            <a:pPr marL="0" indent="0">
              <a:buNone/>
            </a:pPr>
            <a:r>
              <a:rPr lang="en-US" sz="1500" dirty="0">
                <a:solidFill>
                  <a:srgbClr val="1B1B1D"/>
                </a:solidFill>
                <a:latin typeface="Arial" panose="020B0704020202020204" pitchFamily="34" charset="0"/>
                <a:ea typeface="Arial" panose="020B0704020202020204" pitchFamily="34" charset="-122"/>
                <a:cs typeface="Arial" panose="020B0704020202020204" pitchFamily="34" charset="-120"/>
              </a:rPr>
              <a:t>Line positions were paced, not surveyed: lines walked backwards had to be placed from our field marks.</a:t>
            </a:r>
            <a:endParaRPr lang="en-US" sz="1500" dirty="0"/>
          </a:p>
        </p:txBody>
      </p:sp>
      <p:sp>
        <p:nvSpPr>
          <p:cNvPr id="19" name="Text 17"/>
          <p:cNvSpPr txBox="1"/>
          <p:nvPr/>
        </p:nvSpPr>
        <p:spPr>
          <a:xfrm>
            <a:off x="6720840" y="4370832"/>
            <a:ext cx="4663440" cy="365760"/>
          </a:xfrm>
          <a:prstGeom prst="rect">
            <a:avLst/>
          </a:prstGeom>
          <a:noFill/>
        </p:spPr>
        <p:txBody>
          <a:bodyPr wrap="square" lIns="0" tIns="0" rIns="0" bIns="0" rtlCol="0" anchor="t"/>
          <a:lstStyle/>
          <a:p>
            <a:pPr marL="0" indent="0">
              <a:buNone/>
            </a:pPr>
            <a:r>
              <a:rPr lang="en-US" sz="1500" b="1" dirty="0">
                <a:solidFill>
                  <a:srgbClr val="C9A227"/>
                </a:solidFill>
                <a:latin typeface="Arial" panose="020B0704020202020204" pitchFamily="34" charset="0"/>
                <a:ea typeface="Arial" panose="020B0704020202020204" pitchFamily="34" charset="-122"/>
                <a:cs typeface="Arial" panose="020B0704020202020204" pitchFamily="34" charset="-120"/>
              </a:rPr>
              <a:t>→ </a:t>
            </a:r>
            <a:r>
              <a:rPr lang="en-US" sz="1500" b="1" dirty="0">
                <a:solidFill>
                  <a:srgbClr val="1B1B1D"/>
                </a:solidFill>
                <a:latin typeface="Arial" panose="020B0704020202020204" pitchFamily="34" charset="0"/>
                <a:ea typeface="Arial" panose="020B0704020202020204" pitchFamily="34" charset="-122"/>
                <a:cs typeface="Arial" panose="020B0704020202020204" pitchFamily="34" charset="-120"/>
              </a:rPr>
              <a:t>Use an odometer wheel or GPS.</a:t>
            </a:r>
            <a:endParaRPr lang="en-US" sz="1500" dirty="0"/>
          </a:p>
        </p:txBody>
      </p:sp>
      <p:sp>
        <p:nvSpPr>
          <p:cNvPr id="20" name="Text 18"/>
          <p:cNvSpPr txBox="1"/>
          <p:nvPr/>
        </p:nvSpPr>
        <p:spPr>
          <a:xfrm>
            <a:off x="548640" y="5303520"/>
            <a:ext cx="11064240" cy="548640"/>
          </a:xfrm>
          <a:prstGeom prst="rect">
            <a:avLst/>
          </a:prstGeom>
          <a:noFill/>
        </p:spPr>
        <p:txBody>
          <a:bodyPr wrap="square" lIns="0" tIns="0" rIns="0" bIns="0" rtlCol="0" anchor="t"/>
          <a:lstStyle/>
          <a:p>
            <a:pPr marL="0" indent="0">
              <a:buNone/>
            </a:pPr>
            <a:r>
              <a:rPr lang="en-US" sz="1700" b="1" i="1" dirty="0">
                <a:solidFill>
                  <a:srgbClr val="0B4A9E"/>
                </a:solidFill>
                <a:latin typeface="Arial" panose="020B0704020202020204" pitchFamily="34" charset="0"/>
                <a:ea typeface="Arial" panose="020B0704020202020204" pitchFamily="34" charset="-122"/>
                <a:cs typeface="Arial" panose="020B0704020202020204" pitchFamily="34" charset="-120"/>
              </a:rPr>
              <a:t>28 %</a:t>
            </a:r>
            <a:r>
              <a:rPr lang="en-US" sz="1700" i="1" dirty="0">
                <a:solidFill>
                  <a:srgbClr val="1B1B1D"/>
                </a:solidFill>
                <a:latin typeface="Arial" panose="020B0704020202020204" pitchFamily="34" charset="0"/>
                <a:ea typeface="Arial" panose="020B0704020202020204" pitchFamily="34" charset="-122"/>
                <a:cs typeface="Arial" panose="020B0704020202020204" pitchFamily="34" charset="-120"/>
              </a:rPr>
              <a:t> of utility strikes in the US are traced to locating errors (CGA, 2019). Locating well is exactly what GPR is for.</a:t>
            </a:r>
            <a:endParaRPr lang="en-US" sz="1700" dirty="0"/>
          </a:p>
        </p:txBody>
      </p:sp>
      <p:sp>
        <p:nvSpPr>
          <p:cNvPr id="25" name="Slide Number Placeholder 0"/>
          <p:cNvSpPr>
            <a:spLocks noGrp="1"/>
          </p:cNvSpPr>
          <p:nvPr>
            <p:ph type="sldNum" sz="quarter" idx="4294967295"/>
          </p:nvPr>
        </p:nvSpPr>
        <p:spPr>
          <a:xfrm>
            <a:off x="11155680" y="6419088"/>
            <a:ext cx="457200" cy="256032"/>
          </a:xfrm>
          <a:prstGeom prst="rect">
            <a:avLst/>
          </a:prstGeom>
        </p:spPr>
        <p:txBody>
          <a:bodyPr/>
          <a:lstStyle>
            <a:lvl1pPr>
              <a:defRPr sz="1000">
                <a:solidFill>
                  <a:srgbClr val="5F6368"/>
                </a:solidFill>
                <a:latin typeface="Arial" panose="020B0704020202020204"/>
                <a:ea typeface="Arial" panose="020B0704020202020204"/>
                <a:cs typeface="Arial" panose="020B0704020202020204"/>
              </a:defRPr>
            </a:lvl1pPr>
          </a:lstStyle>
          <a:p>
            <a:pPr algn="r"/>
            <a:fld id="{F7021451-1387-4CA6-816F-3879F97B5CBC}" type="slidenum">
              <a:rPr lang="en-US" b="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The courtyard from above with the mapped pipe and cable"/>
          <p:cNvPicPr>
            <a:picLocks noChangeAspect="1"/>
          </p:cNvPicPr>
          <p:nvPr/>
        </p:nvPicPr>
        <p:blipFill>
          <a:blip r:embed="rId1"/>
          <a:stretch>
            <a:fillRect/>
          </a:stretch>
        </p:blipFill>
        <p:spPr>
          <a:xfrm>
            <a:off x="6336792" y="0"/>
            <a:ext cx="5852160" cy="6858000"/>
          </a:xfrm>
          <a:prstGeom prst="rect">
            <a:avLst/>
          </a:prstGeom>
        </p:spPr>
      </p:pic>
      <p:pic>
        <p:nvPicPr>
          <p:cNvPr id="3" name="Image 1" descr="HCMUS logo"/>
          <p:cNvPicPr>
            <a:picLocks noChangeAspect="1"/>
          </p:cNvPicPr>
          <p:nvPr/>
        </p:nvPicPr>
        <p:blipFill>
          <a:blip r:embed="rId2"/>
          <a:stretch>
            <a:fillRect/>
          </a:stretch>
        </p:blipFill>
        <p:spPr>
          <a:xfrm>
            <a:off x="640080" y="274320"/>
            <a:ext cx="667512" cy="548640"/>
          </a:xfrm>
          <a:prstGeom prst="rect">
            <a:avLst/>
          </a:prstGeom>
        </p:spPr>
      </p:pic>
      <p:sp>
        <p:nvSpPr>
          <p:cNvPr id="4" name="Text 0"/>
          <p:cNvSpPr txBox="1"/>
          <p:nvPr/>
        </p:nvSpPr>
        <p:spPr>
          <a:xfrm>
            <a:off x="640080" y="960120"/>
            <a:ext cx="5394960" cy="411480"/>
          </a:xfrm>
          <a:prstGeom prst="rect">
            <a:avLst/>
          </a:prstGeom>
          <a:noFill/>
        </p:spPr>
        <p:txBody>
          <a:bodyPr wrap="square" lIns="0" tIns="0" rIns="0" bIns="0" rtlCol="0" anchor="t"/>
          <a:lstStyle/>
          <a:p>
            <a:pPr marL="0" indent="0">
              <a:buNone/>
            </a:pPr>
            <a:r>
              <a:rPr lang="en-US" sz="2000" dirty="0">
                <a:solidFill>
                  <a:srgbClr val="D6E2F3"/>
                </a:solidFill>
                <a:latin typeface="Arial" panose="020B0704020202020204" pitchFamily="34" charset="0"/>
                <a:ea typeface="Arial" panose="020B0704020202020204" pitchFamily="34" charset="-122"/>
                <a:cs typeface="Arial" panose="020B0704020202020204" pitchFamily="34" charset="-120"/>
              </a:rPr>
              <a:t>What is under our feet?</a:t>
            </a:r>
            <a:endParaRPr lang="en-US" sz="2000" dirty="0"/>
          </a:p>
        </p:txBody>
      </p:sp>
      <p:sp>
        <p:nvSpPr>
          <p:cNvPr id="5" name="Text 1"/>
          <p:cNvSpPr txBox="1"/>
          <p:nvPr/>
        </p:nvSpPr>
        <p:spPr>
          <a:xfrm>
            <a:off x="640080" y="1371600"/>
            <a:ext cx="5394960" cy="822960"/>
          </a:xfrm>
          <a:prstGeom prst="rect">
            <a:avLst/>
          </a:prstGeom>
          <a:noFill/>
        </p:spPr>
        <p:txBody>
          <a:bodyPr wrap="square" lIns="0" tIns="0" rIns="0" bIns="0" rtlCol="0" anchor="t"/>
          <a:lstStyle/>
          <a:p>
            <a:pPr marL="0" indent="0">
              <a:buNone/>
            </a:pPr>
            <a:r>
              <a:rPr lang="en-US" sz="4800" b="1" dirty="0">
                <a:solidFill>
                  <a:srgbClr val="FFFFFF"/>
                </a:solidFill>
                <a:latin typeface="Arial" panose="020B0704020202020204" pitchFamily="34" charset="0"/>
                <a:ea typeface="Arial" panose="020B0704020202020204" pitchFamily="34" charset="-122"/>
                <a:cs typeface="Arial" panose="020B0704020202020204" pitchFamily="34" charset="-120"/>
              </a:rPr>
              <a:t>Now we know.</a:t>
            </a:r>
            <a:endParaRPr lang="en-US" sz="4800" dirty="0"/>
          </a:p>
        </p:txBody>
      </p:sp>
      <p:sp>
        <p:nvSpPr>
          <p:cNvPr id="6" name="Text 2"/>
          <p:cNvSpPr txBox="1"/>
          <p:nvPr/>
        </p:nvSpPr>
        <p:spPr>
          <a:xfrm>
            <a:off x="640080" y="2240280"/>
            <a:ext cx="5394960" cy="548640"/>
          </a:xfrm>
          <a:prstGeom prst="rect">
            <a:avLst/>
          </a:prstGeom>
          <a:noFill/>
        </p:spPr>
        <p:txBody>
          <a:bodyPr wrap="square" lIns="0" tIns="0" rIns="0" bIns="0" rtlCol="0" anchor="t"/>
          <a:lstStyle/>
          <a:p>
            <a:pPr marL="0" indent="0">
              <a:buNone/>
            </a:pPr>
            <a:r>
              <a:rPr lang="en-US" sz="2800" b="1" dirty="0">
                <a:solidFill>
                  <a:srgbClr val="F2C94C"/>
                </a:solidFill>
                <a:latin typeface="Arial" panose="020B0704020202020204" pitchFamily="34" charset="0"/>
                <a:ea typeface="Arial" panose="020B0704020202020204" pitchFamily="34" charset="-122"/>
                <a:cs typeface="Arial" panose="020B0704020202020204" pitchFamily="34" charset="-120"/>
              </a:rPr>
              <a:t>Thank you — Questions?</a:t>
            </a:r>
            <a:endParaRPr lang="en-US" sz="2800" dirty="0"/>
          </a:p>
        </p:txBody>
      </p:sp>
      <p:pic>
        <p:nvPicPr>
          <p:cNvPr id="7" name="Image 2" descr="Our team with the GPR on site"/>
          <p:cNvPicPr>
            <a:picLocks noChangeAspect="1"/>
          </p:cNvPicPr>
          <p:nvPr/>
        </p:nvPicPr>
        <p:blipFill>
          <a:blip r:embed="rId3"/>
          <a:stretch>
            <a:fillRect/>
          </a:stretch>
        </p:blipFill>
        <p:spPr>
          <a:xfrm>
            <a:off x="640080" y="3063240"/>
            <a:ext cx="2194560" cy="1645920"/>
          </a:xfrm>
          <a:prstGeom prst="rect">
            <a:avLst/>
          </a:prstGeom>
        </p:spPr>
      </p:pic>
      <p:sp>
        <p:nvSpPr>
          <p:cNvPr id="8" name="Text 3"/>
          <p:cNvSpPr txBox="1"/>
          <p:nvPr/>
        </p:nvSpPr>
        <p:spPr>
          <a:xfrm>
            <a:off x="3063240" y="3063240"/>
            <a:ext cx="3017520" cy="1645920"/>
          </a:xfrm>
          <a:prstGeom prst="rect">
            <a:avLst/>
          </a:prstGeom>
          <a:noFill/>
        </p:spPr>
        <p:txBody>
          <a:bodyPr wrap="square" lIns="0" tIns="0" rIns="0" bIns="0" rtlCol="0" anchor="t"/>
          <a:lstStyle/>
          <a:p>
            <a:pPr marL="0" indent="0">
              <a:buNone/>
            </a:pPr>
            <a:r>
              <a:rPr lang="en-US" sz="1400" b="1" dirty="0">
                <a:solidFill>
                  <a:srgbClr val="F2C94C"/>
                </a:solidFill>
                <a:latin typeface="Arial" panose="020B0704020202020204" pitchFamily="34" charset="0"/>
                <a:ea typeface="Arial" panose="020B0704020202020204" pitchFamily="34" charset="-122"/>
                <a:cs typeface="Arial" panose="020B0704020202020204" pitchFamily="34" charset="-120"/>
              </a:rPr>
              <a:t>Our team</a:t>
            </a:r>
            <a:endParaRPr lang="en-US" sz="1400" dirty="0"/>
          </a:p>
          <a:p>
            <a:pPr marL="0" indent="0">
              <a:buNone/>
            </a:pPr>
            <a:r>
              <a:rPr lang="en-US" sz="1400" dirty="0">
                <a:solidFill>
                  <a:srgbClr val="FFFFFF"/>
                </a:solidFill>
                <a:latin typeface="Arial" panose="020B0704020202020204" pitchFamily="34" charset="0"/>
                <a:ea typeface="Arial" panose="020B0704020202020204" pitchFamily="34" charset="-122"/>
                <a:cs typeface="Arial" panose="020B0704020202020204" pitchFamily="34" charset="-120"/>
              </a:rPr>
              <a:t>Quốc Long</a:t>
            </a:r>
            <a:endParaRPr lang="en-US" sz="1400" dirty="0"/>
          </a:p>
          <a:p>
            <a:pPr marL="0" indent="0">
              <a:buNone/>
            </a:pPr>
            <a:r>
              <a:rPr lang="en-US" sz="1400" dirty="0">
                <a:solidFill>
                  <a:srgbClr val="FFFFFF"/>
                </a:solidFill>
                <a:latin typeface="Arial" panose="020B0704020202020204" pitchFamily="34" charset="0"/>
                <a:ea typeface="Arial" panose="020B0704020202020204" pitchFamily="34" charset="-122"/>
                <a:cs typeface="Arial" panose="020B0704020202020204" pitchFamily="34" charset="-120"/>
              </a:rPr>
              <a:t>Quốc Tài</a:t>
            </a:r>
            <a:endParaRPr lang="en-US" sz="1400" dirty="0"/>
          </a:p>
          <a:p>
            <a:pPr marL="0" indent="0">
              <a:buNone/>
            </a:pPr>
            <a:r>
              <a:rPr lang="en-US" sz="1400" dirty="0">
                <a:solidFill>
                  <a:srgbClr val="FFFFFF"/>
                </a:solidFill>
                <a:latin typeface="Arial" panose="020B0704020202020204" pitchFamily="34" charset="0"/>
                <a:ea typeface="Arial" panose="020B0704020202020204" pitchFamily="34" charset="-122"/>
                <a:cs typeface="Arial" panose="020B0704020202020204" pitchFamily="34" charset="-120"/>
              </a:rPr>
              <a:t>Thành Trung</a:t>
            </a:r>
            <a:endParaRPr lang="en-US" sz="1400" dirty="0"/>
          </a:p>
          <a:p>
            <a:pPr marL="0" indent="0">
              <a:buNone/>
            </a:pPr>
            <a:r>
              <a:rPr lang="en-US" sz="1400" dirty="0">
                <a:solidFill>
                  <a:srgbClr val="FFFFFF"/>
                </a:solidFill>
                <a:latin typeface="Arial" panose="020B0704020202020204" pitchFamily="34" charset="0"/>
                <a:ea typeface="Arial" panose="020B0704020202020204" pitchFamily="34" charset="-122"/>
                <a:cs typeface="Arial" panose="020B0704020202020204" pitchFamily="34" charset="-120"/>
              </a:rPr>
              <a:t>Đăng Khoa</a:t>
            </a:r>
            <a:endParaRPr lang="en-US" sz="1400" dirty="0"/>
          </a:p>
          <a:p>
            <a:pPr marL="0" indent="0">
              <a:buNone/>
            </a:pPr>
            <a:r>
              <a:rPr lang="en-US" sz="1400" dirty="0">
                <a:solidFill>
                  <a:srgbClr val="FFFFFF"/>
                </a:solidFill>
                <a:latin typeface="Arial" panose="020B0704020202020204" pitchFamily="34" charset="0"/>
                <a:ea typeface="Arial" panose="020B0704020202020204" pitchFamily="34" charset="-122"/>
                <a:cs typeface="Arial" panose="020B0704020202020204" pitchFamily="34" charset="-120"/>
              </a:rPr>
              <a:t>Đăng Quang</a:t>
            </a:r>
            <a:endParaRPr lang="en-US" sz="1400" dirty="0"/>
          </a:p>
        </p:txBody>
      </p:sp>
      <p:sp>
        <p:nvSpPr>
          <p:cNvPr id="9" name="Text 4"/>
          <p:cNvSpPr txBox="1"/>
          <p:nvPr/>
        </p:nvSpPr>
        <p:spPr>
          <a:xfrm>
            <a:off x="640080" y="4800600"/>
            <a:ext cx="5394960" cy="274320"/>
          </a:xfrm>
          <a:prstGeom prst="rect">
            <a:avLst/>
          </a:prstGeom>
          <a:noFill/>
        </p:spPr>
        <p:txBody>
          <a:bodyPr wrap="square" lIns="0" tIns="0" rIns="0" bIns="0" rtlCol="0" anchor="t"/>
          <a:lstStyle/>
          <a:p>
            <a:pPr marL="0" indent="0">
              <a:buNone/>
            </a:pPr>
            <a:r>
              <a:rPr lang="en-US" sz="1200" dirty="0">
                <a:solidFill>
                  <a:srgbClr val="D6E2F3"/>
                </a:solidFill>
                <a:latin typeface="Arial" panose="020B0704020202020204" pitchFamily="34" charset="0"/>
                <a:ea typeface="Arial" panose="020B0704020202020204" pitchFamily="34" charset="-122"/>
                <a:cs typeface="Arial" panose="020B0704020202020204" pitchFamily="34" charset="-120"/>
              </a:rPr>
              <a:t>Group [ ] · Supervisor: [ ]</a:t>
            </a:r>
            <a:endParaRPr lang="en-US" sz="1200" dirty="0"/>
          </a:p>
        </p:txBody>
      </p:sp>
      <p:sp>
        <p:nvSpPr>
          <p:cNvPr id="10" name="Text 5"/>
          <p:cNvSpPr txBox="1"/>
          <p:nvPr/>
        </p:nvSpPr>
        <p:spPr>
          <a:xfrm>
            <a:off x="640080" y="5257800"/>
            <a:ext cx="5394960" cy="1280160"/>
          </a:xfrm>
          <a:prstGeom prst="rect">
            <a:avLst/>
          </a:prstGeom>
          <a:noFill/>
        </p:spPr>
        <p:txBody>
          <a:bodyPr wrap="square" lIns="0" tIns="0" rIns="0" bIns="0" rtlCol="0" anchor="t"/>
          <a:lstStyle/>
          <a:p>
            <a:pPr marL="0" indent="0">
              <a:spcAft>
                <a:spcPts val="400"/>
              </a:spcAft>
              <a:buNone/>
            </a:pPr>
            <a:r>
              <a:rPr lang="en-US" sz="1000" dirty="0">
                <a:solidFill>
                  <a:srgbClr val="D6E2F3"/>
                </a:solidFill>
                <a:latin typeface="Arial" panose="020B0704020202020204" pitchFamily="34" charset="0"/>
                <a:ea typeface="Arial" panose="020B0704020202020204" pitchFamily="34" charset="-122"/>
                <a:cs typeface="Arial" panose="020B0704020202020204" pitchFamily="34" charset="-120"/>
              </a:rPr>
              <a:t>Daniels, D. J. (2004). Ground Penetrating Radar, 2nd ed. IET.</a:t>
            </a:r>
            <a:endParaRPr lang="en-US" sz="1000" dirty="0"/>
          </a:p>
          <a:p>
            <a:pPr marL="0" indent="0">
              <a:spcAft>
                <a:spcPts val="400"/>
              </a:spcAft>
              <a:buNone/>
            </a:pPr>
            <a:r>
              <a:rPr lang="en-US" sz="1000" dirty="0">
                <a:solidFill>
                  <a:srgbClr val="D6E2F3"/>
                </a:solidFill>
                <a:latin typeface="Arial" panose="020B0704020202020204" pitchFamily="34" charset="0"/>
                <a:ea typeface="Arial" panose="020B0704020202020204" pitchFamily="34" charset="-122"/>
                <a:cs typeface="Arial" panose="020B0704020202020204" pitchFamily="34" charset="-120"/>
              </a:rPr>
              <a:t>Metje, N. et al. (2007). Mapping the Underworld – state-of-the-art review. Tunn. Undergr. Space Technol. 22, 568–586.</a:t>
            </a:r>
            <a:endParaRPr lang="en-US" sz="1000" dirty="0"/>
          </a:p>
          <a:p>
            <a:pPr marL="0" indent="0">
              <a:spcAft>
                <a:spcPts val="400"/>
              </a:spcAft>
              <a:buNone/>
            </a:pPr>
            <a:r>
              <a:rPr lang="en-US" sz="1000" dirty="0">
                <a:solidFill>
                  <a:srgbClr val="D6E2F3"/>
                </a:solidFill>
                <a:latin typeface="Arial" panose="020B0704020202020204" pitchFamily="34" charset="0"/>
                <a:ea typeface="Arial" panose="020B0704020202020204" pitchFamily="34" charset="-122"/>
                <a:cs typeface="Arial" panose="020B0704020202020204" pitchFamily="34" charset="-120"/>
              </a:rPr>
              <a:t>Lai, W. W.-L., Dérobert, X., Annan, P. (2018). A review of GPR application in civil engineering. NDT &amp; E Int. 96, 58–78.</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10058400" cy="731520"/>
          </a:xfrm>
          <a:prstGeom prst="rect">
            <a:avLst/>
          </a:prstGeom>
          <a:noFill/>
        </p:spPr>
        <p:txBody>
          <a:bodyPr wrap="square" lIns="0" tIns="0" rIns="0" bIns="0" rtlCol="0" anchor="ctr"/>
          <a:lstStyle/>
          <a:p>
            <a:pPr marL="0" indent="0" algn="l">
              <a:buNone/>
            </a:pPr>
            <a:r>
              <a:rPr lang="en-US" sz="2800" b="1" dirty="0">
                <a:solidFill>
                  <a:srgbClr val="0B4A9E"/>
                </a:solidFill>
                <a:latin typeface="Arial" panose="020B0704020202020204" pitchFamily="34" charset="0"/>
                <a:ea typeface="Arial" panose="020B0704020202020204" pitchFamily="34" charset="-122"/>
                <a:cs typeface="Arial" panose="020B0704020202020204" pitchFamily="34" charset="-120"/>
              </a:rPr>
              <a:t>Backup · Plan view: every target with its depth</a:t>
            </a:r>
            <a:endParaRPr lang="en-US" sz="2800" dirty="0"/>
          </a:p>
        </p:txBody>
      </p:sp>
      <p:pic>
        <p:nvPicPr>
          <p:cNvPr id="3" name="Image 0" descr="Plan view map of the water pipe and power cable with depth labels"/>
          <p:cNvPicPr>
            <a:picLocks noChangeAspect="1"/>
          </p:cNvPicPr>
          <p:nvPr/>
        </p:nvPicPr>
        <p:blipFill>
          <a:blip r:embed="rId1"/>
          <a:stretch>
            <a:fillRect/>
          </a:stretch>
        </p:blipFill>
        <p:spPr>
          <a:xfrm>
            <a:off x="548640" y="1371600"/>
            <a:ext cx="11064240" cy="4096512"/>
          </a:xfrm>
          <a:prstGeom prst="rect">
            <a:avLst/>
          </a:prstGeom>
        </p:spPr>
      </p:pic>
      <p:sp>
        <p:nvSpPr>
          <p:cNvPr id="25" name="Slide Number Placeholder 0"/>
          <p:cNvSpPr>
            <a:spLocks noGrp="1"/>
          </p:cNvSpPr>
          <p:nvPr>
            <p:ph type="sldNum" sz="quarter" idx="4294967295"/>
          </p:nvPr>
        </p:nvSpPr>
        <p:spPr>
          <a:xfrm>
            <a:off x="11155680" y="6419088"/>
            <a:ext cx="457200" cy="256032"/>
          </a:xfrm>
          <a:prstGeom prst="rect">
            <a:avLst/>
          </a:prstGeom>
        </p:spPr>
        <p:txBody>
          <a:bodyPr/>
          <a:lstStyle>
            <a:lvl1pPr>
              <a:defRPr sz="1000">
                <a:solidFill>
                  <a:srgbClr val="5F6368"/>
                </a:solidFill>
                <a:latin typeface="Arial" panose="020B0704020202020204"/>
                <a:ea typeface="Arial" panose="020B0704020202020204"/>
                <a:cs typeface="Arial" panose="020B0704020202020204"/>
              </a:defRPr>
            </a:lvl1pPr>
          </a:lstStyle>
          <a:p>
            <a:pPr algn="r"/>
            <a:fld id="{F7021451-1387-4CA6-816F-3879F97B5CBC}" type="slidenum">
              <a:rPr lang="en-US" b="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Line C1 before and after Kirchhoff migration with a zoom on the cable signal"/>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10058400" cy="731520"/>
          </a:xfrm>
          <a:prstGeom prst="rect">
            <a:avLst/>
          </a:prstGeom>
          <a:noFill/>
        </p:spPr>
        <p:txBody>
          <a:bodyPr wrap="square" lIns="0" tIns="0" rIns="0" bIns="0" rtlCol="0" anchor="ctr"/>
          <a:lstStyle/>
          <a:p>
            <a:pPr marL="0" indent="0" algn="l">
              <a:buNone/>
            </a:pPr>
            <a:r>
              <a:rPr lang="en-US" sz="2800" b="1" dirty="0">
                <a:solidFill>
                  <a:srgbClr val="0B4A9E"/>
                </a:solidFill>
                <a:latin typeface="Arial" panose="020B0704020202020204" pitchFamily="34" charset="0"/>
                <a:ea typeface="Arial" panose="020B0704020202020204" pitchFamily="34" charset="-122"/>
                <a:cs typeface="Arial" panose="020B0704020202020204" pitchFamily="34" charset="-120"/>
              </a:rPr>
              <a:t>Backup · Why GPR? NDT methods compared</a:t>
            </a:r>
            <a:endParaRPr lang="en-US" sz="2800" dirty="0"/>
          </a:p>
        </p:txBody>
      </p:sp>
      <p:graphicFrame>
        <p:nvGraphicFramePr>
          <p:cNvPr id="18" name="Table 0"/>
          <p:cNvGraphicFramePr>
            <a:graphicFrameLocks noGrp="1"/>
          </p:cNvGraphicFramePr>
          <p:nvPr/>
        </p:nvGraphicFramePr>
        <p:xfrm>
          <a:off x="548640" y="1325880"/>
          <a:ext cx="11064240" cy="3401568"/>
        </p:xfrm>
        <a:graphic>
          <a:graphicData uri="http://schemas.openxmlformats.org/drawingml/2006/table">
            <a:tbl>
              <a:tblPr/>
              <a:tblGrid>
                <a:gridCol w="2743200"/>
                <a:gridCol w="3474720"/>
                <a:gridCol w="2194560"/>
                <a:gridCol w="2651760"/>
              </a:tblGrid>
              <a:tr h="566928">
                <a:tc>
                  <a:txBody>
                    <a:bodyPr/>
                    <a:lstStyle/>
                    <a:p>
                      <a:pPr marL="0" indent="0">
                        <a:buNone/>
                      </a:pPr>
                      <a:r>
                        <a:rPr lang="en-US" sz="1400" b="1" dirty="0">
                          <a:solidFill>
                            <a:srgbClr val="FFFFFF"/>
                          </a:solidFill>
                          <a:latin typeface="Arial" panose="020B0704020202020204" pitchFamily="34" charset="0"/>
                          <a:ea typeface="Arial" panose="020B0704020202020204" pitchFamily="34" charset="-122"/>
                          <a:cs typeface="Arial" panose="020B0704020202020204" pitchFamily="34" charset="-120"/>
                        </a:rPr>
                        <a:t>Method</a:t>
                      </a:r>
                      <a:endParaRPr lang="en-US" sz="1400" dirty="0">
                        <a:latin typeface="Arial" panose="020B0704020202020204" pitchFamily="34" charset="0"/>
                        <a:ea typeface="Arial" panose="020B0704020202020204" pitchFamily="34" charset="0"/>
                        <a:cs typeface="Arial" panose="020B0704020202020204" pitchFamily="34"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0B4A9E"/>
                    </a:solidFill>
                  </a:tcPr>
                </a:tc>
                <a:tc>
                  <a:txBody>
                    <a:bodyPr/>
                    <a:lstStyle/>
                    <a:p>
                      <a:pPr marL="0" indent="0">
                        <a:buNone/>
                      </a:pPr>
                      <a:r>
                        <a:rPr lang="en-US" sz="1400" b="1" dirty="0">
                          <a:solidFill>
                            <a:srgbClr val="FFFFFF"/>
                          </a:solidFill>
                          <a:latin typeface="Arial" panose="020B0704020202020204" pitchFamily="34" charset="0"/>
                          <a:ea typeface="Arial" panose="020B0704020202020204" pitchFamily="34" charset="-122"/>
                          <a:cs typeface="Arial" panose="020B0704020202020204" pitchFamily="34" charset="-120"/>
                        </a:rPr>
                        <a:t>What it detects</a:t>
                      </a:r>
                      <a:endParaRPr lang="en-US" sz="1400" dirty="0">
                        <a:latin typeface="Arial" panose="020B0704020202020204" pitchFamily="34" charset="0"/>
                        <a:ea typeface="Arial" panose="020B0704020202020204" pitchFamily="34" charset="0"/>
                        <a:cs typeface="Arial" panose="020B0704020202020204" pitchFamily="34"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0B4A9E"/>
                    </a:solidFill>
                  </a:tcPr>
                </a:tc>
                <a:tc>
                  <a:txBody>
                    <a:bodyPr/>
                    <a:lstStyle/>
                    <a:p>
                      <a:pPr marL="0" indent="0">
                        <a:buNone/>
                      </a:pPr>
                      <a:r>
                        <a:rPr lang="en-US" sz="1400" b="1" dirty="0">
                          <a:solidFill>
                            <a:srgbClr val="FFFFFF"/>
                          </a:solidFill>
                          <a:latin typeface="Arial" panose="020B0704020202020204" pitchFamily="34" charset="0"/>
                          <a:ea typeface="Arial" panose="020B0704020202020204" pitchFamily="34" charset="-122"/>
                          <a:cs typeface="Arial" panose="020B0704020202020204" pitchFamily="34" charset="-120"/>
                        </a:rPr>
                        <a:t>Plastic pipes?</a:t>
                      </a:r>
                      <a:endParaRPr lang="en-US" sz="1400" dirty="0">
                        <a:latin typeface="Arial" panose="020B0704020202020204" pitchFamily="34" charset="0"/>
                        <a:ea typeface="Arial" panose="020B0704020202020204" pitchFamily="34" charset="0"/>
                        <a:cs typeface="Arial" panose="020B0704020202020204" pitchFamily="34"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0B4A9E"/>
                    </a:solidFill>
                  </a:tcPr>
                </a:tc>
                <a:tc>
                  <a:txBody>
                    <a:bodyPr/>
                    <a:lstStyle/>
                    <a:p>
                      <a:pPr marL="0" indent="0">
                        <a:buNone/>
                      </a:pPr>
                      <a:r>
                        <a:rPr lang="en-US" sz="1400" b="1" dirty="0">
                          <a:solidFill>
                            <a:srgbClr val="FFFFFF"/>
                          </a:solidFill>
                          <a:latin typeface="Arial" panose="020B0704020202020204" pitchFamily="34" charset="0"/>
                          <a:ea typeface="Arial" panose="020B0704020202020204" pitchFamily="34" charset="-122"/>
                          <a:cs typeface="Arial" panose="020B0704020202020204" pitchFamily="34" charset="-120"/>
                        </a:rPr>
                        <a:t>Main limitation</a:t>
                      </a:r>
                      <a:endParaRPr lang="en-US" sz="1400" dirty="0">
                        <a:latin typeface="Arial" panose="020B0704020202020204" pitchFamily="34" charset="0"/>
                        <a:ea typeface="Arial" panose="020B0704020202020204" pitchFamily="34" charset="0"/>
                        <a:cs typeface="Arial" panose="020B0704020202020204" pitchFamily="34"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solidFill>
                      <a:srgbClr val="0B4A9E"/>
                    </a:solidFill>
                  </a:tcPr>
                </a:tc>
              </a:tr>
              <a:tr h="566928">
                <a:tc>
                  <a:txBody>
                    <a:bodyPr/>
                    <a:lstStyle/>
                    <a:p>
                      <a:pPr marL="0" indent="0">
                        <a:buNone/>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Ground penetrating radar (GPR)</a:t>
                      </a:r>
                      <a:endParaRPr lang="en-US" sz="1400" dirty="0">
                        <a:latin typeface="Arial" panose="020B0704020202020204" pitchFamily="34" charset="0"/>
                        <a:ea typeface="Arial" panose="020B0704020202020204" pitchFamily="34" charset="0"/>
                        <a:cs typeface="Arial" panose="020B0704020202020204" pitchFamily="34"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Any contrast in permittivity: metal, plastic, voids</a:t>
                      </a:r>
                      <a:endParaRPr lang="en-US" sz="1400" dirty="0">
                        <a:latin typeface="Arial" panose="020B0704020202020204" pitchFamily="34" charset="0"/>
                        <a:ea typeface="Arial" panose="020B0704020202020204" pitchFamily="34" charset="0"/>
                        <a:cs typeface="Arial" panose="020B0704020202020204" pitchFamily="34"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Yes</a:t>
                      </a:r>
                      <a:endParaRPr lang="en-US" sz="1400" dirty="0">
                        <a:latin typeface="Arial" panose="020B0704020202020204" pitchFamily="34" charset="0"/>
                        <a:ea typeface="Arial" panose="020B0704020202020204" pitchFamily="34" charset="0"/>
                        <a:cs typeface="Arial" panose="020B0704020202020204" pitchFamily="34"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Signal fades fast in wet clay</a:t>
                      </a:r>
                      <a:endParaRPr lang="en-US" sz="1400" dirty="0">
                        <a:latin typeface="Arial" panose="020B0704020202020204" pitchFamily="34" charset="0"/>
                        <a:ea typeface="Arial" panose="020B0704020202020204" pitchFamily="34" charset="0"/>
                        <a:cs typeface="Arial" panose="020B0704020202020204" pitchFamily="34"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r>
              <a:tr h="566928">
                <a:tc>
                  <a:txBody>
                    <a:bodyPr/>
                    <a:lstStyle/>
                    <a:p>
                      <a:pPr marL="0" indent="0">
                        <a:buNone/>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EM locator (e.g. RD7000)</a:t>
                      </a:r>
                      <a:endParaRPr lang="en-US" sz="1400" dirty="0">
                        <a:latin typeface="Arial" panose="020B0704020202020204" pitchFamily="34" charset="0"/>
                        <a:ea typeface="Arial" panose="020B0704020202020204" pitchFamily="34" charset="0"/>
                        <a:cs typeface="Arial" panose="020B0704020202020204" pitchFamily="34"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Metallic lines carrying a current</a:t>
                      </a:r>
                      <a:endParaRPr lang="en-US" sz="1400" dirty="0">
                        <a:latin typeface="Arial" panose="020B0704020202020204" pitchFamily="34" charset="0"/>
                        <a:ea typeface="Arial" panose="020B0704020202020204" pitchFamily="34" charset="0"/>
                        <a:cs typeface="Arial" panose="020B0704020202020204" pitchFamily="34"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Only with a tracer wire or sonde</a:t>
                      </a:r>
                      <a:endParaRPr lang="en-US" sz="1400" dirty="0">
                        <a:latin typeface="Arial" panose="020B0704020202020204" pitchFamily="34" charset="0"/>
                        <a:ea typeface="Arial" panose="020B0704020202020204" pitchFamily="34" charset="0"/>
                        <a:cs typeface="Arial" panose="020B0704020202020204" pitchFamily="34"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Blind to non-metallic pipes</a:t>
                      </a:r>
                      <a:endParaRPr lang="en-US" sz="1400" dirty="0">
                        <a:latin typeface="Arial" panose="020B0704020202020204" pitchFamily="34" charset="0"/>
                        <a:ea typeface="Arial" panose="020B0704020202020204" pitchFamily="34" charset="0"/>
                        <a:cs typeface="Arial" panose="020B0704020202020204" pitchFamily="34"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r>
              <a:tr h="566928">
                <a:tc>
                  <a:txBody>
                    <a:bodyPr/>
                    <a:lstStyle/>
                    <a:p>
                      <a:pPr marL="0" indent="0">
                        <a:buNone/>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Magnetometer</a:t>
                      </a:r>
                      <a:endParaRPr lang="en-US" sz="1400" dirty="0">
                        <a:latin typeface="Arial" panose="020B0704020202020204" pitchFamily="34" charset="0"/>
                        <a:ea typeface="Arial" panose="020B0704020202020204" pitchFamily="34" charset="0"/>
                        <a:cs typeface="Arial" panose="020B0704020202020204" pitchFamily="34"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Ferrous (iron, steel) objects</a:t>
                      </a:r>
                      <a:endParaRPr lang="en-US" sz="1400" dirty="0">
                        <a:latin typeface="Arial" panose="020B0704020202020204" pitchFamily="34" charset="0"/>
                        <a:ea typeface="Arial" panose="020B0704020202020204" pitchFamily="34" charset="0"/>
                        <a:cs typeface="Arial" panose="020B0704020202020204" pitchFamily="34"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No</a:t>
                      </a:r>
                      <a:endParaRPr lang="en-US" sz="1400" dirty="0">
                        <a:latin typeface="Arial" panose="020B0704020202020204" pitchFamily="34" charset="0"/>
                        <a:ea typeface="Arial" panose="020B0704020202020204" pitchFamily="34" charset="0"/>
                        <a:cs typeface="Arial" panose="020B0704020202020204" pitchFamily="34"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Disturbed by nearby metal</a:t>
                      </a:r>
                      <a:endParaRPr lang="en-US" sz="1400" dirty="0">
                        <a:latin typeface="Arial" panose="020B0704020202020204" pitchFamily="34" charset="0"/>
                        <a:ea typeface="Arial" panose="020B0704020202020204" pitchFamily="34" charset="0"/>
                        <a:cs typeface="Arial" panose="020B0704020202020204" pitchFamily="34"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r>
              <a:tr h="566928">
                <a:tc>
                  <a:txBody>
                    <a:bodyPr/>
                    <a:lstStyle/>
                    <a:p>
                      <a:pPr marL="0" indent="0">
                        <a:buNone/>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Electrical resistivity (ERT)</a:t>
                      </a:r>
                      <a:endParaRPr lang="en-US" sz="1400" dirty="0">
                        <a:latin typeface="Arial" panose="020B0704020202020204" pitchFamily="34" charset="0"/>
                        <a:ea typeface="Arial" panose="020B0704020202020204" pitchFamily="34" charset="0"/>
                        <a:cs typeface="Arial" panose="020B0704020202020204" pitchFamily="34"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Large resistivity contrasts</a:t>
                      </a:r>
                      <a:endParaRPr lang="en-US" sz="1400" dirty="0">
                        <a:latin typeface="Arial" panose="020B0704020202020204" pitchFamily="34" charset="0"/>
                        <a:ea typeface="Arial" panose="020B0704020202020204" pitchFamily="34" charset="0"/>
                        <a:cs typeface="Arial" panose="020B0704020202020204" pitchFamily="34"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Poorly</a:t>
                      </a:r>
                      <a:endParaRPr lang="en-US" sz="1400" dirty="0">
                        <a:latin typeface="Arial" panose="020B0704020202020204" pitchFamily="34" charset="0"/>
                        <a:ea typeface="Arial" panose="020B0704020202020204" pitchFamily="34" charset="0"/>
                        <a:cs typeface="Arial" panose="020B0704020202020204" pitchFamily="34"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Low resolution for small pipes</a:t>
                      </a:r>
                      <a:endParaRPr lang="en-US" sz="1400" dirty="0">
                        <a:latin typeface="Arial" panose="020B0704020202020204" pitchFamily="34" charset="0"/>
                        <a:ea typeface="Arial" panose="020B0704020202020204" pitchFamily="34" charset="0"/>
                        <a:cs typeface="Arial" panose="020B0704020202020204" pitchFamily="34"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r>
              <a:tr h="566928">
                <a:tc>
                  <a:txBody>
                    <a:bodyPr/>
                    <a:lstStyle/>
                    <a:p>
                      <a:pPr marL="0" indent="0">
                        <a:buNone/>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Acoustic methods</a:t>
                      </a:r>
                      <a:endParaRPr lang="en-US" sz="1400" dirty="0">
                        <a:latin typeface="Arial" panose="020B0704020202020204" pitchFamily="34" charset="0"/>
                        <a:ea typeface="Arial" panose="020B0704020202020204" pitchFamily="34" charset="0"/>
                        <a:cs typeface="Arial" panose="020B0704020202020204" pitchFamily="34"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Leak noise and vibration in pipes</a:t>
                      </a:r>
                      <a:endParaRPr lang="en-US" sz="1400" dirty="0">
                        <a:latin typeface="Arial" panose="020B0704020202020204" pitchFamily="34" charset="0"/>
                        <a:ea typeface="Arial" panose="020B0704020202020204" pitchFamily="34" charset="0"/>
                        <a:cs typeface="Arial" panose="020B0704020202020204" pitchFamily="34"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Yes, if filled with water</a:t>
                      </a:r>
                      <a:endParaRPr lang="en-US" sz="1400" dirty="0">
                        <a:latin typeface="Arial" panose="020B0704020202020204" pitchFamily="34" charset="0"/>
                        <a:ea typeface="Arial" panose="020B0704020202020204" pitchFamily="34" charset="0"/>
                        <a:cs typeface="Arial" panose="020B0704020202020204" pitchFamily="34"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c>
                  <a:txBody>
                    <a:bodyPr/>
                    <a:lstStyle/>
                    <a:p>
                      <a:pPr marL="0" indent="0">
                        <a:buNone/>
                      </a:pPr>
                      <a:r>
                        <a:rPr lang="en-US" sz="1400" dirty="0">
                          <a:solidFill>
                            <a:srgbClr val="1B1B1D"/>
                          </a:solidFill>
                          <a:latin typeface="Arial" panose="020B0704020202020204" pitchFamily="34" charset="0"/>
                          <a:ea typeface="Arial" panose="020B0704020202020204" pitchFamily="34" charset="-122"/>
                          <a:cs typeface="Arial" panose="020B0704020202020204" pitchFamily="34" charset="-120"/>
                        </a:rPr>
                        <a:t>Needs access to the pipe</a:t>
                      </a:r>
                      <a:endParaRPr lang="en-US" sz="1400" dirty="0">
                        <a:latin typeface="Arial" panose="020B0704020202020204" pitchFamily="34" charset="0"/>
                        <a:ea typeface="Arial" panose="020B0704020202020204" pitchFamily="34" charset="0"/>
                        <a:cs typeface="Arial" panose="020B0704020202020204" pitchFamily="34" charset="0"/>
                      </a:endParaRPr>
                    </a:p>
                  </a:txBody>
                  <a:tcPr marL="73152" marR="73152" marT="73152" marB="73152" anchor="ctr">
                    <a:lnL w="9525" cap="flat" cmpd="sng" algn="ctr">
                      <a:solidFill>
                        <a:srgbClr val="D5D7DB"/>
                      </a:solidFill>
                      <a:prstDash val="solid"/>
                      <a:round/>
                      <a:headEnd type="none" w="med" len="med"/>
                      <a:tailEnd type="none" w="med" len="med"/>
                    </a:lnL>
                    <a:lnR w="9525" cap="flat" cmpd="sng" algn="ctr">
                      <a:solidFill>
                        <a:srgbClr val="D5D7DB"/>
                      </a:solidFill>
                      <a:prstDash val="solid"/>
                      <a:round/>
                      <a:headEnd type="none" w="med" len="med"/>
                      <a:tailEnd type="none" w="med" len="med"/>
                    </a:lnR>
                    <a:lnT w="9525" cap="flat" cmpd="sng" algn="ctr">
                      <a:solidFill>
                        <a:srgbClr val="D5D7DB"/>
                      </a:solidFill>
                      <a:prstDash val="solid"/>
                      <a:round/>
                      <a:headEnd type="none" w="med" len="med"/>
                      <a:tailEnd type="none" w="med" len="med"/>
                    </a:lnT>
                    <a:lnB w="9525" cap="flat" cmpd="sng" algn="ctr">
                      <a:solidFill>
                        <a:srgbClr val="D5D7DB"/>
                      </a:solidFill>
                      <a:prstDash val="solid"/>
                      <a:round/>
                      <a:headEnd type="none" w="med" len="med"/>
                      <a:tailEnd type="none" w="med" len="med"/>
                    </a:lnB>
                  </a:tcPr>
                </a:tc>
              </a:tr>
            </a:tbl>
          </a:graphicData>
        </a:graphic>
      </p:graphicFrame>
      <p:sp>
        <p:nvSpPr>
          <p:cNvPr id="4" name="Text 1"/>
          <p:cNvSpPr txBox="1"/>
          <p:nvPr/>
        </p:nvSpPr>
        <p:spPr>
          <a:xfrm>
            <a:off x="548640" y="6144768"/>
            <a:ext cx="11064240" cy="237744"/>
          </a:xfrm>
          <a:prstGeom prst="rect">
            <a:avLst/>
          </a:prstGeom>
          <a:noFill/>
        </p:spPr>
        <p:txBody>
          <a:bodyPr wrap="square" lIns="0" tIns="0" rIns="0" bIns="0" rtlCol="0" anchor="t"/>
          <a:lstStyle/>
          <a:p>
            <a:pPr marL="0" indent="0">
              <a:buNone/>
            </a:pPr>
            <a:r>
              <a:rPr lang="en-US" sz="1000" dirty="0">
                <a:solidFill>
                  <a:srgbClr val="5F6368"/>
                </a:solidFill>
                <a:latin typeface="Arial" panose="020B0704020202020204" pitchFamily="34" charset="0"/>
                <a:ea typeface="Arial" panose="020B0704020202020204" pitchFamily="34" charset="-122"/>
                <a:cs typeface="Arial" panose="020B0704020202020204" pitchFamily="34" charset="-120"/>
              </a:rPr>
              <a:t>Based on Metje et al. (2007) and Royal et al. (2011)</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p:spPr>
        <p:txBody>
          <a:bodyPr/>
          <a:lstStyle>
            <a:lvl1pPr>
              <a:defRPr sz="1000">
                <a:solidFill>
                  <a:srgbClr val="5F6368"/>
                </a:solidFill>
                <a:latin typeface="Arial" panose="020B0704020202020204"/>
                <a:ea typeface="Arial" panose="020B0704020202020204"/>
                <a:cs typeface="Arial" panose="020B0704020202020204"/>
              </a:defRPr>
            </a:lvl1pPr>
          </a:lstStyle>
          <a:p>
            <a:pPr algn="r"/>
            <a:fld id="{F7021451-1387-4CA6-816F-3879F97B5CBC}" type="slidenum">
              <a:rPr lang="en-US" b="0"/>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5442</Words>
  <Application>WPS Presentation</Application>
  <PresentationFormat>On-screen Show (16:9)</PresentationFormat>
  <Paragraphs>285</Paragraphs>
  <Slides>16</Slides>
  <Notes>17</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16</vt:i4>
      </vt:variant>
    </vt:vector>
  </HeadingPairs>
  <TitlesOfParts>
    <vt:vector size="33" baseType="lpstr">
      <vt:lpstr>Arial</vt:lpstr>
      <vt:lpstr>SimSun</vt:lpstr>
      <vt:lpstr>Wingdings</vt:lpstr>
      <vt:lpstr>Arial</vt:lpstr>
      <vt:lpstr>Arial</vt:lpstr>
      <vt:lpstr>Arial</vt:lpstr>
      <vt:lpstr>PingFang TC</vt:lpstr>
      <vt:lpstr>苹方-简</vt:lpstr>
      <vt:lpstr>PingFang TC</vt:lpstr>
      <vt:lpstr>PingFang TC</vt:lpstr>
      <vt:lpstr>宋体-简</vt:lpstr>
      <vt:lpstr>Microsoft YaHei</vt:lpstr>
      <vt:lpstr>汉仪旗黑</vt:lpstr>
      <vt:lpstr>Arial Unicode MS</vt:lpstr>
      <vt:lpstr>Calibri</vt:lpstr>
      <vt:lpstr>Helvetica Neue</vt:lpstr>
      <vt:lpstr>Office Theme</vt:lpstr>
      <vt:lpstr>PowerPoint 演示文稿</vt:lpstr>
      <vt:lpstr>GPR for buried utilities: abroad and in Vietnam</vt:lpstr>
      <vt:lpstr>Two NDT methods: radar echoes and induced currents</vt:lpstr>
      <vt:lpstr>We scanned a 10 m × 3.5 m grid with 9 lines</vt:lpstr>
      <vt:lpstr>Processing reveals the hidden hyperbola</vt:lpstr>
      <vt:lpstr>A simple model reproduces the measured hyperbolas</vt:lpstr>
      <vt:lpstr>PowerPoint 演示文稿</vt:lpstr>
      <vt:lpstr>Four aligned anomalies trace one buried cable</vt:lpstr>
      <vt:lpstr>PowerPoint 演示文稿</vt:lpstr>
      <vt:lpstr>PowerPoint 演示文稿</vt:lpstr>
      <vt:lpstr>One cable crosses the road; one pipe runs along it</vt:lpstr>
      <vt:lpstr>What we learned, and what we would do next</vt:lpstr>
      <vt:lpstr>PowerPoint 演示文稿</vt:lpstr>
      <vt:lpstr>Backup · Plan view: every target with its depth</vt:lpstr>
      <vt:lpstr>PowerPoint 演示文稿</vt:lpstr>
      <vt:lpstr>Backup · Why GPR? NDT methods compared</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 of GPR in Surveying Underground Cables and Utilities</dc:title>
  <dc:creator>PptxGenJS</dc:creator>
  <dc:subject>PptxGenJS Presentation</dc:subject>
  <cp:lastModifiedBy>Long Lê Quốc</cp:lastModifiedBy>
  <cp:revision>2</cp:revision>
  <dcterms:created xsi:type="dcterms:W3CDTF">2026-10-19T04:13:03Z</dcterms:created>
  <dcterms:modified xsi:type="dcterms:W3CDTF">2026-10-19T04:13:03Z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1033-12.1.28496.28496</vt:lpwstr>
  </property>
  <property fmtid="{D5CDD505-2E9C-101B-9397-08002B2CF9AE}" pid="3" name="ICV">
    <vt:lpwstr>D95D657500FF388DCE98D56A625A7052_42</vt:lpwstr>
  </property>
</Properties>
</file>