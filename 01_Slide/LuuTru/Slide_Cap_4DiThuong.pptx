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One hyperbola alone could be anything — a stone, a pocket of fill. So we look for the same echo on neighbouring lines.
[left, top to bottom] Lines C1 to C4 run parallel, one metre apart, drawn on the same position axis. On every line we find the same anomaly, P1 — a strong hyperbola with a long ringing tail, typical of metal.
[dashed line] The four tops sit in one column, at 2.5 m: the cable crosses the road straight, at a right angle. That is also what we saw on site — each time we hit the anomaly we marked the ground, and the marks lined up straight across the road.
[cards] Depth to the top is about 0.45 m on C2 to C4, and a little deeper on C1, 0.65 m.
(If asked: C2 and C4 were walked in the opposite direction. We flipped them, as the team did in ReflexW, and placed their start so that P1 sits on the cable we marked. C1 and C3, walked forward, already agree at 2.50 m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058400" cy="731520"/>
          </a:xfrm>
          <a:prstGeom prst="rect">
            <a:avLst/>
          </a:prstGeom>
          <a:noFill/>
          <a:ln/>
        </p:spPr>
        <p:txBody>
          <a:bodyPr wrap="square" rtlCol="0"/>
          <a:lstStyle>
            <a:lvl1pPr algn="l" indent="0" marL="0">
              <a:buNone/>
              <a:defRPr lang="en-US" sz="2800" b="1" dirty="0">
                <a:solidFill>
                  <a:srgbClr val="0B4A9E"/>
                </a:solidFill>
                <a:latin typeface="Arial" pitchFamily="34" charset="0"/>
                <a:ea typeface="Arial" pitchFamily="34" charset="-122"/>
                <a:cs typeface="Arial" pitchFamily="34" charset="-120"/>
              </a:defRPr>
            </a:lvl1pPr>
          </a:lstStyle>
          <a:p>
            <a:pPr algn="l" indent="0" marL="0">
              <a:buNone/>
            </a:pPr>
            <a:endParaRPr lang="en-US" sz="2800" dirty="0"/>
          </a:p>
        </p:txBody>
      </p:sp>
      <p:pic>
        <p:nvPicPr>
          <p:cNvPr id="3" name="Image 0" descr="/Users/leequoclong/Documents/Kỳ 1 - 26 27/Các Phương Pháp NDT/01_Slide/HinhAnh/Logo_HCMUS.png">    </p:cNvPr>
          <p:cNvPicPr>
            <a:picLocks noChangeAspect="1"/>
          </p:cNvPicPr>
          <p:nvPr/>
        </p:nvPicPr>
        <p:blipFill>
          <a:blip r:embed="rId1"/>
          <a:stretch>
            <a:fillRect/>
          </a:stretch>
        </p:blipFill>
        <p:spPr>
          <a:xfrm>
            <a:off x="11018520" y="301752"/>
            <a:ext cx="667512" cy="548640"/>
          </a:xfrm>
          <a:prstGeom prst="rect">
            <a:avLst/>
          </a:prstGeom>
        </p:spPr>
      </p:pic>
      <p:sp>
        <p:nvSpPr>
          <p:cNvPr id="4" name="Text 0"/>
          <p:cNvSpPr/>
          <p:nvPr/>
        </p:nvSpPr>
        <p:spPr>
          <a:xfrm>
            <a:off x="548640" y="6419088"/>
            <a:ext cx="6400800" cy="256032"/>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GPR for underground cables and utilities · HCMUS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058400" cy="731520"/>
          </a:xfrm>
          <a:prstGeom prst="rect">
            <a:avLst/>
          </a:prstGeom>
          <a:noFill/>
          <a:ln/>
        </p:spPr>
        <p:txBody>
          <a:bodyPr wrap="square" lIns="0" tIns="0" rIns="0" bIns="0" rtlCol="0" anchor="ctr"/>
          <a:lstStyle/>
          <a:p>
            <a:pPr algn="l" indent="0" marL="0">
              <a:buNone/>
            </a:pPr>
            <a:r>
              <a:rPr lang="en-US" sz="2800" b="1" dirty="0">
                <a:solidFill>
                  <a:srgbClr val="0B4A9E"/>
                </a:solidFill>
                <a:latin typeface="Arial" pitchFamily="34" charset="0"/>
                <a:ea typeface="Arial" pitchFamily="34" charset="-122"/>
                <a:cs typeface="Arial" pitchFamily="34" charset="-120"/>
              </a:rPr>
              <a:t>Four aligned anomalies trace one buried cable</a:t>
            </a:r>
            <a:endParaRPr lang="en-US" sz="2800" dirty="0"/>
          </a:p>
        </p:txBody>
      </p:sp>
      <p:pic>
        <p:nvPicPr>
          <p:cNvPr id="3" name="Image 0" descr="Radargrams of parallel lines C1, C2, C3 and C4 (250 MHz) drawn on the same position axis. Anomaly P1 sits at 2.5 m along the road on every line, at depths 0.65, 0.45, 0.46 and 0.43 m; a dashed orange vertical line joins the four hyperbola apexes.">    </p:cNvPr>
          <p:cNvPicPr>
            <a:picLocks noChangeAspect="1"/>
          </p:cNvPicPr>
          <p:nvPr/>
        </p:nvPicPr>
        <p:blipFill>
          <a:blip r:embed="rId1"/>
          <a:stretch>
            <a:fillRect/>
          </a:stretch>
        </p:blipFill>
        <p:spPr>
          <a:xfrm>
            <a:off x="548640" y="1188720"/>
            <a:ext cx="5797296" cy="4800600"/>
          </a:xfrm>
          <a:prstGeom prst="rect">
            <a:avLst/>
          </a:prstGeom>
        </p:spPr>
      </p:pic>
      <p:sp>
        <p:nvSpPr>
          <p:cNvPr id="4" name="Text 1"/>
          <p:cNvSpPr txBox="1"/>
          <p:nvPr/>
        </p:nvSpPr>
        <p:spPr>
          <a:xfrm>
            <a:off x="7269480" y="1188720"/>
            <a:ext cx="4343400" cy="320040"/>
          </a:xfrm>
          <a:prstGeom prst="rect">
            <a:avLst/>
          </a:prstGeom>
          <a:noFill/>
          <a:ln/>
        </p:spPr>
        <p:txBody>
          <a:bodyPr wrap="square" lIns="0" tIns="0" rIns="0" bIns="0" rtlCol="0" anchor="t"/>
          <a:lstStyle/>
          <a:p>
            <a:pPr indent="0" marL="0">
              <a:buNone/>
            </a:pPr>
            <a:r>
              <a:rPr lang="en-US" sz="1400" b="1" dirty="0">
                <a:solidFill>
                  <a:srgbClr val="5F6368"/>
                </a:solidFill>
                <a:latin typeface="Arial" pitchFamily="34" charset="0"/>
                <a:ea typeface="Arial" pitchFamily="34" charset="-122"/>
                <a:cs typeface="Arial" pitchFamily="34" charset="-120"/>
              </a:rPr>
              <a:t>Plan view</a:t>
            </a:r>
            <a:endParaRPr lang="en-US" sz="1400" dirty="0"/>
          </a:p>
        </p:txBody>
      </p:sp>
      <p:pic>
        <p:nvPicPr>
          <p:cNvPr id="5" name="Image 1" descr="Plan view: lines C1 to C4 run parallel 1 m apart, C2 and C4 walked in the opposite direction; the four P1 points fall on one dashed orange line straight across the road, the cable.">    </p:cNvPr>
          <p:cNvPicPr>
            <a:picLocks noChangeAspect="1"/>
          </p:cNvPicPr>
          <p:nvPr/>
        </p:nvPicPr>
        <p:blipFill>
          <a:blip r:embed="rId2"/>
          <a:stretch>
            <a:fillRect/>
          </a:stretch>
        </p:blipFill>
        <p:spPr>
          <a:xfrm>
            <a:off x="7498080" y="1554480"/>
            <a:ext cx="3566160" cy="2185416"/>
          </a:xfrm>
          <a:prstGeom prst="rect">
            <a:avLst/>
          </a:prstGeom>
        </p:spPr>
      </p:pic>
      <p:sp>
        <p:nvSpPr>
          <p:cNvPr id="6" name="Shape 2"/>
          <p:cNvSpPr/>
          <p:nvPr/>
        </p:nvSpPr>
        <p:spPr>
          <a:xfrm>
            <a:off x="7269480" y="3840480"/>
            <a:ext cx="4343400" cy="658368"/>
          </a:xfrm>
          <a:prstGeom prst="roundRect">
            <a:avLst>
              <a:gd name="adj" fmla="val 11111"/>
            </a:avLst>
          </a:prstGeom>
          <a:solidFill>
            <a:srgbClr val="EEF3FA"/>
          </a:solidFill>
          <a:ln w="12700">
            <a:solidFill>
              <a:srgbClr val="EEF3FA"/>
            </a:solidFill>
            <a:prstDash val="solid"/>
          </a:ln>
        </p:spPr>
      </p:sp>
      <p:sp>
        <p:nvSpPr>
          <p:cNvPr id="7" name="Text 3"/>
          <p:cNvSpPr txBox="1"/>
          <p:nvPr/>
        </p:nvSpPr>
        <p:spPr>
          <a:xfrm>
            <a:off x="7452360" y="3840480"/>
            <a:ext cx="1463040" cy="658368"/>
          </a:xfrm>
          <a:prstGeom prst="rect">
            <a:avLst/>
          </a:prstGeom>
          <a:noFill/>
          <a:ln/>
        </p:spPr>
        <p:txBody>
          <a:bodyPr wrap="square" lIns="0" tIns="0" rIns="0" bIns="0" rtlCol="0" anchor="ctr"/>
          <a:lstStyle/>
          <a:p>
            <a:pPr indent="0" marL="0">
              <a:buNone/>
            </a:pPr>
            <a:r>
              <a:rPr lang="en-US" sz="2200" b="1" dirty="0">
                <a:solidFill>
                  <a:srgbClr val="E8590C"/>
                </a:solidFill>
                <a:latin typeface="Arial" pitchFamily="34" charset="0"/>
                <a:ea typeface="Arial" pitchFamily="34" charset="-122"/>
                <a:cs typeface="Arial" pitchFamily="34" charset="-120"/>
              </a:rPr>
              <a:t>4 / 4</a:t>
            </a:r>
            <a:endParaRPr lang="en-US" sz="2200" dirty="0"/>
          </a:p>
        </p:txBody>
      </p:sp>
      <p:sp>
        <p:nvSpPr>
          <p:cNvPr id="8" name="Text 4"/>
          <p:cNvSpPr txBox="1"/>
          <p:nvPr/>
        </p:nvSpPr>
        <p:spPr>
          <a:xfrm>
            <a:off x="9006840" y="3913632"/>
            <a:ext cx="2514600" cy="274320"/>
          </a:xfrm>
          <a:prstGeom prst="rect">
            <a:avLst/>
          </a:prstGeom>
          <a:noFill/>
          <a:ln/>
        </p:spPr>
        <p:txBody>
          <a:bodyPr wrap="square" lIns="0" tIns="0" rIns="0" bIns="0" rtlCol="0" anchor="t"/>
          <a:lstStyle/>
          <a:p>
            <a:pPr indent="0" marL="0">
              <a:buNone/>
            </a:pPr>
            <a:r>
              <a:rPr lang="en-US" sz="1500" b="1" dirty="0">
                <a:solidFill>
                  <a:srgbClr val="1B1B1D"/>
                </a:solidFill>
                <a:latin typeface="Arial" pitchFamily="34" charset="0"/>
                <a:ea typeface="Arial" pitchFamily="34" charset="-122"/>
                <a:cs typeface="Arial" pitchFamily="34" charset="-120"/>
              </a:rPr>
              <a:t>Same echo on every line</a:t>
            </a:r>
            <a:endParaRPr lang="en-US" sz="1500" dirty="0"/>
          </a:p>
        </p:txBody>
      </p:sp>
      <p:sp>
        <p:nvSpPr>
          <p:cNvPr id="9" name="Text 5"/>
          <p:cNvSpPr txBox="1"/>
          <p:nvPr/>
        </p:nvSpPr>
        <p:spPr>
          <a:xfrm>
            <a:off x="9006840" y="4206240"/>
            <a:ext cx="2514600" cy="256032"/>
          </a:xfrm>
          <a:prstGeom prst="rect">
            <a:avLst/>
          </a:prstGeom>
          <a:noFill/>
          <a:ln/>
        </p:spPr>
        <p:txBody>
          <a:bodyPr wrap="square" lIns="0" tIns="0" rIns="0" bIns="0" rtlCol="0" anchor="t"/>
          <a:lstStyle/>
          <a:p>
            <a:pPr indent="0" marL="0">
              <a:buNone/>
            </a:pPr>
            <a:r>
              <a:rPr lang="en-US" sz="1150" dirty="0">
                <a:solidFill>
                  <a:srgbClr val="5F6368"/>
                </a:solidFill>
                <a:latin typeface="Arial" pitchFamily="34" charset="0"/>
                <a:ea typeface="Arial" pitchFamily="34" charset="-122"/>
                <a:cs typeface="Arial" pitchFamily="34" charset="-120"/>
              </a:rPr>
              <a:t>strong, ringing hyperbola → metal</a:t>
            </a:r>
            <a:endParaRPr lang="en-US" sz="1150" dirty="0"/>
          </a:p>
        </p:txBody>
      </p:sp>
      <p:sp>
        <p:nvSpPr>
          <p:cNvPr id="10" name="Shape 6"/>
          <p:cNvSpPr/>
          <p:nvPr/>
        </p:nvSpPr>
        <p:spPr>
          <a:xfrm>
            <a:off x="7269480" y="4590288"/>
            <a:ext cx="4343400" cy="658368"/>
          </a:xfrm>
          <a:prstGeom prst="roundRect">
            <a:avLst>
              <a:gd name="adj" fmla="val 11111"/>
            </a:avLst>
          </a:prstGeom>
          <a:solidFill>
            <a:srgbClr val="EEF3FA"/>
          </a:solidFill>
          <a:ln w="12700">
            <a:solidFill>
              <a:srgbClr val="EEF3FA"/>
            </a:solidFill>
            <a:prstDash val="solid"/>
          </a:ln>
        </p:spPr>
      </p:sp>
      <p:sp>
        <p:nvSpPr>
          <p:cNvPr id="11" name="Text 7"/>
          <p:cNvSpPr txBox="1"/>
          <p:nvPr/>
        </p:nvSpPr>
        <p:spPr>
          <a:xfrm>
            <a:off x="7452360" y="4590288"/>
            <a:ext cx="1463040" cy="658368"/>
          </a:xfrm>
          <a:prstGeom prst="rect">
            <a:avLst/>
          </a:prstGeom>
          <a:noFill/>
          <a:ln/>
        </p:spPr>
        <p:txBody>
          <a:bodyPr wrap="square" lIns="0" tIns="0" rIns="0" bIns="0" rtlCol="0" anchor="ctr"/>
          <a:lstStyle/>
          <a:p>
            <a:pPr indent="0" marL="0">
              <a:buNone/>
            </a:pPr>
            <a:r>
              <a:rPr lang="en-US" sz="2200" b="1" dirty="0">
                <a:solidFill>
                  <a:srgbClr val="E8590C"/>
                </a:solidFill>
                <a:latin typeface="Arial" pitchFamily="34" charset="0"/>
                <a:ea typeface="Arial" pitchFamily="34" charset="-122"/>
                <a:cs typeface="Arial" pitchFamily="34" charset="-120"/>
              </a:rPr>
              <a:t>90°</a:t>
            </a:r>
            <a:endParaRPr lang="en-US" sz="2200" dirty="0"/>
          </a:p>
        </p:txBody>
      </p:sp>
      <p:sp>
        <p:nvSpPr>
          <p:cNvPr id="12" name="Text 8"/>
          <p:cNvSpPr txBox="1"/>
          <p:nvPr/>
        </p:nvSpPr>
        <p:spPr>
          <a:xfrm>
            <a:off x="9006840" y="4663440"/>
            <a:ext cx="2514600" cy="274320"/>
          </a:xfrm>
          <a:prstGeom prst="rect">
            <a:avLst/>
          </a:prstGeom>
          <a:noFill/>
          <a:ln/>
        </p:spPr>
        <p:txBody>
          <a:bodyPr wrap="square" lIns="0" tIns="0" rIns="0" bIns="0" rtlCol="0" anchor="t"/>
          <a:lstStyle/>
          <a:p>
            <a:pPr indent="0" marL="0">
              <a:buNone/>
            </a:pPr>
            <a:r>
              <a:rPr lang="en-US" sz="1500" b="1" dirty="0">
                <a:solidFill>
                  <a:srgbClr val="1B1B1D"/>
                </a:solidFill>
                <a:latin typeface="Arial" pitchFamily="34" charset="0"/>
                <a:ea typeface="Arial" pitchFamily="34" charset="-122"/>
                <a:cs typeface="Arial" pitchFamily="34" charset="-120"/>
              </a:rPr>
              <a:t>Straight across the road</a:t>
            </a:r>
            <a:endParaRPr lang="en-US" sz="1500" dirty="0"/>
          </a:p>
        </p:txBody>
      </p:sp>
      <p:sp>
        <p:nvSpPr>
          <p:cNvPr id="13" name="Text 9"/>
          <p:cNvSpPr txBox="1"/>
          <p:nvPr/>
        </p:nvSpPr>
        <p:spPr>
          <a:xfrm>
            <a:off x="9006840" y="4956048"/>
            <a:ext cx="2514600" cy="256032"/>
          </a:xfrm>
          <a:prstGeom prst="rect">
            <a:avLst/>
          </a:prstGeom>
          <a:noFill/>
          <a:ln/>
        </p:spPr>
        <p:txBody>
          <a:bodyPr wrap="square" lIns="0" tIns="0" rIns="0" bIns="0" rtlCol="0" anchor="t"/>
          <a:lstStyle/>
          <a:p>
            <a:pPr indent="0" marL="0">
              <a:buNone/>
            </a:pPr>
            <a:r>
              <a:rPr lang="en-US" sz="1150" dirty="0">
                <a:solidFill>
                  <a:srgbClr val="5F6368"/>
                </a:solidFill>
                <a:latin typeface="Arial" pitchFamily="34" charset="0"/>
                <a:ea typeface="Arial" pitchFamily="34" charset="-122"/>
                <a:cs typeface="Arial" pitchFamily="34" charset="-120"/>
              </a:rPr>
              <a:t>C1, C3 at 2.50 m · field marks agree</a:t>
            </a:r>
            <a:endParaRPr lang="en-US" sz="1150" dirty="0"/>
          </a:p>
        </p:txBody>
      </p:sp>
      <p:sp>
        <p:nvSpPr>
          <p:cNvPr id="14" name="Shape 10"/>
          <p:cNvSpPr/>
          <p:nvPr/>
        </p:nvSpPr>
        <p:spPr>
          <a:xfrm>
            <a:off x="7269480" y="5340096"/>
            <a:ext cx="4343400" cy="658368"/>
          </a:xfrm>
          <a:prstGeom prst="roundRect">
            <a:avLst>
              <a:gd name="adj" fmla="val 11111"/>
            </a:avLst>
          </a:prstGeom>
          <a:solidFill>
            <a:srgbClr val="EEF3FA"/>
          </a:solidFill>
          <a:ln w="12700">
            <a:solidFill>
              <a:srgbClr val="EEF3FA"/>
            </a:solidFill>
            <a:prstDash val="solid"/>
          </a:ln>
        </p:spPr>
      </p:sp>
      <p:sp>
        <p:nvSpPr>
          <p:cNvPr id="15" name="Text 11"/>
          <p:cNvSpPr txBox="1"/>
          <p:nvPr/>
        </p:nvSpPr>
        <p:spPr>
          <a:xfrm>
            <a:off x="7452360" y="5340096"/>
            <a:ext cx="1463040" cy="658368"/>
          </a:xfrm>
          <a:prstGeom prst="rect">
            <a:avLst/>
          </a:prstGeom>
          <a:noFill/>
          <a:ln/>
        </p:spPr>
        <p:txBody>
          <a:bodyPr wrap="square" lIns="0" tIns="0" rIns="0" bIns="0" rtlCol="0" anchor="ctr"/>
          <a:lstStyle/>
          <a:p>
            <a:pPr indent="0" marL="0">
              <a:buNone/>
            </a:pPr>
            <a:r>
              <a:rPr lang="en-US" sz="2200" b="1" dirty="0">
                <a:solidFill>
                  <a:srgbClr val="E8590C"/>
                </a:solidFill>
                <a:latin typeface="Arial" pitchFamily="34" charset="0"/>
                <a:ea typeface="Arial" pitchFamily="34" charset="-122"/>
                <a:cs typeface="Arial" pitchFamily="34" charset="-120"/>
              </a:rPr>
              <a:t>≈ 0.45 m</a:t>
            </a:r>
            <a:endParaRPr lang="en-US" sz="2200" dirty="0"/>
          </a:p>
        </p:txBody>
      </p:sp>
      <p:sp>
        <p:nvSpPr>
          <p:cNvPr id="16" name="Text 12"/>
          <p:cNvSpPr txBox="1"/>
          <p:nvPr/>
        </p:nvSpPr>
        <p:spPr>
          <a:xfrm>
            <a:off x="9006840" y="5413248"/>
            <a:ext cx="2514600" cy="274320"/>
          </a:xfrm>
          <a:prstGeom prst="rect">
            <a:avLst/>
          </a:prstGeom>
          <a:noFill/>
          <a:ln/>
        </p:spPr>
        <p:txBody>
          <a:bodyPr wrap="square" lIns="0" tIns="0" rIns="0" bIns="0" rtlCol="0" anchor="t"/>
          <a:lstStyle/>
          <a:p>
            <a:pPr indent="0" marL="0">
              <a:buNone/>
            </a:pPr>
            <a:r>
              <a:rPr lang="en-US" sz="1500" b="1" dirty="0">
                <a:solidFill>
                  <a:srgbClr val="1B1B1D"/>
                </a:solidFill>
                <a:latin typeface="Arial" pitchFamily="34" charset="0"/>
                <a:ea typeface="Arial" pitchFamily="34" charset="-122"/>
                <a:cs typeface="Arial" pitchFamily="34" charset="-120"/>
              </a:rPr>
              <a:t>Depth to the top</a:t>
            </a:r>
            <a:endParaRPr lang="en-US" sz="1500" dirty="0"/>
          </a:p>
        </p:txBody>
      </p:sp>
      <p:sp>
        <p:nvSpPr>
          <p:cNvPr id="17" name="Text 13"/>
          <p:cNvSpPr txBox="1"/>
          <p:nvPr/>
        </p:nvSpPr>
        <p:spPr>
          <a:xfrm>
            <a:off x="9006840" y="5705856"/>
            <a:ext cx="2514600" cy="256032"/>
          </a:xfrm>
          <a:prstGeom prst="rect">
            <a:avLst/>
          </a:prstGeom>
          <a:noFill/>
          <a:ln/>
        </p:spPr>
        <p:txBody>
          <a:bodyPr wrap="square" lIns="0" tIns="0" rIns="0" bIns="0" rtlCol="0" anchor="t"/>
          <a:lstStyle/>
          <a:p>
            <a:pPr indent="0" marL="0">
              <a:buNone/>
            </a:pPr>
            <a:r>
              <a:rPr lang="en-US" sz="1150" dirty="0">
                <a:solidFill>
                  <a:srgbClr val="5F6368"/>
                </a:solidFill>
                <a:latin typeface="Arial" pitchFamily="34" charset="0"/>
                <a:ea typeface="Arial" pitchFamily="34" charset="-122"/>
                <a:cs typeface="Arial" pitchFamily="34" charset="-120"/>
              </a:rPr>
              <a:t>C2–C4: 0.43–0.46 m · C1: 0.65 m</a:t>
            </a:r>
            <a:endParaRPr lang="en-US" sz="1150" dirty="0"/>
          </a:p>
        </p:txBody>
      </p:sp>
      <p:sp>
        <p:nvSpPr>
          <p:cNvPr id="18" name="Text 14"/>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250 MHz, lines C1–C4 (LZZ20001–20004; C3 = LZZ20003.11 flipped back), team picks. Depth: 0.12 m/ns concrete, 0.10 m/ns soil. C2, C4 walked in reverse, placed from the cable marked on site.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anomalies trace the buried cable</dc:title>
  <dc:subject>PptxGenJS Presentation</dc:subject>
  <dc:creator>PptxGenJS</dc:creator>
  <cp:lastModifiedBy>PptxGenJS</cp:lastModifiedBy>
  <cp:revision>1</cp:revision>
  <dcterms:created xsi:type="dcterms:W3CDTF">2026-10-18T12:11:11Z</dcterms:created>
  <dcterms:modified xsi:type="dcterms:W3CDTF">2026-10-18T12:11:11Z</dcterms:modified>
</cp:coreProperties>
</file>