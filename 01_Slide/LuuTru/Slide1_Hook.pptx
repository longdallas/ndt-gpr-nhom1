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[Black screen. Stand still, look at the audience, 2 seconds of silence.]
July 31st, 2014. Kaohsiung, Taiwan.
Late in the evening, people on the street begin to smell gas.
Firefighters arrive. They search for the leak — for almost three hours.
They cannot find it. [pause 1 s]
[CLICK 1] Just before midnight, the street explodes.
Thirty-two people dead. Three hundred and twenty-one injured.
The cause? A leaking pipe — buried right under their feet — that nobody could see.
[CLICK 2] And this is not rare. In the US alone, buried utilities are hit more than half a million times a year.
Here in Ho Chi Minh City, newspapers put it simply: dig up any street, and you hit a spider web.
[CLICK 3] Now look at this. Our own campus. We walk across it every day.
Under this asphalt there is a water pipe and a power cable — and no drawing of where they are.
If someone digs here tomorrow… where is it safe?
Today, we will answer that — without digging a single hole.
[Then one sentence: "We are group …, and this is GPR for underground utilities."]
CHECK BEFORE PRESENTING: confirm the timeline (~20:46 gas reports, explosions ~23:57) on Wikipedia "2014 Kaohsiung gas explosions".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0_date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600" kern="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JULY 2014</a:t>
            </a:r>
            <a:endParaRPr lang="en-US" sz="6600" dirty="0"/>
          </a:p>
        </p:txBody>
      </p:sp>
      <p:sp>
        <p:nvSpPr>
          <p:cNvPr id="3" name="L0_place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Kaohsiung, Taiwan</a:t>
            </a:r>
            <a:endParaRPr lang="en-US" sz="2800" dirty="0"/>
          </a:p>
        </p:txBody>
      </p:sp>
      <p:pic>
        <p:nvPicPr>
          <p:cNvPr id="4" name="L1_photo" descr="Sanduo 1st Road in Kaohsiung torn open after the 2014 gas explosions, with exposed pi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L1_shade" descr="/Users/leequoclong/Documents/Kỳ 1 - 26 27/Các Phương Pháp NDT/01_Slide/_build/grad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L1_dead"/>
          <p:cNvSpPr txBox="1"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E54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dead</a:t>
            </a:r>
            <a:endParaRPr lang="en-US" sz="9600" dirty="0"/>
          </a:p>
        </p:txBody>
      </p:sp>
      <p:sp>
        <p:nvSpPr>
          <p:cNvPr id="7" name="L1_injured"/>
          <p:cNvSpPr txBox="1"/>
          <p:nvPr/>
        </p:nvSpPr>
        <p:spPr>
          <a:xfrm>
            <a:off x="731520" y="2971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 injured</a:t>
            </a:r>
            <a:endParaRPr lang="en-US" sz="4400" dirty="0"/>
          </a:p>
        </p:txBody>
      </p:sp>
      <p:sp>
        <p:nvSpPr>
          <p:cNvPr id="8" name="L1_cause"/>
          <p:cNvSpPr txBox="1"/>
          <p:nvPr/>
        </p:nvSpPr>
        <p:spPr>
          <a:xfrm>
            <a:off x="731520" y="4069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leaking pipe under the street.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could see it.</a:t>
            </a:r>
            <a:endParaRPr lang="en-US" sz="2200" dirty="0"/>
          </a:p>
        </p:txBody>
      </p:sp>
      <p:sp>
        <p:nvSpPr>
          <p:cNvPr id="9" name="L1_credit"/>
          <p:cNvSpPr txBox="1"/>
          <p:nvPr/>
        </p:nvSpPr>
        <p:spPr>
          <a:xfrm>
            <a:off x="5303520" y="6446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Sanduo 1st Rd, Kaohsiung, 11 Aug 2014 · Photo: </a:t>
            </a:r>
            <a:pPr algn="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玄史生</a:t>
            </a:r>
            <a:pPr algn="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Wikimedia Commons · CC BY-SA 4.0</a:t>
            </a:r>
            <a:endParaRPr lang="en-US" sz="1000" dirty="0"/>
          </a:p>
        </p:txBody>
      </p:sp>
      <p:sp>
        <p:nvSpPr>
          <p:cNvPr id="10" name="L2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11" name="L2_lead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is not rare.</a:t>
            </a:r>
            <a:endParaRPr lang="en-US" sz="2200" dirty="0"/>
          </a:p>
        </p:txBody>
      </p:sp>
      <p:sp>
        <p:nvSpPr>
          <p:cNvPr id="12" name="L2_n1"/>
          <p:cNvSpPr txBox="1"/>
          <p:nvPr/>
        </p:nvSpPr>
        <p:spPr>
          <a:xfrm>
            <a:off x="822960" y="13258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500,000+</a:t>
            </a:r>
            <a:endParaRPr lang="en-US" sz="8000" dirty="0"/>
          </a:p>
        </p:txBody>
      </p:sp>
      <p:sp>
        <p:nvSpPr>
          <p:cNvPr id="13" name="L2_n1lab"/>
          <p:cNvSpPr txBox="1"/>
          <p:nvPr/>
        </p:nvSpPr>
        <p:spPr>
          <a:xfrm>
            <a:off x="822960" y="2651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buried utilities hit by digging each year (US)</a:t>
            </a:r>
            <a:endParaRPr lang="en-US" sz="1800" dirty="0"/>
          </a:p>
        </p:txBody>
      </p:sp>
      <p:sp>
        <p:nvSpPr>
          <p:cNvPr id="14" name="L2_n2"/>
          <p:cNvSpPr txBox="1"/>
          <p:nvPr/>
        </p:nvSpPr>
        <p:spPr>
          <a:xfrm>
            <a:off x="6675120" y="1325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E54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</a:t>
            </a:r>
            <a:endParaRPr lang="en-US" sz="8000" dirty="0"/>
          </a:p>
        </p:txBody>
      </p:sp>
      <p:sp>
        <p:nvSpPr>
          <p:cNvPr id="15" name="L2_n2lab"/>
          <p:cNvSpPr txBox="1"/>
          <p:nvPr/>
        </p:nvSpPr>
        <p:spPr>
          <a:xfrm>
            <a:off x="6675120" y="2651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damage, every year</a:t>
            </a:r>
            <a:endParaRPr lang="en-US" sz="1800" dirty="0"/>
          </a:p>
        </p:txBody>
      </p:sp>
      <p:sp>
        <p:nvSpPr>
          <p:cNvPr id="16" name="L2_quote"/>
          <p:cNvSpPr txBox="1"/>
          <p:nvPr/>
        </p:nvSpPr>
        <p:spPr>
          <a:xfrm>
            <a:off x="822960" y="3977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i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“Dig up any street, and you hit a spider web.”</a:t>
            </a:r>
            <a:endParaRPr lang="en-US" sz="3400" dirty="0"/>
          </a:p>
        </p:txBody>
      </p:sp>
      <p:sp>
        <p:nvSpPr>
          <p:cNvPr id="17" name="L2_quoteby"/>
          <p:cNvSpPr txBox="1"/>
          <p:nvPr/>
        </p:nvSpPr>
        <p:spPr>
          <a:xfrm>
            <a:off x="822960" y="4846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headline, Người Lao Động newspaper, Ho Chi Minh City (translated)</a:t>
            </a:r>
            <a:endParaRPr lang="en-US" sz="1600" dirty="0"/>
          </a:p>
        </p:txBody>
      </p:sp>
      <p:sp>
        <p:nvSpPr>
          <p:cNvPr id="18" name="L2_src"/>
          <p:cNvSpPr txBox="1"/>
          <p:nvPr/>
        </p:nvSpPr>
        <p:spPr>
          <a:xfrm>
            <a:off x="82296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Common Ground Alliance, DIRT Report 2019 · nld.com.vn</a:t>
            </a:r>
            <a:endParaRPr lang="en-US" sz="1000" dirty="0"/>
          </a:p>
        </p:txBody>
      </p:sp>
      <p:pic>
        <p:nvPicPr>
          <p:cNvPr id="19" name="L3_photo" descr="Asphalt courtyard and stone benches on the HCMUS camp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0" name="L3_shade" descr="/Users/leequoclong/Documents/Kỳ 1 - 26 27/Các Phương Pháp NDT/01_Slide/_build/grad_bott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1" name="L3_tag"/>
          <p:cNvSpPr txBox="1"/>
          <p:nvPr/>
        </p:nvSpPr>
        <p:spPr>
          <a:xfrm>
            <a:off x="731520" y="457200"/>
            <a:ext cx="3383280" cy="411480"/>
          </a:xfrm>
          <a:prstGeom prst="roundRect">
            <a:avLst>
              <a:gd name="adj" fmla="val 22222"/>
            </a:avLst>
          </a:prstGeom>
          <a:solidFill>
            <a:srgbClr val="000000">
              <a:alpha val="6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courtyard · HCMUS campus</a:t>
            </a:r>
            <a:endParaRPr lang="en-US" sz="1400" dirty="0"/>
          </a:p>
        </p:txBody>
      </p:sp>
      <p:pic>
        <p:nvPicPr>
          <p:cNvPr id="22" name="L3_logo" descr="HCMUS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365760"/>
            <a:ext cx="914400" cy="749808"/>
          </a:xfrm>
          <a:prstGeom prst="rect">
            <a:avLst/>
          </a:prstGeom>
        </p:spPr>
      </p:pic>
      <p:sp>
        <p:nvSpPr>
          <p:cNvPr id="23" name="L3_q"/>
          <p:cNvSpPr txBox="1"/>
          <p:nvPr/>
        </p:nvSpPr>
        <p:spPr>
          <a:xfrm>
            <a:off x="731520" y="3931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under our feet?</a:t>
            </a:r>
            <a:endParaRPr lang="en-US" sz="5800" dirty="0"/>
          </a:p>
        </p:txBody>
      </p:sp>
      <p:sp>
        <p:nvSpPr>
          <p:cNvPr id="24" name="L3_title"/>
          <p:cNvSpPr txBox="1"/>
          <p:nvPr/>
        </p:nvSpPr>
        <p:spPr>
          <a:xfrm>
            <a:off x="731520" y="5029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0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Penetrating Radar for Underground Cables and Utilities</a:t>
            </a:r>
            <a:endParaRPr lang="en-US" sz="2200" dirty="0"/>
          </a:p>
        </p:txBody>
      </p:sp>
      <p:sp>
        <p:nvSpPr>
          <p:cNvPr id="25" name="L3_info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[name]   ·   Supervisor: [name]   ·   Non-Destructive Testing Methods   ·   Faculty of Physics – HCMUS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3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GPR seminar – Slide 1 (hook)</dc:title>
  <dc:subject>PptxGenJS Presentation</dc:subject>
  <dc:creator>PptxGenJS</dc:creator>
  <cp:lastModifiedBy>PptxGenJS</cp:lastModifiedBy>
  <cp:revision>1</cp:revision>
  <dcterms:created xsi:type="dcterms:W3CDTF">2026-10-18T05:32:00Z</dcterms:created>
  <dcterms:modified xsi:type="dcterms:W3CDTF">2026-10-18T05:32:00Z</dcterms:modified>
</cp:coreProperties>
</file>